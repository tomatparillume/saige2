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7A0"/>
    <a:srgbClr val="E1E6F0"/>
    <a:srgbClr val="D2D7E6"/>
    <a:srgbClr val="D2E1E6"/>
    <a:srgbClr val="D7D7E6"/>
    <a:srgbClr val="323232"/>
    <a:srgbClr val="DCB48C"/>
    <a:srgbClr val="DCC8B4"/>
    <a:srgbClr val="DCB414"/>
    <a:srgbClr val="D25A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36A5E-B00D-48E1-A90B-3C0FCC99C1A6}" v="45" dt="2025-02-16T22:39:32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58AF8-638E-AE1F-ADAB-C32D538ED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6DA4C-A719-CA0C-7FF5-311E96ED9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9C8C2-F671-7B42-FA04-9B20389D3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042AE-40B4-C447-74B5-23044A93E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B1FB3-9CE9-B5C9-9C31-87B465D2B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07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7D03-DB8E-8D57-0EE8-046F6B20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DA236-DFA6-1D8C-F268-58600311F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3C025-0CFB-6B77-4183-EE63AFB9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F38E4-79BD-0BA3-5E24-E200A6E5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50459-DFA5-6758-F288-8EC370A5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3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FB0F-8AB3-BF77-DE50-9FCFC3F07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687FE-D661-2834-BA4B-E5D4DE5CC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43051-FE10-2A73-DD80-70931B66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F00C2-5F13-545F-42FE-BC98DB118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6B5D-3108-5071-6D82-C867375C8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3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1B4E-EE5F-5124-80B0-2536A347A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38AC4-7FB8-31A1-FB9E-09C7287B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03E0E3-2BFD-E5E2-9265-1ADDB6AEE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600E6-D882-5BDB-27AD-AFC04ECD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7CF390-ED57-5923-4781-DBBAD24CB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689DA3-72CA-93F1-622D-3A9E9A00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8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901C-7734-FAD3-2936-04E8C4DE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8BD9D-D175-30E3-7DBF-BC3010597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273F5E-CCF5-5383-FD25-4514AC8B5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074042-B598-449F-0A48-53A73FF4E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7AEE3-7A72-E661-C0DD-DB728CA0D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9D0636-2A22-8A5C-C97A-73E5032F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84227-DA26-6EBA-FA52-E6859F2B8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EF9533-0C67-43C9-52E4-85F8CEE9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34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81BA-1F44-4600-87DE-6CFCC0D66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95E15-2740-CA6A-692D-4A350A949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63732-6FF5-FAE5-864E-8FCEA8B59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A0E1A8-6E70-C1B9-06AD-69D40F03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5E04B7-7386-E0B4-675F-83393184E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56BC3B-57C7-6932-6253-711F735C5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A9683-8E95-EE7F-9128-4D57C9C9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DA52-5019-6E31-885D-6687DC9D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6CFFE-AC60-37A7-8DAB-5736129B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8B4AAB-9791-207E-F850-EF5C143CA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6EE8-9AEB-D8F8-F53A-64E4C102D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A8F23-A69D-A7A6-0E8E-48D16439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2A7893-4759-DB02-AA59-10687FDA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91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07C3-D5EC-9AFC-E724-B392BAE96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D0980-9C9E-A458-63DF-D62F9622D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B62AF-B3A2-20FB-8989-1980BB65F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A6F0B-C6AE-007D-7DFC-6907A8A1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CE74E-4909-90AA-AA4E-9DE0D41DB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79521-A2E7-5800-F547-41D5AC5F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8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705-DAD4-1D36-C2D1-D74B304D6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ACEC6-5219-A288-AF3C-224937EA4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8AD17-5114-F7EF-1D91-8F6E42F6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00C59-0BE7-B7EE-B07F-94B0DAF69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6A8F8-95A6-4D2E-51F3-9560EF64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3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960E05-510C-FC68-52F8-D96D8B5222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E1465-1BB2-FCD3-4F20-C5EA0D505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BE20A-F163-D82F-CA46-E1BD10A4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2D9C-AD39-DFB4-B973-EF2A2C10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64DBA-D048-9601-D86F-C3BBF543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5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B5104A-5DF7-244F-C3A9-513D402E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EB103-DE95-D6BC-EC13-B1746CFFD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122D3-2F55-8181-8E7E-527818C5C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DD9F6E-8202-4C39-A4B9-4CB368EBF983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E2295-29F0-704E-37E3-CB92D44BE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917AE-4D3C-A8E8-E541-8014EAAB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7195E-CE99-4688-BC7B-C21596B356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2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1AF0-A3B9-A268-C124-2BB8697C8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D5005E-4EFF-D957-2741-E7553B510414}"/>
              </a:ext>
            </a:extLst>
          </p:cNvPr>
          <p:cNvSpPr/>
          <p:nvPr/>
        </p:nvSpPr>
        <p:spPr>
          <a:xfrm>
            <a:off x="-1" y="0"/>
            <a:ext cx="1384209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2" name="Rectangle: Top Corners Snipped 121">
            <a:extLst>
              <a:ext uri="{FF2B5EF4-FFF2-40B4-BE49-F238E27FC236}">
                <a16:creationId xmlns:a16="http://schemas.microsoft.com/office/drawing/2014/main" id="{DCFD37D3-2DF8-8F37-FB4B-55E67CD1521A}"/>
              </a:ext>
            </a:extLst>
          </p:cNvPr>
          <p:cNvSpPr/>
          <p:nvPr/>
        </p:nvSpPr>
        <p:spPr>
          <a:xfrm rot="5400000">
            <a:off x="1306766" y="6513476"/>
            <a:ext cx="280108" cy="154788"/>
          </a:xfrm>
          <a:prstGeom prst="snip2Same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29BF1A6-2C33-DBD2-6B50-73E89D081DF4}"/>
              </a:ext>
            </a:extLst>
          </p:cNvPr>
          <p:cNvSpPr/>
          <p:nvPr/>
        </p:nvSpPr>
        <p:spPr>
          <a:xfrm>
            <a:off x="1263016" y="6480312"/>
            <a:ext cx="243543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7F86CEAC-6634-59E7-5681-B739A7B61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3" y="65215"/>
            <a:ext cx="1211274" cy="2698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B530F1-D62F-DD03-7B25-3FB5FFCE1A74}"/>
              </a:ext>
            </a:extLst>
          </p:cNvPr>
          <p:cNvSpPr txBox="1"/>
          <p:nvPr/>
        </p:nvSpPr>
        <p:spPr>
          <a:xfrm>
            <a:off x="97742" y="1001228"/>
            <a:ext cx="11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Log out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87A0"/>
                </a:solidFill>
                <a:latin typeface="Montserrat" panose="00000500000000000000" pitchFamily="2" charset="0"/>
              </a:rPr>
              <a:t>My Profile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102722-8E95-B9E6-E65C-FA0EE81D5D8D}"/>
              </a:ext>
            </a:extLst>
          </p:cNvPr>
          <p:cNvSpPr txBox="1"/>
          <p:nvPr/>
        </p:nvSpPr>
        <p:spPr>
          <a:xfrm>
            <a:off x="97742" y="412223"/>
            <a:ext cx="12522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You are logged in as</a:t>
            </a:r>
          </a:p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tom@parillume.com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B2F08BE-F414-2F1F-DDC1-2406E8DD4C0F}"/>
              </a:ext>
            </a:extLst>
          </p:cNvPr>
          <p:cNvCxnSpPr/>
          <p:nvPr/>
        </p:nvCxnSpPr>
        <p:spPr>
          <a:xfrm>
            <a:off x="175378" y="917576"/>
            <a:ext cx="10999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5DF3621D-1EA2-38E3-53FF-253BCCEA5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35" y="6446160"/>
            <a:ext cx="1081525" cy="3094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9FB7505-1241-56CB-44C1-EB44DFA99FB9}"/>
              </a:ext>
            </a:extLst>
          </p:cNvPr>
          <p:cNvSpPr txBox="1"/>
          <p:nvPr/>
        </p:nvSpPr>
        <p:spPr>
          <a:xfrm>
            <a:off x="1642783" y="487286"/>
            <a:ext cx="1152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First name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2440C0-5AB8-3A1B-7EE0-229AC97C7D69}"/>
              </a:ext>
            </a:extLst>
          </p:cNvPr>
          <p:cNvSpPr/>
          <p:nvPr/>
        </p:nvSpPr>
        <p:spPr>
          <a:xfrm>
            <a:off x="1724024" y="766488"/>
            <a:ext cx="252412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7B3325-7DA6-DDFF-E9EA-07EB414EDEA2}"/>
              </a:ext>
            </a:extLst>
          </p:cNvPr>
          <p:cNvSpPr txBox="1"/>
          <p:nvPr/>
        </p:nvSpPr>
        <p:spPr>
          <a:xfrm>
            <a:off x="4587965" y="487286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Last name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2FCFE7-9DCE-7881-9E94-9296119F26A4}"/>
              </a:ext>
            </a:extLst>
          </p:cNvPr>
          <p:cNvSpPr/>
          <p:nvPr/>
        </p:nvSpPr>
        <p:spPr>
          <a:xfrm>
            <a:off x="4669206" y="766488"/>
            <a:ext cx="36651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80D862-C43C-DFD3-2170-3336614B8195}"/>
              </a:ext>
            </a:extLst>
          </p:cNvPr>
          <p:cNvSpPr txBox="1"/>
          <p:nvPr/>
        </p:nvSpPr>
        <p:spPr>
          <a:xfrm>
            <a:off x="1642783" y="1129654"/>
            <a:ext cx="1560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Phone number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2BD2B1-3247-D13C-B37C-CEA5758284B8}"/>
              </a:ext>
            </a:extLst>
          </p:cNvPr>
          <p:cNvSpPr/>
          <p:nvPr/>
        </p:nvSpPr>
        <p:spPr>
          <a:xfrm>
            <a:off x="1724024" y="1408856"/>
            <a:ext cx="2524125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4F30CC-F2C5-13E4-CF87-1F11A6125BA5}"/>
              </a:ext>
            </a:extLst>
          </p:cNvPr>
          <p:cNvSpPr txBox="1"/>
          <p:nvPr/>
        </p:nvSpPr>
        <p:spPr>
          <a:xfrm>
            <a:off x="4587965" y="1129654"/>
            <a:ext cx="1451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Email address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306BCB-0C1D-4975-4B19-284B9AFA1087}"/>
              </a:ext>
            </a:extLst>
          </p:cNvPr>
          <p:cNvSpPr/>
          <p:nvPr/>
        </p:nvSpPr>
        <p:spPr>
          <a:xfrm>
            <a:off x="4669206" y="1408856"/>
            <a:ext cx="36651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07B66A3-BBAB-6E0F-FF38-A6A48C72583E}"/>
              </a:ext>
            </a:extLst>
          </p:cNvPr>
          <p:cNvSpPr txBox="1"/>
          <p:nvPr/>
        </p:nvSpPr>
        <p:spPr>
          <a:xfrm>
            <a:off x="1645024" y="1819647"/>
            <a:ext cx="2198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My team membership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6C5D2C9-8D05-9027-1448-2FDE6A549BEF}"/>
              </a:ext>
            </a:extLst>
          </p:cNvPr>
          <p:cNvSpPr>
            <a:spLocks noChangeAspect="1"/>
          </p:cNvSpPr>
          <p:nvPr/>
        </p:nvSpPr>
        <p:spPr>
          <a:xfrm>
            <a:off x="1736988" y="2187819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B024F0-3FC5-A611-44B6-9C27B4616A92}"/>
              </a:ext>
            </a:extLst>
          </p:cNvPr>
          <p:cNvSpPr txBox="1"/>
          <p:nvPr/>
        </p:nvSpPr>
        <p:spPr>
          <a:xfrm>
            <a:off x="1851288" y="2127424"/>
            <a:ext cx="10663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Development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50B5AFC-BD80-2877-D1C6-F78BFAE8D043}"/>
              </a:ext>
            </a:extLst>
          </p:cNvPr>
          <p:cNvSpPr>
            <a:spLocks noChangeAspect="1"/>
          </p:cNvSpPr>
          <p:nvPr/>
        </p:nvSpPr>
        <p:spPr>
          <a:xfrm>
            <a:off x="2945058" y="2188467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73E3FF-BC6C-1BF9-ABA8-7B919286409B}"/>
              </a:ext>
            </a:extLst>
          </p:cNvPr>
          <p:cNvSpPr txBox="1"/>
          <p:nvPr/>
        </p:nvSpPr>
        <p:spPr>
          <a:xfrm>
            <a:off x="3059358" y="2128072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Operations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54BB9C-D360-9E57-F15F-BAD9B3E3DC12}"/>
              </a:ext>
            </a:extLst>
          </p:cNvPr>
          <p:cNvSpPr>
            <a:spLocks noChangeAspect="1"/>
          </p:cNvSpPr>
          <p:nvPr/>
        </p:nvSpPr>
        <p:spPr>
          <a:xfrm>
            <a:off x="3991203" y="2187914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58C60E-8BD9-8F4A-D3D4-C50DCFC234A3}"/>
              </a:ext>
            </a:extLst>
          </p:cNvPr>
          <p:cNvSpPr txBox="1"/>
          <p:nvPr/>
        </p:nvSpPr>
        <p:spPr>
          <a:xfrm>
            <a:off x="4105503" y="2127519"/>
            <a:ext cx="51328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Sales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5AFB5B-2FF9-F951-5FBC-A94E4BB42AA5}"/>
              </a:ext>
            </a:extLst>
          </p:cNvPr>
          <p:cNvSpPr txBox="1"/>
          <p:nvPr/>
        </p:nvSpPr>
        <p:spPr>
          <a:xfrm>
            <a:off x="1645024" y="2475164"/>
            <a:ext cx="17988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My email subjects</a:t>
            </a:r>
            <a:endParaRPr lang="en-US" sz="1200" u="sng" dirty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AA749EF-3960-444F-BCE0-23836E19D2D3}"/>
              </a:ext>
            </a:extLst>
          </p:cNvPr>
          <p:cNvSpPr>
            <a:spLocks noChangeAspect="1"/>
          </p:cNvSpPr>
          <p:nvPr/>
        </p:nvSpPr>
        <p:spPr>
          <a:xfrm>
            <a:off x="1736988" y="2843336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C34FBB-C6A8-C49C-CA02-FA65F98A26CA}"/>
              </a:ext>
            </a:extLst>
          </p:cNvPr>
          <p:cNvSpPr txBox="1"/>
          <p:nvPr/>
        </p:nvSpPr>
        <p:spPr>
          <a:xfrm>
            <a:off x="1851288" y="2782941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Lisa Foster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2BE0BE-798E-036C-8312-817A47A844E2}"/>
              </a:ext>
            </a:extLst>
          </p:cNvPr>
          <p:cNvSpPr>
            <a:spLocks noChangeAspect="1"/>
          </p:cNvSpPr>
          <p:nvPr/>
        </p:nvSpPr>
        <p:spPr>
          <a:xfrm>
            <a:off x="3240333" y="2843984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5B6B3B-AC6E-33B7-737A-1A393BE6996D}"/>
              </a:ext>
            </a:extLst>
          </p:cNvPr>
          <p:cNvSpPr txBox="1"/>
          <p:nvPr/>
        </p:nvSpPr>
        <p:spPr>
          <a:xfrm>
            <a:off x="3354633" y="2783589"/>
            <a:ext cx="1079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Renee Marino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40307DE-4E41-4E57-84D8-A207FDFBA8E6}"/>
              </a:ext>
            </a:extLst>
          </p:cNvPr>
          <p:cNvSpPr>
            <a:spLocks noChangeAspect="1"/>
          </p:cNvSpPr>
          <p:nvPr/>
        </p:nvSpPr>
        <p:spPr>
          <a:xfrm>
            <a:off x="4753203" y="2843431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2BBC23-2BD4-0D40-482C-0411D735ADFD}"/>
              </a:ext>
            </a:extLst>
          </p:cNvPr>
          <p:cNvSpPr txBox="1"/>
          <p:nvPr/>
        </p:nvSpPr>
        <p:spPr>
          <a:xfrm>
            <a:off x="4867503" y="2783036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Ren Margolis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25B60B1-0C01-810B-A272-EF813A3CFF3D}"/>
              </a:ext>
            </a:extLst>
          </p:cNvPr>
          <p:cNvGrpSpPr/>
          <p:nvPr/>
        </p:nvGrpSpPr>
        <p:grpSpPr>
          <a:xfrm>
            <a:off x="3337716" y="2513561"/>
            <a:ext cx="260008" cy="246221"/>
            <a:chOff x="4626405" y="3371065"/>
            <a:chExt cx="260008" cy="246221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D21F176-25AC-D289-EB78-A81517397E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684446" y="3417975"/>
              <a:ext cx="137160" cy="137160"/>
            </a:xfrm>
            <a:prstGeom prst="ellipse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B412EE-6376-84CD-7B3A-CAAEC055BAA3}"/>
                </a:ext>
              </a:extLst>
            </p:cNvPr>
            <p:cNvSpPr txBox="1"/>
            <p:nvPr/>
          </p:nvSpPr>
          <p:spPr>
            <a:xfrm>
              <a:off x="4626405" y="3371065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Montserrat" panose="00000500000000000000" pitchFamily="2" charset="0"/>
                </a:rPr>
                <a:t>?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3949043D-FB5E-2440-8B5B-48D235E63208}"/>
              </a:ext>
            </a:extLst>
          </p:cNvPr>
          <p:cNvSpPr txBox="1"/>
          <p:nvPr/>
        </p:nvSpPr>
        <p:spPr>
          <a:xfrm>
            <a:off x="3243598" y="3244531"/>
            <a:ext cx="39505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…</a:t>
            </a:r>
            <a:r>
              <a:rPr lang="en-US" sz="2400" dirty="0" err="1">
                <a:solidFill>
                  <a:srgbClr val="C00000"/>
                </a:solidFill>
              </a:rPr>
              <a:t>etc</a:t>
            </a:r>
            <a:r>
              <a:rPr lang="en-US" sz="2400" dirty="0">
                <a:solidFill>
                  <a:srgbClr val="C00000"/>
                </a:solidFill>
              </a:rPr>
              <a:t>   See the application UI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7B2D9-9BD7-16A7-B2DB-96767B1BE04F}"/>
              </a:ext>
            </a:extLst>
          </p:cNvPr>
          <p:cNvSpPr/>
          <p:nvPr/>
        </p:nvSpPr>
        <p:spPr>
          <a:xfrm>
            <a:off x="1525817" y="86026"/>
            <a:ext cx="10490805" cy="335050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 w="12700"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8C94F0-CDB0-0023-68A3-D98A54020E90}"/>
              </a:ext>
            </a:extLst>
          </p:cNvPr>
          <p:cNvSpPr txBox="1"/>
          <p:nvPr/>
        </p:nvSpPr>
        <p:spPr>
          <a:xfrm>
            <a:off x="10446188" y="92126"/>
            <a:ext cx="1549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1400" b="1" dirty="0">
                <a:solidFill>
                  <a:srgbClr val="008796"/>
                </a:solidFill>
                <a:latin typeface="Montserrat" panose="00000500000000000000" pitchFamily="2" charset="0"/>
              </a:rPr>
              <a:t>My Profile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96474-5122-4921-74D6-5DF4103D755A}"/>
              </a:ext>
            </a:extLst>
          </p:cNvPr>
          <p:cNvSpPr txBox="1"/>
          <p:nvPr/>
        </p:nvSpPr>
        <p:spPr>
          <a:xfrm>
            <a:off x="1652379" y="113898"/>
            <a:ext cx="3772945" cy="285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u="sng" dirty="0">
                <a:solidFill>
                  <a:srgbClr val="008796"/>
                </a:solidFill>
                <a:latin typeface="Montserrat" panose="00000500000000000000" pitchFamily="2" charset="0"/>
              </a:rPr>
              <a:t>View my one-sheet</a:t>
            </a:r>
          </a:p>
        </p:txBody>
      </p:sp>
    </p:spTree>
    <p:extLst>
      <p:ext uri="{BB962C8B-B14F-4D97-AF65-F5344CB8AC3E}">
        <p14:creationId xmlns:p14="http://schemas.microsoft.com/office/powerpoint/2010/main" val="4232480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F00DA-52D5-671C-6853-4B775EB4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590E960-20A9-7FDA-09C0-F94795280D60}"/>
              </a:ext>
            </a:extLst>
          </p:cNvPr>
          <p:cNvSpPr/>
          <p:nvPr/>
        </p:nvSpPr>
        <p:spPr>
          <a:xfrm>
            <a:off x="1690693" y="581568"/>
            <a:ext cx="2507250" cy="5967278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E83FF-E9AD-186B-7B79-9BA1F7428238}"/>
              </a:ext>
            </a:extLst>
          </p:cNvPr>
          <p:cNvSpPr/>
          <p:nvPr/>
        </p:nvSpPr>
        <p:spPr>
          <a:xfrm>
            <a:off x="1525817" y="86026"/>
            <a:ext cx="10490805" cy="335050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 w="12700"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245A1-233C-FB0C-A2D3-415E3AB24563}"/>
              </a:ext>
            </a:extLst>
          </p:cNvPr>
          <p:cNvSpPr/>
          <p:nvPr/>
        </p:nvSpPr>
        <p:spPr>
          <a:xfrm>
            <a:off x="-1" y="0"/>
            <a:ext cx="1384209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DFF47-67CC-243B-89F2-CD7F00910F23}"/>
              </a:ext>
            </a:extLst>
          </p:cNvPr>
          <p:cNvSpPr txBox="1"/>
          <p:nvPr/>
        </p:nvSpPr>
        <p:spPr>
          <a:xfrm>
            <a:off x="1844237" y="99407"/>
            <a:ext cx="5508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FILTER INSIGHTS  </a:t>
            </a:r>
            <a:r>
              <a:rPr lang="en-US" sz="1400" dirty="0">
                <a:solidFill>
                  <a:srgbClr val="0087A0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anose="00000500000000000000" pitchFamily="2" charset="0"/>
              </a:rPr>
              <a:t>by team members</a:t>
            </a:r>
            <a:r>
              <a:rPr lang="en-US" sz="1200" dirty="0">
                <a:latin typeface="Montserrat" panose="00000500000000000000" pitchFamily="2" charset="0"/>
              </a:rPr>
              <a:t>   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by assessment results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196E975-F5EB-4554-239F-F75A9A0D7AFF}"/>
              </a:ext>
            </a:extLst>
          </p:cNvPr>
          <p:cNvSpPr>
            <a:spLocks noChangeAspect="1"/>
          </p:cNvSpPr>
          <p:nvPr/>
        </p:nvSpPr>
        <p:spPr>
          <a:xfrm>
            <a:off x="7308967" y="170704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3C750E6-58A5-AC49-0440-FFB08E518CB5}"/>
              </a:ext>
            </a:extLst>
          </p:cNvPr>
          <p:cNvSpPr>
            <a:spLocks/>
          </p:cNvSpPr>
          <p:nvPr/>
        </p:nvSpPr>
        <p:spPr>
          <a:xfrm rot="10800000">
            <a:off x="1608570" y="190296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0A219FCA-4A2B-36A6-E9AC-E2EFD795CECB}"/>
              </a:ext>
            </a:extLst>
          </p:cNvPr>
          <p:cNvSpPr>
            <a:spLocks noChangeAspect="1"/>
          </p:cNvSpPr>
          <p:nvPr/>
        </p:nvSpPr>
        <p:spPr>
          <a:xfrm>
            <a:off x="7492115" y="171799"/>
            <a:ext cx="137652" cy="165182"/>
          </a:xfrm>
          <a:prstGeom prst="downArrow">
            <a:avLst/>
          </a:prstGeom>
          <a:solidFill>
            <a:srgbClr val="00879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C6DAB1-692C-B3A5-B010-EF36882AAA15}"/>
              </a:ext>
            </a:extLst>
          </p:cNvPr>
          <p:cNvSpPr/>
          <p:nvPr/>
        </p:nvSpPr>
        <p:spPr>
          <a:xfrm>
            <a:off x="4381091" y="581568"/>
            <a:ext cx="2507250" cy="5967277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4ECABB-C038-DB78-109A-CDB24398C3A7}"/>
              </a:ext>
            </a:extLst>
          </p:cNvPr>
          <p:cNvSpPr txBox="1"/>
          <p:nvPr/>
        </p:nvSpPr>
        <p:spPr>
          <a:xfrm>
            <a:off x="1690693" y="995042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56A03E-AB36-7E03-C3FC-22884E732052}"/>
              </a:ext>
            </a:extLst>
          </p:cNvPr>
          <p:cNvSpPr txBox="1"/>
          <p:nvPr/>
        </p:nvSpPr>
        <p:spPr>
          <a:xfrm>
            <a:off x="1699697" y="2034357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2990A0-37AF-F8BD-00A7-2A3801C329CE}"/>
              </a:ext>
            </a:extLst>
          </p:cNvPr>
          <p:cNvSpPr txBox="1"/>
          <p:nvPr/>
        </p:nvSpPr>
        <p:spPr>
          <a:xfrm>
            <a:off x="4379690" y="989807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0754BA-B04A-C47E-28BC-C324C8E58003}"/>
              </a:ext>
            </a:extLst>
          </p:cNvPr>
          <p:cNvSpPr txBox="1"/>
          <p:nvPr/>
        </p:nvSpPr>
        <p:spPr>
          <a:xfrm>
            <a:off x="4388932" y="2034356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253E2CE-3AEA-85E7-CAAE-3D1FE000C71D}"/>
              </a:ext>
            </a:extLst>
          </p:cNvPr>
          <p:cNvSpPr txBox="1"/>
          <p:nvPr/>
        </p:nvSpPr>
        <p:spPr>
          <a:xfrm>
            <a:off x="1713081" y="3124230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26CC3E-EDAE-DC0B-8781-940014BEEF44}"/>
              </a:ext>
            </a:extLst>
          </p:cNvPr>
          <p:cNvSpPr txBox="1"/>
          <p:nvPr/>
        </p:nvSpPr>
        <p:spPr>
          <a:xfrm>
            <a:off x="4402316" y="3124229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EB71E342-BAD7-F670-7624-99DE0BAB5412}"/>
              </a:ext>
            </a:extLst>
          </p:cNvPr>
          <p:cNvGrpSpPr/>
          <p:nvPr/>
        </p:nvGrpSpPr>
        <p:grpSpPr>
          <a:xfrm>
            <a:off x="1911181" y="1247907"/>
            <a:ext cx="2070849" cy="625704"/>
            <a:chOff x="2240280" y="2048226"/>
            <a:chExt cx="2070849" cy="625704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6DC8A60-09C0-2CF6-01E0-85393677AB38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7809752-882E-8BC1-5435-B7E379A9AD16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32FA2A1D-2B18-EFC7-B98B-2C45CFDCEDE1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A9D22B9-9FFD-DB4D-FB9A-98E7648CA892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D0B9180-90E2-CDD6-DB33-43FE46530EC0}"/>
              </a:ext>
            </a:extLst>
          </p:cNvPr>
          <p:cNvGrpSpPr/>
          <p:nvPr/>
        </p:nvGrpSpPr>
        <p:grpSpPr>
          <a:xfrm>
            <a:off x="1898228" y="2306094"/>
            <a:ext cx="2070849" cy="625704"/>
            <a:chOff x="2240280" y="2048226"/>
            <a:chExt cx="2070849" cy="62570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AAA352B-2679-3C00-6C3C-DA2B728B8277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1E320FF-2D11-6F38-34C6-7C9BDC976129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D87509C-E9EA-25D3-3BEA-9FACFAF29420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027FCBB-F776-1986-75BA-8A8A28CF9B70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56B9057-D3EA-5EDC-4CBB-81CBB834BFA6}"/>
              </a:ext>
            </a:extLst>
          </p:cNvPr>
          <p:cNvGrpSpPr/>
          <p:nvPr/>
        </p:nvGrpSpPr>
        <p:grpSpPr>
          <a:xfrm>
            <a:off x="1934470" y="3420457"/>
            <a:ext cx="2070849" cy="625704"/>
            <a:chOff x="2240280" y="2048226"/>
            <a:chExt cx="2070849" cy="625704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8739967-A326-A983-2E88-F738B5380F05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1D68479B-7331-E2EB-A3AB-EE407204EFAC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824C517-983D-A645-75BF-42FF4CDEA2A1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73882A9-7FF6-DC79-C40F-7F02A3872272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543A630-61C7-6F48-3F7C-648099246FBB}"/>
              </a:ext>
            </a:extLst>
          </p:cNvPr>
          <p:cNvGrpSpPr/>
          <p:nvPr/>
        </p:nvGrpSpPr>
        <p:grpSpPr>
          <a:xfrm>
            <a:off x="4587325" y="1254003"/>
            <a:ext cx="2070849" cy="625704"/>
            <a:chOff x="2240280" y="2048226"/>
            <a:chExt cx="2070849" cy="625704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8EAE26-0873-0F1E-B496-C3B8119866EB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FF5D886E-2AD8-2252-5816-3491DE5B14D1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28AF1BA0-B43A-E150-9244-CD5986F68DE2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41FE77C-8DA3-132C-8285-0C0A84448156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74DFE67-3110-0010-FAB5-BF3CB23FBB8C}"/>
              </a:ext>
            </a:extLst>
          </p:cNvPr>
          <p:cNvGrpSpPr/>
          <p:nvPr/>
        </p:nvGrpSpPr>
        <p:grpSpPr>
          <a:xfrm>
            <a:off x="4574372" y="2312190"/>
            <a:ext cx="2070849" cy="625704"/>
            <a:chOff x="2240280" y="2048226"/>
            <a:chExt cx="2070849" cy="625704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3FBFFC46-9BB1-02AD-1B34-2487CE41545E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8868AF83-7A09-5693-5761-C81862E105B2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6D155C3-7C2B-1A86-50A5-1EB23E489B08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98D6E78-8F5C-24BC-1B62-FC21104D8CA6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817960A-E7A2-7E72-AC62-63CF334C6917}"/>
              </a:ext>
            </a:extLst>
          </p:cNvPr>
          <p:cNvGrpSpPr/>
          <p:nvPr/>
        </p:nvGrpSpPr>
        <p:grpSpPr>
          <a:xfrm>
            <a:off x="4610614" y="3426553"/>
            <a:ext cx="2070849" cy="625704"/>
            <a:chOff x="2240280" y="2048226"/>
            <a:chExt cx="2070849" cy="625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342C2131-FE75-5724-BDAF-BB48EB9E1C45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EA0529F5-FEE7-2489-7133-747840E77A2C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B334D89-2DAC-10FA-9344-3A1FDEA3E0C8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D69980D-8165-99D1-2A9A-1A5314C9E557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0259A141-8443-5AAB-391A-89206F79DE9C}"/>
              </a:ext>
            </a:extLst>
          </p:cNvPr>
          <p:cNvSpPr txBox="1"/>
          <p:nvPr/>
        </p:nvSpPr>
        <p:spPr>
          <a:xfrm>
            <a:off x="10489732" y="92126"/>
            <a:ext cx="1549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8796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122" name="Rectangle: Top Corners Snipped 121">
            <a:extLst>
              <a:ext uri="{FF2B5EF4-FFF2-40B4-BE49-F238E27FC236}">
                <a16:creationId xmlns:a16="http://schemas.microsoft.com/office/drawing/2014/main" id="{E16A6453-A5F2-F084-123D-81B17DF104AE}"/>
              </a:ext>
            </a:extLst>
          </p:cNvPr>
          <p:cNvSpPr/>
          <p:nvPr/>
        </p:nvSpPr>
        <p:spPr>
          <a:xfrm rot="5400000">
            <a:off x="1306766" y="6513476"/>
            <a:ext cx="280108" cy="154788"/>
          </a:xfrm>
          <a:prstGeom prst="snip2Same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84E0D58-8802-1AD3-4C73-C09DFA4225A6}"/>
              </a:ext>
            </a:extLst>
          </p:cNvPr>
          <p:cNvSpPr/>
          <p:nvPr/>
        </p:nvSpPr>
        <p:spPr>
          <a:xfrm>
            <a:off x="1263016" y="6480312"/>
            <a:ext cx="243543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08BC8E7-3337-4FCE-CA7D-9952F3FADC8B}"/>
              </a:ext>
            </a:extLst>
          </p:cNvPr>
          <p:cNvSpPr/>
          <p:nvPr/>
        </p:nvSpPr>
        <p:spPr>
          <a:xfrm>
            <a:off x="1700217" y="590104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B841D238-7731-02B1-058C-250670AE0A16}"/>
              </a:ext>
            </a:extLst>
          </p:cNvPr>
          <p:cNvSpPr>
            <a:spLocks noChangeAspect="1"/>
          </p:cNvSpPr>
          <p:nvPr/>
        </p:nvSpPr>
        <p:spPr>
          <a:xfrm>
            <a:off x="3982030" y="675038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A1089862-794E-E618-55FA-9C58B4DF8A95}"/>
              </a:ext>
            </a:extLst>
          </p:cNvPr>
          <p:cNvSpPr>
            <a:spLocks/>
          </p:cNvSpPr>
          <p:nvPr/>
        </p:nvSpPr>
        <p:spPr>
          <a:xfrm rot="10800000" flipV="1">
            <a:off x="1768684" y="693124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AD5B6F5-CD6A-2EC5-273E-327DA622A355}"/>
              </a:ext>
            </a:extLst>
          </p:cNvPr>
          <p:cNvSpPr/>
          <p:nvPr/>
        </p:nvSpPr>
        <p:spPr>
          <a:xfrm>
            <a:off x="4390615" y="590104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rrow: Down 88">
            <a:extLst>
              <a:ext uri="{FF2B5EF4-FFF2-40B4-BE49-F238E27FC236}">
                <a16:creationId xmlns:a16="http://schemas.microsoft.com/office/drawing/2014/main" id="{7326A7A0-A797-A987-149E-E7403A04DF7E}"/>
              </a:ext>
            </a:extLst>
          </p:cNvPr>
          <p:cNvSpPr>
            <a:spLocks noChangeAspect="1"/>
          </p:cNvSpPr>
          <p:nvPr/>
        </p:nvSpPr>
        <p:spPr>
          <a:xfrm>
            <a:off x="6672428" y="675038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5A8C57F5-790A-602C-27E4-3EBD2F88494E}"/>
              </a:ext>
            </a:extLst>
          </p:cNvPr>
          <p:cNvSpPr>
            <a:spLocks/>
          </p:cNvSpPr>
          <p:nvPr/>
        </p:nvSpPr>
        <p:spPr>
          <a:xfrm rot="10800000" flipV="1">
            <a:off x="4459082" y="693124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F240672-D951-671C-3C08-79C4EC4DA01D}"/>
              </a:ext>
            </a:extLst>
          </p:cNvPr>
          <p:cNvSpPr/>
          <p:nvPr/>
        </p:nvSpPr>
        <p:spPr>
          <a:xfrm>
            <a:off x="7077318" y="590104"/>
            <a:ext cx="2507250" cy="335049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1BE10B2-8A1D-345D-A9C2-D4900F49B93C}"/>
              </a:ext>
            </a:extLst>
          </p:cNvPr>
          <p:cNvSpPr/>
          <p:nvPr/>
        </p:nvSpPr>
        <p:spPr>
          <a:xfrm>
            <a:off x="7086842" y="590103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row: Down 92">
            <a:extLst>
              <a:ext uri="{FF2B5EF4-FFF2-40B4-BE49-F238E27FC236}">
                <a16:creationId xmlns:a16="http://schemas.microsoft.com/office/drawing/2014/main" id="{50EC8D42-DC54-A5CD-30D0-AAF737CDFB08}"/>
              </a:ext>
            </a:extLst>
          </p:cNvPr>
          <p:cNvSpPr>
            <a:spLocks noChangeAspect="1"/>
          </p:cNvSpPr>
          <p:nvPr/>
        </p:nvSpPr>
        <p:spPr>
          <a:xfrm>
            <a:off x="9368655" y="675037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Isosceles Triangle 93">
            <a:extLst>
              <a:ext uri="{FF2B5EF4-FFF2-40B4-BE49-F238E27FC236}">
                <a16:creationId xmlns:a16="http://schemas.microsoft.com/office/drawing/2014/main" id="{12D18D27-8161-BEA4-D1DC-949591A95C70}"/>
              </a:ext>
            </a:extLst>
          </p:cNvPr>
          <p:cNvSpPr>
            <a:spLocks/>
          </p:cNvSpPr>
          <p:nvPr/>
        </p:nvSpPr>
        <p:spPr>
          <a:xfrm rot="10800000">
            <a:off x="7155309" y="693123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CC8E04A-9AD2-ABF4-334C-707FBE47BA25}"/>
              </a:ext>
            </a:extLst>
          </p:cNvPr>
          <p:cNvSpPr txBox="1"/>
          <p:nvPr/>
        </p:nvSpPr>
        <p:spPr>
          <a:xfrm>
            <a:off x="1700218" y="619580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Lisa Foster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C8AD33D-9C3F-6ACC-7640-B059D58788AC}"/>
              </a:ext>
            </a:extLst>
          </p:cNvPr>
          <p:cNvSpPr txBox="1"/>
          <p:nvPr/>
        </p:nvSpPr>
        <p:spPr>
          <a:xfrm>
            <a:off x="4390616" y="619580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 Margolis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6C97F3B-1149-F0D4-7AAF-602643EAE0BE}"/>
              </a:ext>
            </a:extLst>
          </p:cNvPr>
          <p:cNvSpPr txBox="1"/>
          <p:nvPr/>
        </p:nvSpPr>
        <p:spPr>
          <a:xfrm>
            <a:off x="7086843" y="619579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Renee Marino</a:t>
            </a:r>
          </a:p>
        </p:txBody>
      </p:sp>
      <p:pic>
        <p:nvPicPr>
          <p:cNvPr id="5" name="Graphic 4" descr="Eye with solid fill">
            <a:extLst>
              <a:ext uri="{FF2B5EF4-FFF2-40B4-BE49-F238E27FC236}">
                <a16:creationId xmlns:a16="http://schemas.microsoft.com/office/drawing/2014/main" id="{B63489AC-06CD-967E-A1E5-2D5D4C69E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903" y="602978"/>
            <a:ext cx="277523" cy="277523"/>
          </a:xfrm>
          <a:prstGeom prst="rect">
            <a:avLst/>
          </a:prstGeom>
        </p:spPr>
      </p:pic>
      <p:pic>
        <p:nvPicPr>
          <p:cNvPr id="9" name="Graphic 8" descr="Eye with solid fill">
            <a:extLst>
              <a:ext uri="{FF2B5EF4-FFF2-40B4-BE49-F238E27FC236}">
                <a16:creationId xmlns:a16="http://schemas.microsoft.com/office/drawing/2014/main" id="{AB4994FA-4977-1D95-99FD-D472700B8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621" y="602978"/>
            <a:ext cx="277523" cy="277523"/>
          </a:xfrm>
          <a:prstGeom prst="rect">
            <a:avLst/>
          </a:prstGeom>
        </p:spPr>
      </p:pic>
      <p:pic>
        <p:nvPicPr>
          <p:cNvPr id="10" name="Graphic 9" descr="Eye with solid fill">
            <a:extLst>
              <a:ext uri="{FF2B5EF4-FFF2-40B4-BE49-F238E27FC236}">
                <a16:creationId xmlns:a16="http://schemas.microsoft.com/office/drawing/2014/main" id="{38052BD1-A5FB-0245-DADD-9494E01AF4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5205" y="602978"/>
            <a:ext cx="277523" cy="277523"/>
          </a:xfrm>
          <a:prstGeom prst="rect">
            <a:avLst/>
          </a:prstGeom>
        </p:spPr>
      </p:pic>
      <p:pic>
        <p:nvPicPr>
          <p:cNvPr id="14" name="Picture 13" descr="A black and blue logo&#10;&#10;AI-generated content may be incorrect.">
            <a:extLst>
              <a:ext uri="{FF2B5EF4-FFF2-40B4-BE49-F238E27FC236}">
                <a16:creationId xmlns:a16="http://schemas.microsoft.com/office/drawing/2014/main" id="{1856183A-14FA-76C9-99DF-E2C01246E8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3" y="65215"/>
            <a:ext cx="1211274" cy="26986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DE90DA-15C5-94CB-652F-589BDBAA1AA4}"/>
              </a:ext>
            </a:extLst>
          </p:cNvPr>
          <p:cNvSpPr txBox="1"/>
          <p:nvPr/>
        </p:nvSpPr>
        <p:spPr>
          <a:xfrm>
            <a:off x="97742" y="1001228"/>
            <a:ext cx="11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Log out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My Profile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87A0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10220E-30E6-B2BE-7550-ABEDC1F381DF}"/>
              </a:ext>
            </a:extLst>
          </p:cNvPr>
          <p:cNvSpPr txBox="1"/>
          <p:nvPr/>
        </p:nvSpPr>
        <p:spPr>
          <a:xfrm>
            <a:off x="97742" y="412223"/>
            <a:ext cx="12522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You are logged in as</a:t>
            </a:r>
          </a:p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tom@parillume.com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5562FC3-8D15-7ED2-5557-5D683D4E2A69}"/>
              </a:ext>
            </a:extLst>
          </p:cNvPr>
          <p:cNvCxnSpPr/>
          <p:nvPr/>
        </p:nvCxnSpPr>
        <p:spPr>
          <a:xfrm>
            <a:off x="175378" y="917576"/>
            <a:ext cx="10999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796DC0CF-4E67-2BD6-3B85-FF1FC43520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35" y="6446160"/>
            <a:ext cx="1081525" cy="30945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EC4B1E-89FD-9090-7AC3-9F7126A2F21D}"/>
              </a:ext>
            </a:extLst>
          </p:cNvPr>
          <p:cNvSpPr txBox="1"/>
          <p:nvPr/>
        </p:nvSpPr>
        <p:spPr>
          <a:xfrm>
            <a:off x="205786" y="1626812"/>
            <a:ext cx="1272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87A0"/>
                </a:solidFill>
              </a:rPr>
              <a:t>BURNING QUESTION</a:t>
            </a:r>
          </a:p>
          <a:p>
            <a:r>
              <a:rPr lang="en-US" sz="800" dirty="0">
                <a:solidFill>
                  <a:srgbClr val="0087A0"/>
                </a:solidFill>
              </a:rPr>
              <a:t>PLAY-FULL PRACTICES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STRENGTHS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SUPERPOWERS</a:t>
            </a:r>
          </a:p>
          <a:p>
            <a:r>
              <a:rPr lang="en-US" sz="800" dirty="0">
                <a:solidFill>
                  <a:srgbClr val="0087A0"/>
                </a:solidFill>
              </a:rPr>
              <a:t>KRYPTONITE</a:t>
            </a: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69550975-E09F-CB56-ED2D-1CEA01C14C3F}"/>
              </a:ext>
            </a:extLst>
          </p:cNvPr>
          <p:cNvSpPr/>
          <p:nvPr/>
        </p:nvSpPr>
        <p:spPr>
          <a:xfrm rot="10800000">
            <a:off x="7226432" y="1021392"/>
            <a:ext cx="1186775" cy="1012964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1E659B-A27B-681B-21C7-10142EA4E83C}"/>
              </a:ext>
            </a:extLst>
          </p:cNvPr>
          <p:cNvSpPr txBox="1"/>
          <p:nvPr/>
        </p:nvSpPr>
        <p:spPr>
          <a:xfrm>
            <a:off x="8447496" y="1212121"/>
            <a:ext cx="1957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These columns can be reordered by sliding them sideways.</a:t>
            </a:r>
          </a:p>
        </p:txBody>
      </p:sp>
    </p:spTree>
    <p:extLst>
      <p:ext uri="{BB962C8B-B14F-4D97-AF65-F5344CB8AC3E}">
        <p14:creationId xmlns:p14="http://schemas.microsoft.com/office/powerpoint/2010/main" val="419746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4103-2F69-B98A-AD18-B5AED2118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768416-1D33-0BFF-64E6-67ADC7002619}"/>
              </a:ext>
            </a:extLst>
          </p:cNvPr>
          <p:cNvSpPr/>
          <p:nvPr/>
        </p:nvSpPr>
        <p:spPr>
          <a:xfrm>
            <a:off x="1525817" y="86026"/>
            <a:ext cx="10490805" cy="128557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F414E-4687-512C-7437-E5AC377EB402}"/>
              </a:ext>
            </a:extLst>
          </p:cNvPr>
          <p:cNvSpPr/>
          <p:nvPr/>
        </p:nvSpPr>
        <p:spPr>
          <a:xfrm>
            <a:off x="1679521" y="1476375"/>
            <a:ext cx="2507250" cy="5286375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30CF3-3882-8343-2A1D-3D2A305BCF5F}"/>
              </a:ext>
            </a:extLst>
          </p:cNvPr>
          <p:cNvSpPr/>
          <p:nvPr/>
        </p:nvSpPr>
        <p:spPr>
          <a:xfrm>
            <a:off x="1689045" y="1476375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6C3B53-44E2-F462-60B5-A4CFE0C9DC13}"/>
              </a:ext>
            </a:extLst>
          </p:cNvPr>
          <p:cNvSpPr/>
          <p:nvPr/>
        </p:nvSpPr>
        <p:spPr>
          <a:xfrm>
            <a:off x="-1" y="0"/>
            <a:ext cx="1384209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1B7008-0099-84D1-1673-E87BF6371A66}"/>
              </a:ext>
            </a:extLst>
          </p:cNvPr>
          <p:cNvSpPr txBox="1"/>
          <p:nvPr/>
        </p:nvSpPr>
        <p:spPr>
          <a:xfrm>
            <a:off x="97742" y="1001228"/>
            <a:ext cx="11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Log out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My Profile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87A0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A5745-8AD5-5D2A-E5D5-D8C901E8618D}"/>
              </a:ext>
            </a:extLst>
          </p:cNvPr>
          <p:cNvSpPr>
            <a:spLocks noChangeAspect="1"/>
          </p:cNvSpPr>
          <p:nvPr/>
        </p:nvSpPr>
        <p:spPr>
          <a:xfrm>
            <a:off x="2105254" y="804800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BBC355-ED36-58E7-89A4-271E3D3027D6}"/>
              </a:ext>
            </a:extLst>
          </p:cNvPr>
          <p:cNvSpPr txBox="1"/>
          <p:nvPr/>
        </p:nvSpPr>
        <p:spPr>
          <a:xfrm>
            <a:off x="2219554" y="744405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Lisa Foster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6162E-4650-29F8-5360-25F24BFDB643}"/>
              </a:ext>
            </a:extLst>
          </p:cNvPr>
          <p:cNvSpPr txBox="1"/>
          <p:nvPr/>
        </p:nvSpPr>
        <p:spPr>
          <a:xfrm>
            <a:off x="1844237" y="99407"/>
            <a:ext cx="5508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FILTER INSIGHTS  </a:t>
            </a:r>
            <a:r>
              <a:rPr lang="en-US" sz="1400" dirty="0">
                <a:solidFill>
                  <a:srgbClr val="0087A0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anose="00000500000000000000" pitchFamily="2" charset="0"/>
              </a:rPr>
              <a:t>by team members</a:t>
            </a:r>
            <a:r>
              <a:rPr lang="en-US" sz="1200" dirty="0">
                <a:latin typeface="Montserrat" panose="00000500000000000000" pitchFamily="2" charset="0"/>
              </a:rPr>
              <a:t>   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by assessment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1814AA-4E48-0679-33E6-B49DB0305EC8}"/>
              </a:ext>
            </a:extLst>
          </p:cNvPr>
          <p:cNvSpPr>
            <a:spLocks noChangeAspect="1"/>
          </p:cNvSpPr>
          <p:nvPr/>
        </p:nvSpPr>
        <p:spPr>
          <a:xfrm>
            <a:off x="2105254" y="548146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232559-FF68-68BA-5576-50747AA21B47}"/>
              </a:ext>
            </a:extLst>
          </p:cNvPr>
          <p:cNvSpPr txBox="1"/>
          <p:nvPr/>
        </p:nvSpPr>
        <p:spPr>
          <a:xfrm>
            <a:off x="2219554" y="487751"/>
            <a:ext cx="7360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Montserrat" panose="00000500000000000000" pitchFamily="2" charset="0"/>
                <a:cs typeface="Arial" panose="020B0604020202020204" pitchFamily="34" charset="0"/>
              </a:rPr>
              <a:t>Team #1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4EAD3115-B65F-34D2-0B65-B56F36E2D7D9}"/>
              </a:ext>
            </a:extLst>
          </p:cNvPr>
          <p:cNvSpPr>
            <a:spLocks noChangeAspect="1"/>
          </p:cNvSpPr>
          <p:nvPr/>
        </p:nvSpPr>
        <p:spPr>
          <a:xfrm>
            <a:off x="7308967" y="170704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1BBD8C0D-D9AE-0191-C627-68C4E0208AC3}"/>
              </a:ext>
            </a:extLst>
          </p:cNvPr>
          <p:cNvSpPr>
            <a:spLocks/>
          </p:cNvSpPr>
          <p:nvPr/>
        </p:nvSpPr>
        <p:spPr>
          <a:xfrm rot="10800000" flipV="1">
            <a:off x="1608570" y="190296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10B7410-4EC6-ED44-FB1F-79309B4F5017}"/>
              </a:ext>
            </a:extLst>
          </p:cNvPr>
          <p:cNvSpPr>
            <a:spLocks noChangeAspect="1"/>
          </p:cNvSpPr>
          <p:nvPr/>
        </p:nvSpPr>
        <p:spPr>
          <a:xfrm>
            <a:off x="7492115" y="171799"/>
            <a:ext cx="137652" cy="165182"/>
          </a:xfrm>
          <a:prstGeom prst="downArrow">
            <a:avLst/>
          </a:prstGeom>
          <a:solidFill>
            <a:srgbClr val="00879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E6974E-7E08-FEF0-BA84-022216E767A8}"/>
              </a:ext>
            </a:extLst>
          </p:cNvPr>
          <p:cNvGrpSpPr/>
          <p:nvPr/>
        </p:nvGrpSpPr>
        <p:grpSpPr>
          <a:xfrm>
            <a:off x="6686960" y="478613"/>
            <a:ext cx="753732" cy="338554"/>
            <a:chOff x="10805387" y="464594"/>
            <a:chExt cx="753732" cy="338554"/>
          </a:xfrm>
        </p:grpSpPr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ACA57C0D-3875-08FF-77A8-0399C7E6F62F}"/>
                </a:ext>
              </a:extLst>
            </p:cNvPr>
            <p:cNvSpPr/>
            <p:nvPr/>
          </p:nvSpPr>
          <p:spPr>
            <a:xfrm>
              <a:off x="10848977" y="466216"/>
              <a:ext cx="678593" cy="329029"/>
            </a:xfrm>
            <a:prstGeom prst="wedgeRoundRectCallout">
              <a:avLst>
                <a:gd name="adj1" fmla="val 35979"/>
                <a:gd name="adj2" fmla="val -88319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648CFE4-0C74-83FE-65E5-F4744C116A3B}"/>
                </a:ext>
              </a:extLst>
            </p:cNvPr>
            <p:cNvSpPr txBox="1"/>
            <p:nvPr/>
          </p:nvSpPr>
          <p:spPr>
            <a:xfrm>
              <a:off x="10805387" y="464594"/>
              <a:ext cx="7537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Download</a:t>
              </a:r>
            </a:p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one-sheets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D60484-ABDB-AAFC-028F-576FB42F86B6}"/>
              </a:ext>
            </a:extLst>
          </p:cNvPr>
          <p:cNvGrpSpPr/>
          <p:nvPr/>
        </p:nvGrpSpPr>
        <p:grpSpPr>
          <a:xfrm>
            <a:off x="7470271" y="480503"/>
            <a:ext cx="756937" cy="338554"/>
            <a:chOff x="6382763" y="1650291"/>
            <a:chExt cx="756937" cy="338554"/>
          </a:xfrm>
        </p:grpSpPr>
        <p:sp>
          <p:nvSpPr>
            <p:cNvPr id="29" name="Speech Bubble: Rectangle with Corners Rounded 28">
              <a:extLst>
                <a:ext uri="{FF2B5EF4-FFF2-40B4-BE49-F238E27FC236}">
                  <a16:creationId xmlns:a16="http://schemas.microsoft.com/office/drawing/2014/main" id="{ADDB5626-BEA5-DD9B-8726-EE08B379338E}"/>
                </a:ext>
              </a:extLst>
            </p:cNvPr>
            <p:cNvSpPr/>
            <p:nvPr/>
          </p:nvSpPr>
          <p:spPr>
            <a:xfrm>
              <a:off x="6427955" y="1651913"/>
              <a:ext cx="678593" cy="329029"/>
            </a:xfrm>
            <a:prstGeom prst="wedgeRoundRectCallout">
              <a:avLst>
                <a:gd name="adj1" fmla="val -36786"/>
                <a:gd name="adj2" fmla="val -90287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EDAA1CC-21D0-8D6E-BB33-705D1DF79BC3}"/>
                </a:ext>
              </a:extLst>
            </p:cNvPr>
            <p:cNvSpPr txBox="1"/>
            <p:nvPr/>
          </p:nvSpPr>
          <p:spPr>
            <a:xfrm>
              <a:off x="6382763" y="1650291"/>
              <a:ext cx="75693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Download</a:t>
              </a:r>
            </a:p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team chart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3B1E88C0-6DE3-E903-9729-397AF09B299B}"/>
              </a:ext>
            </a:extLst>
          </p:cNvPr>
          <p:cNvSpPr>
            <a:spLocks noChangeAspect="1"/>
          </p:cNvSpPr>
          <p:nvPr/>
        </p:nvSpPr>
        <p:spPr>
          <a:xfrm>
            <a:off x="2105254" y="1062101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14E854-28C0-72A2-64EF-088F47BEE169}"/>
              </a:ext>
            </a:extLst>
          </p:cNvPr>
          <p:cNvSpPr txBox="1"/>
          <p:nvPr/>
        </p:nvSpPr>
        <p:spPr>
          <a:xfrm>
            <a:off x="2219554" y="1001706"/>
            <a:ext cx="10583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Tom Margolis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76BEDE-067F-9A42-AECC-ED0C7FC1D7F8}"/>
              </a:ext>
            </a:extLst>
          </p:cNvPr>
          <p:cNvSpPr>
            <a:spLocks noChangeAspect="1"/>
          </p:cNvSpPr>
          <p:nvPr/>
        </p:nvSpPr>
        <p:spPr>
          <a:xfrm>
            <a:off x="3608599" y="805448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77171-AA61-2E14-9D9D-1ED6C5FFA613}"/>
              </a:ext>
            </a:extLst>
          </p:cNvPr>
          <p:cNvSpPr txBox="1"/>
          <p:nvPr/>
        </p:nvSpPr>
        <p:spPr>
          <a:xfrm>
            <a:off x="3722899" y="745053"/>
            <a:ext cx="10791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Renee Marino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2AC2AD-B1BE-3CA4-7A2C-0349A3D706FB}"/>
              </a:ext>
            </a:extLst>
          </p:cNvPr>
          <p:cNvSpPr>
            <a:spLocks noChangeAspect="1"/>
          </p:cNvSpPr>
          <p:nvPr/>
        </p:nvSpPr>
        <p:spPr>
          <a:xfrm>
            <a:off x="3608599" y="548794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D8DE56-3EC2-084D-C40E-D92264332399}"/>
              </a:ext>
            </a:extLst>
          </p:cNvPr>
          <p:cNvSpPr txBox="1"/>
          <p:nvPr/>
        </p:nvSpPr>
        <p:spPr>
          <a:xfrm>
            <a:off x="3722899" y="488399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Montserrat" panose="00000500000000000000" pitchFamily="2" charset="0"/>
                <a:cs typeface="Arial" panose="020B0604020202020204" pitchFamily="34" charset="0"/>
              </a:rPr>
              <a:t>Team #2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012C62-2D5C-DE1C-1DF1-2C3E2BA2F6E4}"/>
              </a:ext>
            </a:extLst>
          </p:cNvPr>
          <p:cNvSpPr>
            <a:spLocks noChangeAspect="1"/>
          </p:cNvSpPr>
          <p:nvPr/>
        </p:nvSpPr>
        <p:spPr>
          <a:xfrm>
            <a:off x="3608599" y="1062749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2FD859D-9495-226F-7BBA-F690EFF22073}"/>
              </a:ext>
            </a:extLst>
          </p:cNvPr>
          <p:cNvSpPr txBox="1"/>
          <p:nvPr/>
        </p:nvSpPr>
        <p:spPr>
          <a:xfrm>
            <a:off x="3722899" y="1002354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Ren Margolis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326A914F-B752-9D16-9017-C8E6E447C044}"/>
              </a:ext>
            </a:extLst>
          </p:cNvPr>
          <p:cNvSpPr>
            <a:spLocks noChangeAspect="1"/>
          </p:cNvSpPr>
          <p:nvPr/>
        </p:nvSpPr>
        <p:spPr>
          <a:xfrm>
            <a:off x="3970858" y="1561309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3A1419D-64F2-492E-8E41-0DD683BB338B}"/>
              </a:ext>
            </a:extLst>
          </p:cNvPr>
          <p:cNvSpPr>
            <a:spLocks/>
          </p:cNvSpPr>
          <p:nvPr/>
        </p:nvSpPr>
        <p:spPr>
          <a:xfrm rot="10800000" flipV="1">
            <a:off x="1757512" y="1579395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5018A5-77FF-C36C-ADCF-25A4B6140F96}"/>
              </a:ext>
            </a:extLst>
          </p:cNvPr>
          <p:cNvSpPr/>
          <p:nvPr/>
        </p:nvSpPr>
        <p:spPr>
          <a:xfrm>
            <a:off x="4369919" y="1476376"/>
            <a:ext cx="2507250" cy="5286374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CFC8B6-E25E-9674-1B32-43652315889D}"/>
              </a:ext>
            </a:extLst>
          </p:cNvPr>
          <p:cNvSpPr/>
          <p:nvPr/>
        </p:nvSpPr>
        <p:spPr>
          <a:xfrm>
            <a:off x="4379443" y="1476375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3DC6972C-9687-673D-2362-FBE8711954C2}"/>
              </a:ext>
            </a:extLst>
          </p:cNvPr>
          <p:cNvSpPr>
            <a:spLocks noChangeAspect="1"/>
          </p:cNvSpPr>
          <p:nvPr/>
        </p:nvSpPr>
        <p:spPr>
          <a:xfrm>
            <a:off x="6661256" y="1561309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582822CA-AF1E-89EA-DD24-9DCCC0191C10}"/>
              </a:ext>
            </a:extLst>
          </p:cNvPr>
          <p:cNvSpPr>
            <a:spLocks/>
          </p:cNvSpPr>
          <p:nvPr/>
        </p:nvSpPr>
        <p:spPr>
          <a:xfrm rot="10800000" flipV="1">
            <a:off x="4447910" y="1579395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7987FC-3586-F517-E919-326D4EF14FEB}"/>
              </a:ext>
            </a:extLst>
          </p:cNvPr>
          <p:cNvSpPr txBox="1"/>
          <p:nvPr/>
        </p:nvSpPr>
        <p:spPr>
          <a:xfrm>
            <a:off x="1679521" y="1889849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705100-D9AC-EFDE-E024-3A256C4E5870}"/>
              </a:ext>
            </a:extLst>
          </p:cNvPr>
          <p:cNvSpPr txBox="1"/>
          <p:nvPr/>
        </p:nvSpPr>
        <p:spPr>
          <a:xfrm>
            <a:off x="1688525" y="2929164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FAB4AD-6959-2334-E806-5782AB1BE5E1}"/>
              </a:ext>
            </a:extLst>
          </p:cNvPr>
          <p:cNvSpPr/>
          <p:nvPr/>
        </p:nvSpPr>
        <p:spPr>
          <a:xfrm>
            <a:off x="7066146" y="1476375"/>
            <a:ext cx="2507250" cy="335049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7BA27E1-62CE-89DB-E537-71FBA5F50A9C}"/>
              </a:ext>
            </a:extLst>
          </p:cNvPr>
          <p:cNvSpPr/>
          <p:nvPr/>
        </p:nvSpPr>
        <p:spPr>
          <a:xfrm>
            <a:off x="7075670" y="1476374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FADFB197-B754-5ED7-3A25-68BBFAEBF76B}"/>
              </a:ext>
            </a:extLst>
          </p:cNvPr>
          <p:cNvSpPr>
            <a:spLocks noChangeAspect="1"/>
          </p:cNvSpPr>
          <p:nvPr/>
        </p:nvSpPr>
        <p:spPr>
          <a:xfrm>
            <a:off x="9357483" y="1561308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31239FD7-71CF-C972-F179-5B5A0BF26C97}"/>
              </a:ext>
            </a:extLst>
          </p:cNvPr>
          <p:cNvSpPr>
            <a:spLocks/>
          </p:cNvSpPr>
          <p:nvPr/>
        </p:nvSpPr>
        <p:spPr>
          <a:xfrm rot="10800000">
            <a:off x="7144137" y="1579394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27AA4C-AE83-048B-10FE-0DAA062EA6C7}"/>
              </a:ext>
            </a:extLst>
          </p:cNvPr>
          <p:cNvSpPr txBox="1"/>
          <p:nvPr/>
        </p:nvSpPr>
        <p:spPr>
          <a:xfrm>
            <a:off x="4368518" y="1884614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1154F2-554B-62E6-D6F6-BF9EFDF9294A}"/>
              </a:ext>
            </a:extLst>
          </p:cNvPr>
          <p:cNvSpPr txBox="1"/>
          <p:nvPr/>
        </p:nvSpPr>
        <p:spPr>
          <a:xfrm>
            <a:off x="4377760" y="2929163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57D942-9C00-21CF-278A-3BC20C38AE80}"/>
              </a:ext>
            </a:extLst>
          </p:cNvPr>
          <p:cNvSpPr txBox="1"/>
          <p:nvPr/>
        </p:nvSpPr>
        <p:spPr>
          <a:xfrm>
            <a:off x="1701909" y="4019037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67FF51-7380-B473-5DF3-F1AA086AA5EC}"/>
              </a:ext>
            </a:extLst>
          </p:cNvPr>
          <p:cNvSpPr txBox="1"/>
          <p:nvPr/>
        </p:nvSpPr>
        <p:spPr>
          <a:xfrm>
            <a:off x="4391144" y="4019036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BE97728-F65C-F422-ACBC-02FD826E9CEC}"/>
              </a:ext>
            </a:extLst>
          </p:cNvPr>
          <p:cNvGrpSpPr/>
          <p:nvPr/>
        </p:nvGrpSpPr>
        <p:grpSpPr>
          <a:xfrm>
            <a:off x="1900009" y="2142714"/>
            <a:ext cx="2070849" cy="625704"/>
            <a:chOff x="2240280" y="2048226"/>
            <a:chExt cx="2070849" cy="625704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FE4DD77-7323-8F46-7B5E-D6D88F834E71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F2658C1-C86A-4F34-C873-264B67DDF163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317CD7A-F02D-DFAE-6093-08CB83F61AC2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54F6BF4-4DA6-4C37-71FF-D7EC7E69E627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92837FA-C08F-3A8C-4533-A0D7DFF1FABB}"/>
              </a:ext>
            </a:extLst>
          </p:cNvPr>
          <p:cNvGrpSpPr/>
          <p:nvPr/>
        </p:nvGrpSpPr>
        <p:grpSpPr>
          <a:xfrm>
            <a:off x="1887056" y="3200901"/>
            <a:ext cx="2070849" cy="625704"/>
            <a:chOff x="2240280" y="2048226"/>
            <a:chExt cx="2070849" cy="625704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1AD957F-AA3C-18B7-2568-EA4760643899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F984FB5-1BBD-84DA-3290-538746B44CBF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406FCB19-3E28-A4CF-F7BA-3DA5443D4B69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9F5107F-547A-F23F-884E-EF466DEF31B8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D4CE32-827D-1951-9705-31AAF0D169D6}"/>
              </a:ext>
            </a:extLst>
          </p:cNvPr>
          <p:cNvGrpSpPr/>
          <p:nvPr/>
        </p:nvGrpSpPr>
        <p:grpSpPr>
          <a:xfrm>
            <a:off x="1923298" y="4315264"/>
            <a:ext cx="2070849" cy="625704"/>
            <a:chOff x="2240280" y="2048226"/>
            <a:chExt cx="2070849" cy="625704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0D85F06-7283-D209-339E-1D6B3FC1A440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6E304E-B786-380A-D388-C78FF9304AD5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F6C1113-9E09-61A7-95A4-7B36C131D461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039CB81-E5C7-7EA2-75DC-D6C9B0F17AF0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0D98676-09EC-FF82-0E96-FA12D8799F37}"/>
              </a:ext>
            </a:extLst>
          </p:cNvPr>
          <p:cNvGrpSpPr/>
          <p:nvPr/>
        </p:nvGrpSpPr>
        <p:grpSpPr>
          <a:xfrm>
            <a:off x="4576153" y="2148810"/>
            <a:ext cx="2070849" cy="625704"/>
            <a:chOff x="2240280" y="2048226"/>
            <a:chExt cx="2070849" cy="625704"/>
          </a:xfrm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7A840FC-0175-997C-A5DD-5A9EE3DF39D8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43E5AED3-2633-29E3-909B-EE822C910336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6186121-F08B-F08F-2371-E9B3874F76D5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3E3555F7-400B-D523-086E-5B2AFF4A9975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C2E4012-1C4F-E109-FE70-36EECBF44E01}"/>
              </a:ext>
            </a:extLst>
          </p:cNvPr>
          <p:cNvGrpSpPr/>
          <p:nvPr/>
        </p:nvGrpSpPr>
        <p:grpSpPr>
          <a:xfrm>
            <a:off x="4563200" y="3206997"/>
            <a:ext cx="2070849" cy="625704"/>
            <a:chOff x="2240280" y="2048226"/>
            <a:chExt cx="2070849" cy="625704"/>
          </a:xfrm>
        </p:grpSpPr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CEEDAF78-A19E-233C-8F13-FFF7F9E4A748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C660105-2DE8-3181-FD27-EFDBCB5011C2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E8CB0D8-46C5-1F29-7419-396726B08559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490BB8B-F946-4332-6AFD-902BC135976E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186DE88F-B888-4484-E2AC-327AB4DDEBBA}"/>
              </a:ext>
            </a:extLst>
          </p:cNvPr>
          <p:cNvGrpSpPr/>
          <p:nvPr/>
        </p:nvGrpSpPr>
        <p:grpSpPr>
          <a:xfrm>
            <a:off x="4599442" y="4321360"/>
            <a:ext cx="2070849" cy="625704"/>
            <a:chOff x="2240280" y="2048226"/>
            <a:chExt cx="2070849" cy="625704"/>
          </a:xfrm>
        </p:grpSpPr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DB046438-F549-E786-B435-E4CAC93BB99B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C648BF5C-2C78-DC30-84D7-F6BF7C47EEB9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05BCDF2-C8C0-B76F-1E53-D6F39F45F735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B69A98E-A872-E756-006C-A0606D814922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6F5D579D-5782-046E-5E88-D1F9B6F6115E}"/>
              </a:ext>
            </a:extLst>
          </p:cNvPr>
          <p:cNvSpPr txBox="1"/>
          <p:nvPr/>
        </p:nvSpPr>
        <p:spPr>
          <a:xfrm>
            <a:off x="10489732" y="92126"/>
            <a:ext cx="1549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8796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122" name="Rectangle: Top Corners Snipped 121">
            <a:extLst>
              <a:ext uri="{FF2B5EF4-FFF2-40B4-BE49-F238E27FC236}">
                <a16:creationId xmlns:a16="http://schemas.microsoft.com/office/drawing/2014/main" id="{475A1FBE-41FE-9FDD-DABC-0B49DAC8041D}"/>
              </a:ext>
            </a:extLst>
          </p:cNvPr>
          <p:cNvSpPr/>
          <p:nvPr/>
        </p:nvSpPr>
        <p:spPr>
          <a:xfrm rot="5400000">
            <a:off x="1306766" y="6513476"/>
            <a:ext cx="280108" cy="154788"/>
          </a:xfrm>
          <a:prstGeom prst="snip2Same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B112FB1-6F14-204D-6F38-2E84AE5772E1}"/>
              </a:ext>
            </a:extLst>
          </p:cNvPr>
          <p:cNvSpPr/>
          <p:nvPr/>
        </p:nvSpPr>
        <p:spPr>
          <a:xfrm>
            <a:off x="1263016" y="6480312"/>
            <a:ext cx="243543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96BB2E-CC15-EDE4-CDC5-37ED13D5946E}"/>
              </a:ext>
            </a:extLst>
          </p:cNvPr>
          <p:cNvSpPr txBox="1"/>
          <p:nvPr/>
        </p:nvSpPr>
        <p:spPr>
          <a:xfrm>
            <a:off x="1689046" y="1505851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Lisa Foster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1370E4-C1E4-00F0-AF8F-893135C14BE6}"/>
              </a:ext>
            </a:extLst>
          </p:cNvPr>
          <p:cNvSpPr txBox="1"/>
          <p:nvPr/>
        </p:nvSpPr>
        <p:spPr>
          <a:xfrm>
            <a:off x="4379444" y="1505851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 Margolis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FB2E9E-35B3-F2B7-F58D-43E12915DDCF}"/>
              </a:ext>
            </a:extLst>
          </p:cNvPr>
          <p:cNvSpPr txBox="1"/>
          <p:nvPr/>
        </p:nvSpPr>
        <p:spPr>
          <a:xfrm>
            <a:off x="7075671" y="1505850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Renee Marino</a:t>
            </a:r>
          </a:p>
        </p:txBody>
      </p:sp>
      <p:pic>
        <p:nvPicPr>
          <p:cNvPr id="60" name="Graphic 59" descr="Eye with solid fill">
            <a:extLst>
              <a:ext uri="{FF2B5EF4-FFF2-40B4-BE49-F238E27FC236}">
                <a16:creationId xmlns:a16="http://schemas.microsoft.com/office/drawing/2014/main" id="{371BBE0E-3A17-0B05-8941-CBD5FE7534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3731" y="1502314"/>
            <a:ext cx="277523" cy="277523"/>
          </a:xfrm>
          <a:prstGeom prst="rect">
            <a:avLst/>
          </a:prstGeom>
        </p:spPr>
      </p:pic>
      <p:pic>
        <p:nvPicPr>
          <p:cNvPr id="71" name="Graphic 70" descr="Eye with solid fill">
            <a:extLst>
              <a:ext uri="{FF2B5EF4-FFF2-40B4-BE49-F238E27FC236}">
                <a16:creationId xmlns:a16="http://schemas.microsoft.com/office/drawing/2014/main" id="{D15C6C72-84E9-54B6-88CE-AFFC4043CD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8449" y="1502314"/>
            <a:ext cx="277523" cy="277523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90E73529-BD65-3362-770C-6BE410822311}"/>
              </a:ext>
            </a:extLst>
          </p:cNvPr>
          <p:cNvGrpSpPr/>
          <p:nvPr/>
        </p:nvGrpSpPr>
        <p:grpSpPr>
          <a:xfrm>
            <a:off x="6667801" y="1086210"/>
            <a:ext cx="713657" cy="338554"/>
            <a:chOff x="3329060" y="877201"/>
            <a:chExt cx="713657" cy="338554"/>
          </a:xfrm>
        </p:grpSpPr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A8C761FE-F080-450D-7AE7-0F0F00C34B45}"/>
                </a:ext>
              </a:extLst>
            </p:cNvPr>
            <p:cNvSpPr/>
            <p:nvPr/>
          </p:nvSpPr>
          <p:spPr>
            <a:xfrm>
              <a:off x="3345074" y="886726"/>
              <a:ext cx="678593" cy="329029"/>
            </a:xfrm>
            <a:prstGeom prst="wedgeRoundRectCallout">
              <a:avLst>
                <a:gd name="adj1" fmla="val -37235"/>
                <a:gd name="adj2" fmla="val 80742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ADACD1-2188-FB17-F26B-842D8E97728D}"/>
                </a:ext>
              </a:extLst>
            </p:cNvPr>
            <p:cNvSpPr txBox="1"/>
            <p:nvPr/>
          </p:nvSpPr>
          <p:spPr>
            <a:xfrm>
              <a:off x="3329060" y="877201"/>
              <a:ext cx="7136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Download</a:t>
              </a:r>
            </a:p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one-sheet</a:t>
              </a:r>
            </a:p>
          </p:txBody>
        </p:sp>
      </p:grpSp>
      <p:pic>
        <p:nvPicPr>
          <p:cNvPr id="72" name="Graphic 71" descr="Eye with solid fill">
            <a:extLst>
              <a:ext uri="{FF2B5EF4-FFF2-40B4-BE49-F238E27FC236}">
                <a16:creationId xmlns:a16="http://schemas.microsoft.com/office/drawing/2014/main" id="{53F48A5C-2076-F630-FC47-88F68886A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4033" y="1502314"/>
            <a:ext cx="277523" cy="277523"/>
          </a:xfrm>
          <a:prstGeom prst="rect">
            <a:avLst/>
          </a:prstGeom>
        </p:spPr>
      </p:pic>
      <p:grpSp>
        <p:nvGrpSpPr>
          <p:cNvPr id="73" name="Group 72">
            <a:extLst>
              <a:ext uri="{FF2B5EF4-FFF2-40B4-BE49-F238E27FC236}">
                <a16:creationId xmlns:a16="http://schemas.microsoft.com/office/drawing/2014/main" id="{DEB01013-3D4E-7AA0-DF39-868395AD0F6E}"/>
              </a:ext>
            </a:extLst>
          </p:cNvPr>
          <p:cNvGrpSpPr/>
          <p:nvPr/>
        </p:nvGrpSpPr>
        <p:grpSpPr>
          <a:xfrm>
            <a:off x="5892962" y="1081462"/>
            <a:ext cx="713657" cy="338554"/>
            <a:chOff x="3329060" y="877201"/>
            <a:chExt cx="713657" cy="338554"/>
          </a:xfrm>
        </p:grpSpPr>
        <p:sp>
          <p:nvSpPr>
            <p:cNvPr id="74" name="Speech Bubble: Rectangle with Corners Rounded 73">
              <a:extLst>
                <a:ext uri="{FF2B5EF4-FFF2-40B4-BE49-F238E27FC236}">
                  <a16:creationId xmlns:a16="http://schemas.microsoft.com/office/drawing/2014/main" id="{A2221785-D325-1618-B3D4-04E1B06A8F15}"/>
                </a:ext>
              </a:extLst>
            </p:cNvPr>
            <p:cNvSpPr/>
            <p:nvPr/>
          </p:nvSpPr>
          <p:spPr>
            <a:xfrm>
              <a:off x="3345074" y="886726"/>
              <a:ext cx="678593" cy="329029"/>
            </a:xfrm>
            <a:prstGeom prst="wedgeRoundRectCallout">
              <a:avLst>
                <a:gd name="adj1" fmla="val 31263"/>
                <a:gd name="adj2" fmla="val 85374"/>
                <a:gd name="adj3" fmla="val 16667"/>
              </a:avLst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C324F53-6561-BD56-7806-174FFB519ADD}"/>
                </a:ext>
              </a:extLst>
            </p:cNvPr>
            <p:cNvSpPr txBox="1"/>
            <p:nvPr/>
          </p:nvSpPr>
          <p:spPr>
            <a:xfrm>
              <a:off x="3329060" y="877201"/>
              <a:ext cx="7136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View</a:t>
              </a:r>
            </a:p>
            <a:p>
              <a:pPr algn="ctr"/>
              <a:r>
                <a:rPr lang="en-US" sz="800" dirty="0">
                  <a:latin typeface="Montserrat" panose="00000500000000000000" pitchFamily="2" charset="0"/>
                </a:rPr>
                <a:t>one-sheet</a:t>
              </a:r>
            </a:p>
          </p:txBody>
        </p:sp>
      </p:grpSp>
      <p:pic>
        <p:nvPicPr>
          <p:cNvPr id="78" name="Picture 77" descr="A black and blue logo&#10;&#10;AI-generated content may be incorrect.">
            <a:extLst>
              <a:ext uri="{FF2B5EF4-FFF2-40B4-BE49-F238E27FC236}">
                <a16:creationId xmlns:a16="http://schemas.microsoft.com/office/drawing/2014/main" id="{48B3BF29-95BB-9D79-F1E6-218A9BEF4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3" y="65215"/>
            <a:ext cx="1211274" cy="269861"/>
          </a:xfrm>
          <a:prstGeom prst="rect">
            <a:avLst/>
          </a:prstGeom>
        </p:spPr>
      </p:pic>
      <p:pic>
        <p:nvPicPr>
          <p:cNvPr id="42" name="Picture 41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7B094958-F763-ABA5-6A27-FB7F79A435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35" y="6446160"/>
            <a:ext cx="1081525" cy="309454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92A9FAD7-7056-CB23-3A05-7053E014A382}"/>
              </a:ext>
            </a:extLst>
          </p:cNvPr>
          <p:cNvSpPr txBox="1"/>
          <p:nvPr/>
        </p:nvSpPr>
        <p:spPr>
          <a:xfrm>
            <a:off x="97742" y="412223"/>
            <a:ext cx="12522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You are logged in as</a:t>
            </a:r>
          </a:p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tom@parillume.com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07E02B3-F236-9E81-AE01-A376C3A2F36B}"/>
              </a:ext>
            </a:extLst>
          </p:cNvPr>
          <p:cNvCxnSpPr/>
          <p:nvPr/>
        </p:nvCxnSpPr>
        <p:spPr>
          <a:xfrm>
            <a:off x="175378" y="917576"/>
            <a:ext cx="10999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Arrow: Bent 46">
            <a:extLst>
              <a:ext uri="{FF2B5EF4-FFF2-40B4-BE49-F238E27FC236}">
                <a16:creationId xmlns:a16="http://schemas.microsoft.com/office/drawing/2014/main" id="{C95671C7-31EC-05A2-773F-B614A53B341E}"/>
              </a:ext>
            </a:extLst>
          </p:cNvPr>
          <p:cNvSpPr/>
          <p:nvPr/>
        </p:nvSpPr>
        <p:spPr>
          <a:xfrm rot="10800000">
            <a:off x="7226432" y="1916199"/>
            <a:ext cx="1186775" cy="1012964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B5619B6-D213-D746-1BE2-B98DA40682C1}"/>
              </a:ext>
            </a:extLst>
          </p:cNvPr>
          <p:cNvSpPr txBox="1"/>
          <p:nvPr/>
        </p:nvSpPr>
        <p:spPr>
          <a:xfrm>
            <a:off x="8447496" y="2106928"/>
            <a:ext cx="1957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These columns can be reordered by sliding them sideways.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3CD2F4-CB16-372C-97AD-0901F2A84398}"/>
              </a:ext>
            </a:extLst>
          </p:cNvPr>
          <p:cNvSpPr txBox="1"/>
          <p:nvPr/>
        </p:nvSpPr>
        <p:spPr>
          <a:xfrm>
            <a:off x="205786" y="1626812"/>
            <a:ext cx="1272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87A0"/>
                </a:solidFill>
              </a:rPr>
              <a:t>BURNING QUESTION</a:t>
            </a:r>
          </a:p>
          <a:p>
            <a:r>
              <a:rPr lang="en-US" sz="800" dirty="0">
                <a:solidFill>
                  <a:srgbClr val="0087A0"/>
                </a:solidFill>
              </a:rPr>
              <a:t>PLAY-FULL PRACTICES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STRENGTHS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SUPERPOWERS</a:t>
            </a:r>
          </a:p>
          <a:p>
            <a:r>
              <a:rPr lang="en-US" sz="800" dirty="0">
                <a:solidFill>
                  <a:srgbClr val="0087A0"/>
                </a:solidFill>
              </a:rPr>
              <a:t>KRYPTONITE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49D6BC6-9F14-823F-9C19-FD531235788B}"/>
              </a:ext>
            </a:extLst>
          </p:cNvPr>
          <p:cNvCxnSpPr>
            <a:cxnSpLocks/>
          </p:cNvCxnSpPr>
          <p:nvPr/>
        </p:nvCxnSpPr>
        <p:spPr>
          <a:xfrm flipH="1" flipV="1">
            <a:off x="4782987" y="415619"/>
            <a:ext cx="438920" cy="35922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2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7325-BCF3-BABA-C49E-C1B98A3C6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196">
            <a:extLst>
              <a:ext uri="{FF2B5EF4-FFF2-40B4-BE49-F238E27FC236}">
                <a16:creationId xmlns:a16="http://schemas.microsoft.com/office/drawing/2014/main" id="{7951E642-F7CA-8F08-CF95-E394B51C9C09}"/>
              </a:ext>
            </a:extLst>
          </p:cNvPr>
          <p:cNvSpPr/>
          <p:nvPr/>
        </p:nvSpPr>
        <p:spPr>
          <a:xfrm>
            <a:off x="1525817" y="86026"/>
            <a:ext cx="10490805" cy="127326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15F0518-3C3B-4695-2EF8-233C8E3D2703}"/>
              </a:ext>
            </a:extLst>
          </p:cNvPr>
          <p:cNvSpPr txBox="1"/>
          <p:nvPr/>
        </p:nvSpPr>
        <p:spPr>
          <a:xfrm>
            <a:off x="1844237" y="99407"/>
            <a:ext cx="55082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Montserrat" panose="00000500000000000000" pitchFamily="2" charset="0"/>
              </a:rPr>
              <a:t>FILTER INSIGHTS  </a:t>
            </a:r>
            <a:r>
              <a:rPr lang="en-US" sz="1400" dirty="0">
                <a:solidFill>
                  <a:srgbClr val="0087A0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by team members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rPr>
              <a:t>    </a:t>
            </a:r>
            <a:r>
              <a:rPr lang="en-US" sz="12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anose="00000500000000000000" pitchFamily="2" charset="0"/>
              </a:rPr>
              <a:t>… </a:t>
            </a:r>
            <a:r>
              <a:rPr lang="en-US" sz="1200" u="sng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Montserrat" panose="00000500000000000000" pitchFamily="2" charset="0"/>
              </a:rPr>
              <a:t>by assessment results</a:t>
            </a:r>
          </a:p>
        </p:txBody>
      </p:sp>
      <p:sp>
        <p:nvSpPr>
          <p:cNvPr id="133" name="Arrow: Down 132">
            <a:extLst>
              <a:ext uri="{FF2B5EF4-FFF2-40B4-BE49-F238E27FC236}">
                <a16:creationId xmlns:a16="http://schemas.microsoft.com/office/drawing/2014/main" id="{363A5783-A73C-7584-E14B-EBB7A0A2D749}"/>
              </a:ext>
            </a:extLst>
          </p:cNvPr>
          <p:cNvSpPr>
            <a:spLocks noChangeAspect="1"/>
          </p:cNvSpPr>
          <p:nvPr/>
        </p:nvSpPr>
        <p:spPr>
          <a:xfrm>
            <a:off x="7308967" y="170704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4D9151B6-C57A-DDCD-6E2B-6163ABD859FF}"/>
              </a:ext>
            </a:extLst>
          </p:cNvPr>
          <p:cNvSpPr>
            <a:spLocks/>
          </p:cNvSpPr>
          <p:nvPr/>
        </p:nvSpPr>
        <p:spPr>
          <a:xfrm rot="10800000" flipV="1">
            <a:off x="1608570" y="190296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5" name="Arrow: Down 134">
            <a:extLst>
              <a:ext uri="{FF2B5EF4-FFF2-40B4-BE49-F238E27FC236}">
                <a16:creationId xmlns:a16="http://schemas.microsoft.com/office/drawing/2014/main" id="{67B78548-661D-C457-E0C9-A640950337D0}"/>
              </a:ext>
            </a:extLst>
          </p:cNvPr>
          <p:cNvSpPr>
            <a:spLocks noChangeAspect="1"/>
          </p:cNvSpPr>
          <p:nvPr/>
        </p:nvSpPr>
        <p:spPr>
          <a:xfrm>
            <a:off x="7492115" y="171799"/>
            <a:ext cx="137652" cy="165182"/>
          </a:xfrm>
          <a:prstGeom prst="downArrow">
            <a:avLst/>
          </a:prstGeom>
          <a:solidFill>
            <a:srgbClr val="00879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C3BEAFE-D30F-0445-54C2-866B18E157DC}"/>
              </a:ext>
            </a:extLst>
          </p:cNvPr>
          <p:cNvSpPr txBox="1"/>
          <p:nvPr/>
        </p:nvSpPr>
        <p:spPr>
          <a:xfrm>
            <a:off x="10489732" y="92126"/>
            <a:ext cx="15496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rgbClr val="008796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37E202-D4F8-5BBA-8AC4-52AE29603FEB}"/>
              </a:ext>
            </a:extLst>
          </p:cNvPr>
          <p:cNvSpPr/>
          <p:nvPr/>
        </p:nvSpPr>
        <p:spPr>
          <a:xfrm>
            <a:off x="4286455" y="472330"/>
            <a:ext cx="1090958" cy="1828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PERSPECTIVE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477FC42-5988-CE30-FF34-0C9DD93EE0E8}"/>
              </a:ext>
            </a:extLst>
          </p:cNvPr>
          <p:cNvSpPr/>
          <p:nvPr/>
        </p:nvSpPr>
        <p:spPr>
          <a:xfrm>
            <a:off x="3113234" y="470862"/>
            <a:ext cx="1090958" cy="18288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PERSONALITY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84091E9-4C1D-FC7F-D77F-453571B2D6ED}"/>
              </a:ext>
            </a:extLst>
          </p:cNvPr>
          <p:cNvSpPr/>
          <p:nvPr/>
        </p:nvSpPr>
        <p:spPr>
          <a:xfrm>
            <a:off x="1933729" y="464601"/>
            <a:ext cx="1090958" cy="182880"/>
          </a:xfrm>
          <a:prstGeom prst="roundRect">
            <a:avLst/>
          </a:prstGeom>
          <a:solidFill>
            <a:srgbClr val="E1E6F0"/>
          </a:solidFill>
          <a:ln w="12700">
            <a:solidFill>
              <a:srgbClr val="66669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STRENGTHS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543FA2-7CA1-8734-58EE-9D4D99B7576B}"/>
              </a:ext>
            </a:extLst>
          </p:cNvPr>
          <p:cNvSpPr/>
          <p:nvPr/>
        </p:nvSpPr>
        <p:spPr>
          <a:xfrm>
            <a:off x="-1" y="0"/>
            <a:ext cx="1384209" cy="6858000"/>
          </a:xfrm>
          <a:prstGeom prst="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122" name="Rectangle: Top Corners Snipped 121">
            <a:extLst>
              <a:ext uri="{FF2B5EF4-FFF2-40B4-BE49-F238E27FC236}">
                <a16:creationId xmlns:a16="http://schemas.microsoft.com/office/drawing/2014/main" id="{36C7A58B-B5C2-3EC6-1DF7-0DF7E2526EE8}"/>
              </a:ext>
            </a:extLst>
          </p:cNvPr>
          <p:cNvSpPr/>
          <p:nvPr/>
        </p:nvSpPr>
        <p:spPr>
          <a:xfrm rot="5400000">
            <a:off x="1306766" y="6513476"/>
            <a:ext cx="280108" cy="154788"/>
          </a:xfrm>
          <a:prstGeom prst="snip2SameRect">
            <a:avLst/>
          </a:prstGeom>
          <a:solidFill>
            <a:schemeClr val="bg1"/>
          </a:solidFill>
          <a:ln>
            <a:solidFill>
              <a:srgbClr val="00879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77A54EA-94E2-99FB-5E2B-5791C93C2AC5}"/>
              </a:ext>
            </a:extLst>
          </p:cNvPr>
          <p:cNvSpPr/>
          <p:nvPr/>
        </p:nvSpPr>
        <p:spPr>
          <a:xfrm>
            <a:off x="1263016" y="6480312"/>
            <a:ext cx="243543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FFD79F-B223-054C-1A2B-9F47577427D4}"/>
              </a:ext>
            </a:extLst>
          </p:cNvPr>
          <p:cNvSpPr>
            <a:spLocks noChangeAspect="1"/>
          </p:cNvSpPr>
          <p:nvPr/>
        </p:nvSpPr>
        <p:spPr>
          <a:xfrm>
            <a:off x="2577739" y="844631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1EC4E0-E930-25A0-3FF3-94B5BC22A0DF}"/>
              </a:ext>
            </a:extLst>
          </p:cNvPr>
          <p:cNvSpPr txBox="1"/>
          <p:nvPr/>
        </p:nvSpPr>
        <p:spPr>
          <a:xfrm>
            <a:off x="2692039" y="784236"/>
            <a:ext cx="9541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SELECT ALL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7C6F08C-742B-3932-9889-A50D9B932DAD}"/>
              </a:ext>
            </a:extLst>
          </p:cNvPr>
          <p:cNvSpPr>
            <a:spLocks noChangeAspect="1"/>
          </p:cNvSpPr>
          <p:nvPr/>
        </p:nvSpPr>
        <p:spPr>
          <a:xfrm>
            <a:off x="2577739" y="1081151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EED5CC5-8E67-0EB9-0773-9CC8C8565A23}"/>
              </a:ext>
            </a:extLst>
          </p:cNvPr>
          <p:cNvSpPr txBox="1"/>
          <p:nvPr/>
        </p:nvSpPr>
        <p:spPr>
          <a:xfrm>
            <a:off x="2692039" y="102075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Strategic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8B49AB0-2B45-5230-E158-FAD79A542C55}"/>
              </a:ext>
            </a:extLst>
          </p:cNvPr>
          <p:cNvSpPr>
            <a:spLocks noChangeAspect="1"/>
          </p:cNvSpPr>
          <p:nvPr/>
        </p:nvSpPr>
        <p:spPr>
          <a:xfrm>
            <a:off x="3709609" y="1081799"/>
            <a:ext cx="118872" cy="11887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C3BE1C-5A58-ABC4-67D6-B2B6395B4006}"/>
              </a:ext>
            </a:extLst>
          </p:cNvPr>
          <p:cNvSpPr txBox="1"/>
          <p:nvPr/>
        </p:nvSpPr>
        <p:spPr>
          <a:xfrm>
            <a:off x="3823909" y="1021404"/>
            <a:ext cx="9204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Influencing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6C6D360-4DAC-720C-FB94-70FA611A93B1}"/>
              </a:ext>
            </a:extLst>
          </p:cNvPr>
          <p:cNvSpPr>
            <a:spLocks noChangeAspect="1"/>
          </p:cNvSpPr>
          <p:nvPr/>
        </p:nvSpPr>
        <p:spPr>
          <a:xfrm>
            <a:off x="4994196" y="1080742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F407BA-819E-FAFB-B7C7-EF5A77988797}"/>
              </a:ext>
            </a:extLst>
          </p:cNvPr>
          <p:cNvSpPr txBox="1"/>
          <p:nvPr/>
        </p:nvSpPr>
        <p:spPr>
          <a:xfrm>
            <a:off x="5108496" y="1020347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Executing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CD5F0AE-603D-F308-792B-FD53055048C7}"/>
              </a:ext>
            </a:extLst>
          </p:cNvPr>
          <p:cNvSpPr>
            <a:spLocks noChangeAspect="1"/>
          </p:cNvSpPr>
          <p:nvPr/>
        </p:nvSpPr>
        <p:spPr>
          <a:xfrm>
            <a:off x="6358247" y="1089729"/>
            <a:ext cx="118872" cy="118872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2F0024-D58D-7B43-4FAC-894A90F296E5}"/>
              </a:ext>
            </a:extLst>
          </p:cNvPr>
          <p:cNvSpPr txBox="1"/>
          <p:nvPr/>
        </p:nvSpPr>
        <p:spPr>
          <a:xfrm>
            <a:off x="6472547" y="1029334"/>
            <a:ext cx="1588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Montserrat" panose="00000500000000000000" pitchFamily="2" charset="0"/>
                <a:cs typeface="Arial" panose="020B0604020202020204" pitchFamily="34" charset="0"/>
              </a:rPr>
              <a:t>Relationship-Building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5E9A4CA6-DF98-6717-A89C-6A3672DBD9AA}"/>
              </a:ext>
            </a:extLst>
          </p:cNvPr>
          <p:cNvSpPr/>
          <p:nvPr/>
        </p:nvSpPr>
        <p:spPr>
          <a:xfrm>
            <a:off x="1690408" y="1476375"/>
            <a:ext cx="2507250" cy="5286375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9D0BFA-E456-B101-E4FF-0998E145EA1A}"/>
              </a:ext>
            </a:extLst>
          </p:cNvPr>
          <p:cNvSpPr/>
          <p:nvPr/>
        </p:nvSpPr>
        <p:spPr>
          <a:xfrm>
            <a:off x="1699932" y="1476375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Arrow: Down 141">
            <a:extLst>
              <a:ext uri="{FF2B5EF4-FFF2-40B4-BE49-F238E27FC236}">
                <a16:creationId xmlns:a16="http://schemas.microsoft.com/office/drawing/2014/main" id="{8B89A233-78A9-1DAD-072F-1966C2B908D3}"/>
              </a:ext>
            </a:extLst>
          </p:cNvPr>
          <p:cNvSpPr>
            <a:spLocks noChangeAspect="1"/>
          </p:cNvSpPr>
          <p:nvPr/>
        </p:nvSpPr>
        <p:spPr>
          <a:xfrm>
            <a:off x="3981745" y="1561309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Isosceles Triangle 142">
            <a:extLst>
              <a:ext uri="{FF2B5EF4-FFF2-40B4-BE49-F238E27FC236}">
                <a16:creationId xmlns:a16="http://schemas.microsoft.com/office/drawing/2014/main" id="{ACC0963C-F669-3AA6-0DF4-479BCD781247}"/>
              </a:ext>
            </a:extLst>
          </p:cNvPr>
          <p:cNvSpPr>
            <a:spLocks/>
          </p:cNvSpPr>
          <p:nvPr/>
        </p:nvSpPr>
        <p:spPr>
          <a:xfrm rot="10800000" flipV="1">
            <a:off x="1768399" y="1579395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A7C444D8-B775-B41F-6E68-9BB13B686DC5}"/>
              </a:ext>
            </a:extLst>
          </p:cNvPr>
          <p:cNvSpPr/>
          <p:nvPr/>
        </p:nvSpPr>
        <p:spPr>
          <a:xfrm>
            <a:off x="4380806" y="1476376"/>
            <a:ext cx="2507250" cy="5286374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9C3C24D-C819-45E0-2A59-EE454118B842}"/>
              </a:ext>
            </a:extLst>
          </p:cNvPr>
          <p:cNvSpPr/>
          <p:nvPr/>
        </p:nvSpPr>
        <p:spPr>
          <a:xfrm>
            <a:off x="4390330" y="1476375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Arrow: Down 145">
            <a:extLst>
              <a:ext uri="{FF2B5EF4-FFF2-40B4-BE49-F238E27FC236}">
                <a16:creationId xmlns:a16="http://schemas.microsoft.com/office/drawing/2014/main" id="{5778BAF6-5565-DDC6-3A15-9407E6DACEC9}"/>
              </a:ext>
            </a:extLst>
          </p:cNvPr>
          <p:cNvSpPr>
            <a:spLocks noChangeAspect="1"/>
          </p:cNvSpPr>
          <p:nvPr/>
        </p:nvSpPr>
        <p:spPr>
          <a:xfrm>
            <a:off x="6672143" y="1561309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Isosceles Triangle 146">
            <a:extLst>
              <a:ext uri="{FF2B5EF4-FFF2-40B4-BE49-F238E27FC236}">
                <a16:creationId xmlns:a16="http://schemas.microsoft.com/office/drawing/2014/main" id="{BF449F41-28F5-0348-513B-C57DEB884DA5}"/>
              </a:ext>
            </a:extLst>
          </p:cNvPr>
          <p:cNvSpPr>
            <a:spLocks/>
          </p:cNvSpPr>
          <p:nvPr/>
        </p:nvSpPr>
        <p:spPr>
          <a:xfrm rot="10800000" flipV="1">
            <a:off x="4458797" y="1579395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920C8D5-8359-5A17-06AF-590269D4186A}"/>
              </a:ext>
            </a:extLst>
          </p:cNvPr>
          <p:cNvSpPr txBox="1"/>
          <p:nvPr/>
        </p:nvSpPr>
        <p:spPr>
          <a:xfrm>
            <a:off x="1690408" y="1889849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742DBF6-1896-C7B4-4E7F-96F92BD1B91F}"/>
              </a:ext>
            </a:extLst>
          </p:cNvPr>
          <p:cNvSpPr txBox="1"/>
          <p:nvPr/>
        </p:nvSpPr>
        <p:spPr>
          <a:xfrm>
            <a:off x="1699412" y="2929164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B5A84EE-1DFE-6704-F46B-EE55EA43EEAA}"/>
              </a:ext>
            </a:extLst>
          </p:cNvPr>
          <p:cNvSpPr/>
          <p:nvPr/>
        </p:nvSpPr>
        <p:spPr>
          <a:xfrm>
            <a:off x="7077033" y="1476375"/>
            <a:ext cx="2507250" cy="335049"/>
          </a:xfrm>
          <a:prstGeom prst="rect">
            <a:avLst/>
          </a:prstGeom>
          <a:solidFill>
            <a:schemeClr val="bg1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1C64C05-68E5-18AA-37FD-DB2D0A9D3A2D}"/>
              </a:ext>
            </a:extLst>
          </p:cNvPr>
          <p:cNvSpPr/>
          <p:nvPr/>
        </p:nvSpPr>
        <p:spPr>
          <a:xfrm>
            <a:off x="7086557" y="1476374"/>
            <a:ext cx="2507250" cy="3350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Arrow: Down 156">
            <a:extLst>
              <a:ext uri="{FF2B5EF4-FFF2-40B4-BE49-F238E27FC236}">
                <a16:creationId xmlns:a16="http://schemas.microsoft.com/office/drawing/2014/main" id="{CD6BFFE2-4843-F21F-AB90-E801922EF361}"/>
              </a:ext>
            </a:extLst>
          </p:cNvPr>
          <p:cNvSpPr>
            <a:spLocks noChangeAspect="1"/>
          </p:cNvSpPr>
          <p:nvPr/>
        </p:nvSpPr>
        <p:spPr>
          <a:xfrm>
            <a:off x="9368370" y="1561308"/>
            <a:ext cx="137652" cy="165182"/>
          </a:xfrm>
          <a:prstGeom prst="downArrow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Isosceles Triangle 157">
            <a:extLst>
              <a:ext uri="{FF2B5EF4-FFF2-40B4-BE49-F238E27FC236}">
                <a16:creationId xmlns:a16="http://schemas.microsoft.com/office/drawing/2014/main" id="{24FBBA0C-828B-21D5-CC4F-1F2023C8FD97}"/>
              </a:ext>
            </a:extLst>
          </p:cNvPr>
          <p:cNvSpPr>
            <a:spLocks/>
          </p:cNvSpPr>
          <p:nvPr/>
        </p:nvSpPr>
        <p:spPr>
          <a:xfrm rot="10800000">
            <a:off x="7155024" y="1579394"/>
            <a:ext cx="164592" cy="137160"/>
          </a:xfrm>
          <a:prstGeom prst="triangle">
            <a:avLst/>
          </a:prstGeom>
          <a:solidFill>
            <a:srgbClr val="0087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A04E9E0-4078-2FA9-A099-EFE75380EBBF}"/>
              </a:ext>
            </a:extLst>
          </p:cNvPr>
          <p:cNvSpPr txBox="1"/>
          <p:nvPr/>
        </p:nvSpPr>
        <p:spPr>
          <a:xfrm>
            <a:off x="4379405" y="1884614"/>
            <a:ext cx="25167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BURNING QUESTION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2EE2882B-6E1A-1E6A-F6D6-8CB3FD26B1B3}"/>
              </a:ext>
            </a:extLst>
          </p:cNvPr>
          <p:cNvSpPr txBox="1"/>
          <p:nvPr/>
        </p:nvSpPr>
        <p:spPr>
          <a:xfrm>
            <a:off x="4388647" y="2929163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PLAY-FULL PRACTICES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79CE0B7-6D9B-CBFF-93E6-7E80D4396379}"/>
              </a:ext>
            </a:extLst>
          </p:cNvPr>
          <p:cNvSpPr txBox="1"/>
          <p:nvPr/>
        </p:nvSpPr>
        <p:spPr>
          <a:xfrm>
            <a:off x="1712796" y="4019037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83D4283-F1EA-7923-2ECA-1D5A2379B0AA}"/>
              </a:ext>
            </a:extLst>
          </p:cNvPr>
          <p:cNvSpPr txBox="1"/>
          <p:nvPr/>
        </p:nvSpPr>
        <p:spPr>
          <a:xfrm>
            <a:off x="4402031" y="4019036"/>
            <a:ext cx="2507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087A0"/>
                </a:solidFill>
              </a:rPr>
              <a:t>KRYPTONITE</a:t>
            </a:r>
          </a:p>
        </p:txBody>
      </p: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DAC5C-4C73-EC1C-7F93-42E78F8419C7}"/>
              </a:ext>
            </a:extLst>
          </p:cNvPr>
          <p:cNvGrpSpPr/>
          <p:nvPr/>
        </p:nvGrpSpPr>
        <p:grpSpPr>
          <a:xfrm>
            <a:off x="1910896" y="2142714"/>
            <a:ext cx="2070849" cy="625704"/>
            <a:chOff x="2240280" y="2048226"/>
            <a:chExt cx="2070849" cy="625704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C1F1ABAA-6445-85F7-9F3C-9D6F22F440C8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88F5FD0-74FD-43A9-FBFF-695A760F83E7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C5E6EE8-8C85-E660-614A-56E59C4CC736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4632690-93EE-42A3-A85E-742D4A0C9F09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99DE2B7-2C9C-CEBD-3194-D72BCA770FB6}"/>
              </a:ext>
            </a:extLst>
          </p:cNvPr>
          <p:cNvGrpSpPr/>
          <p:nvPr/>
        </p:nvGrpSpPr>
        <p:grpSpPr>
          <a:xfrm>
            <a:off x="1897943" y="3200901"/>
            <a:ext cx="2070849" cy="625704"/>
            <a:chOff x="2240280" y="2048226"/>
            <a:chExt cx="2070849" cy="625704"/>
          </a:xfrm>
        </p:grpSpPr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C774C8E3-CEF7-B35E-169C-07613E0A2E9A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D3BEC563-A042-03C2-7984-DDF82DC43E47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F3E8184-0EDD-CFBC-19B7-04A2E4F7173A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C041D51-9D9A-9B69-6F5B-EAB1F3A25A99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89F49AE-B82B-0639-A1B2-8B9B7F6EE952}"/>
              </a:ext>
            </a:extLst>
          </p:cNvPr>
          <p:cNvGrpSpPr/>
          <p:nvPr/>
        </p:nvGrpSpPr>
        <p:grpSpPr>
          <a:xfrm>
            <a:off x="1934185" y="4315264"/>
            <a:ext cx="2070849" cy="625704"/>
            <a:chOff x="2240280" y="2048226"/>
            <a:chExt cx="2070849" cy="625704"/>
          </a:xfrm>
        </p:grpSpPr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39D2D83-965F-7DA4-F02C-D63DB791CC31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991657C-0D2D-FAC8-1FF2-32E7510FE1A5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980D709-E801-F022-8DFA-324D926A875A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868DE5E-422B-C22E-E772-33BADE50D179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CA3015D-1E16-510C-72B8-58D8CC408F46}"/>
              </a:ext>
            </a:extLst>
          </p:cNvPr>
          <p:cNvGrpSpPr/>
          <p:nvPr/>
        </p:nvGrpSpPr>
        <p:grpSpPr>
          <a:xfrm>
            <a:off x="4587040" y="2148810"/>
            <a:ext cx="2070849" cy="625704"/>
            <a:chOff x="2240280" y="2048226"/>
            <a:chExt cx="2070849" cy="625704"/>
          </a:xfrm>
        </p:grpSpPr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40EF694-7551-B727-1569-4E516D0F31A6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A4E16CF8-9AE8-CB1E-EEC8-99C33A1C4094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34A78621-A9AF-4174-DDD6-37A049F3A247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9D4B5E96-1CF2-53DF-47C6-7F3293041724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DBC820D3-44A4-393E-0E69-DD439F2AB209}"/>
              </a:ext>
            </a:extLst>
          </p:cNvPr>
          <p:cNvGrpSpPr/>
          <p:nvPr/>
        </p:nvGrpSpPr>
        <p:grpSpPr>
          <a:xfrm>
            <a:off x="4574087" y="3206997"/>
            <a:ext cx="2070849" cy="625704"/>
            <a:chOff x="2240280" y="2048226"/>
            <a:chExt cx="2070849" cy="625704"/>
          </a:xfrm>
        </p:grpSpPr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7EE1767-DF6C-9CA4-96E5-6CD2DB369ECE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A7B2308-1957-33C4-F1A6-6685FA365637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ABCFE835-B2F7-CD63-75E8-F43F633D2011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EB8821E-3D5D-1A2B-11E4-3E61ED0639AC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A6C43CD-C658-2DDD-4759-D7BD3340DE41}"/>
              </a:ext>
            </a:extLst>
          </p:cNvPr>
          <p:cNvGrpSpPr/>
          <p:nvPr/>
        </p:nvGrpSpPr>
        <p:grpSpPr>
          <a:xfrm>
            <a:off x="4610329" y="4321360"/>
            <a:ext cx="2070849" cy="625704"/>
            <a:chOff x="2240280" y="2048226"/>
            <a:chExt cx="2070849" cy="625704"/>
          </a:xfrm>
        </p:grpSpPr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3FA2A077-9B4E-34F0-0853-E97D10E15B37}"/>
                </a:ext>
              </a:extLst>
            </p:cNvPr>
            <p:cNvSpPr/>
            <p:nvPr/>
          </p:nvSpPr>
          <p:spPr>
            <a:xfrm>
              <a:off x="2240280" y="2048226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CBE601A-DA24-7780-BD3F-65AB060D8C0E}"/>
                </a:ext>
              </a:extLst>
            </p:cNvPr>
            <p:cNvSpPr/>
            <p:nvPr/>
          </p:nvSpPr>
          <p:spPr>
            <a:xfrm flipH="1">
              <a:off x="2262375" y="2218323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CF0DD6C-2BBE-B0C7-AE64-A57B88D4C672}"/>
                </a:ext>
              </a:extLst>
            </p:cNvPr>
            <p:cNvSpPr/>
            <p:nvPr/>
          </p:nvSpPr>
          <p:spPr>
            <a:xfrm>
              <a:off x="2249922" y="2384931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E6F3A10-4C33-026E-71C7-649C181DE666}"/>
                </a:ext>
              </a:extLst>
            </p:cNvPr>
            <p:cNvSpPr/>
            <p:nvPr/>
          </p:nvSpPr>
          <p:spPr>
            <a:xfrm flipH="1">
              <a:off x="2272017" y="2564172"/>
              <a:ext cx="2039112" cy="109758"/>
            </a:xfrm>
            <a:custGeom>
              <a:avLst/>
              <a:gdLst>
                <a:gd name="connsiteX0" fmla="*/ 0 w 2039112"/>
                <a:gd name="connsiteY0" fmla="*/ 109758 h 109758"/>
                <a:gd name="connsiteX1" fmla="*/ 192024 w 2039112"/>
                <a:gd name="connsiteY1" fmla="*/ 45750 h 109758"/>
                <a:gd name="connsiteX2" fmla="*/ 347472 w 2039112"/>
                <a:gd name="connsiteY2" fmla="*/ 100614 h 109758"/>
                <a:gd name="connsiteX3" fmla="*/ 402336 w 2039112"/>
                <a:gd name="connsiteY3" fmla="*/ 64038 h 109758"/>
                <a:gd name="connsiteX4" fmla="*/ 539496 w 2039112"/>
                <a:gd name="connsiteY4" fmla="*/ 100614 h 109758"/>
                <a:gd name="connsiteX5" fmla="*/ 585216 w 2039112"/>
                <a:gd name="connsiteY5" fmla="*/ 18318 h 109758"/>
                <a:gd name="connsiteX6" fmla="*/ 667512 w 2039112"/>
                <a:gd name="connsiteY6" fmla="*/ 91470 h 109758"/>
                <a:gd name="connsiteX7" fmla="*/ 804672 w 2039112"/>
                <a:gd name="connsiteY7" fmla="*/ 36606 h 109758"/>
                <a:gd name="connsiteX8" fmla="*/ 960120 w 2039112"/>
                <a:gd name="connsiteY8" fmla="*/ 73182 h 109758"/>
                <a:gd name="connsiteX9" fmla="*/ 1069848 w 2039112"/>
                <a:gd name="connsiteY9" fmla="*/ 30 h 109758"/>
                <a:gd name="connsiteX10" fmla="*/ 1161288 w 2039112"/>
                <a:gd name="connsiteY10" fmla="*/ 64038 h 109758"/>
                <a:gd name="connsiteX11" fmla="*/ 1298448 w 2039112"/>
                <a:gd name="connsiteY11" fmla="*/ 54894 h 109758"/>
                <a:gd name="connsiteX12" fmla="*/ 1371600 w 2039112"/>
                <a:gd name="connsiteY12" fmla="*/ 91470 h 109758"/>
                <a:gd name="connsiteX13" fmla="*/ 1408176 w 2039112"/>
                <a:gd name="connsiteY13" fmla="*/ 9174 h 109758"/>
                <a:gd name="connsiteX14" fmla="*/ 1536192 w 2039112"/>
                <a:gd name="connsiteY14" fmla="*/ 73182 h 109758"/>
                <a:gd name="connsiteX15" fmla="*/ 1645920 w 2039112"/>
                <a:gd name="connsiteY15" fmla="*/ 36606 h 109758"/>
                <a:gd name="connsiteX16" fmla="*/ 1847088 w 2039112"/>
                <a:gd name="connsiteY16" fmla="*/ 82326 h 109758"/>
                <a:gd name="connsiteX17" fmla="*/ 1929384 w 2039112"/>
                <a:gd name="connsiteY17" fmla="*/ 27462 h 109758"/>
                <a:gd name="connsiteX18" fmla="*/ 2039112 w 2039112"/>
                <a:gd name="connsiteY18" fmla="*/ 82326 h 109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39112" h="109758">
                  <a:moveTo>
                    <a:pt x="0" y="109758"/>
                  </a:moveTo>
                  <a:cubicBezTo>
                    <a:pt x="67056" y="78516"/>
                    <a:pt x="134112" y="47274"/>
                    <a:pt x="192024" y="45750"/>
                  </a:cubicBezTo>
                  <a:cubicBezTo>
                    <a:pt x="249936" y="44226"/>
                    <a:pt x="312420" y="97566"/>
                    <a:pt x="347472" y="100614"/>
                  </a:cubicBezTo>
                  <a:cubicBezTo>
                    <a:pt x="382524" y="103662"/>
                    <a:pt x="370332" y="64038"/>
                    <a:pt x="402336" y="64038"/>
                  </a:cubicBezTo>
                  <a:cubicBezTo>
                    <a:pt x="434340" y="64038"/>
                    <a:pt x="509016" y="108234"/>
                    <a:pt x="539496" y="100614"/>
                  </a:cubicBezTo>
                  <a:cubicBezTo>
                    <a:pt x="569976" y="92994"/>
                    <a:pt x="563880" y="19842"/>
                    <a:pt x="585216" y="18318"/>
                  </a:cubicBezTo>
                  <a:cubicBezTo>
                    <a:pt x="606552" y="16794"/>
                    <a:pt x="630936" y="88422"/>
                    <a:pt x="667512" y="91470"/>
                  </a:cubicBezTo>
                  <a:cubicBezTo>
                    <a:pt x="704088" y="94518"/>
                    <a:pt x="755904" y="39654"/>
                    <a:pt x="804672" y="36606"/>
                  </a:cubicBezTo>
                  <a:cubicBezTo>
                    <a:pt x="853440" y="33558"/>
                    <a:pt x="915924" y="79278"/>
                    <a:pt x="960120" y="73182"/>
                  </a:cubicBezTo>
                  <a:cubicBezTo>
                    <a:pt x="1004316" y="67086"/>
                    <a:pt x="1036320" y="1554"/>
                    <a:pt x="1069848" y="30"/>
                  </a:cubicBezTo>
                  <a:cubicBezTo>
                    <a:pt x="1103376" y="-1494"/>
                    <a:pt x="1123188" y="54894"/>
                    <a:pt x="1161288" y="64038"/>
                  </a:cubicBezTo>
                  <a:cubicBezTo>
                    <a:pt x="1199388" y="73182"/>
                    <a:pt x="1263396" y="50322"/>
                    <a:pt x="1298448" y="54894"/>
                  </a:cubicBezTo>
                  <a:cubicBezTo>
                    <a:pt x="1333500" y="59466"/>
                    <a:pt x="1353312" y="99090"/>
                    <a:pt x="1371600" y="91470"/>
                  </a:cubicBezTo>
                  <a:cubicBezTo>
                    <a:pt x="1389888" y="83850"/>
                    <a:pt x="1380744" y="12222"/>
                    <a:pt x="1408176" y="9174"/>
                  </a:cubicBezTo>
                  <a:cubicBezTo>
                    <a:pt x="1435608" y="6126"/>
                    <a:pt x="1496568" y="68610"/>
                    <a:pt x="1536192" y="73182"/>
                  </a:cubicBezTo>
                  <a:cubicBezTo>
                    <a:pt x="1575816" y="77754"/>
                    <a:pt x="1594104" y="35082"/>
                    <a:pt x="1645920" y="36606"/>
                  </a:cubicBezTo>
                  <a:cubicBezTo>
                    <a:pt x="1697736" y="38130"/>
                    <a:pt x="1799844" y="83850"/>
                    <a:pt x="1847088" y="82326"/>
                  </a:cubicBezTo>
                  <a:cubicBezTo>
                    <a:pt x="1894332" y="80802"/>
                    <a:pt x="1897380" y="27462"/>
                    <a:pt x="1929384" y="27462"/>
                  </a:cubicBezTo>
                  <a:cubicBezTo>
                    <a:pt x="1961388" y="27462"/>
                    <a:pt x="2000250" y="54894"/>
                    <a:pt x="2039112" y="82326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205C64B3-63B1-2569-F326-61D21C411399}"/>
              </a:ext>
            </a:extLst>
          </p:cNvPr>
          <p:cNvSpPr txBox="1"/>
          <p:nvPr/>
        </p:nvSpPr>
        <p:spPr>
          <a:xfrm>
            <a:off x="1699933" y="1505851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Lisa Foster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0CE11C2-8CF7-E42B-E22E-378512A4034D}"/>
              </a:ext>
            </a:extLst>
          </p:cNvPr>
          <p:cNvSpPr txBox="1"/>
          <p:nvPr/>
        </p:nvSpPr>
        <p:spPr>
          <a:xfrm>
            <a:off x="4390331" y="1505851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 Margolis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B421DFD-2723-E522-BB5E-6D7167440AAF}"/>
              </a:ext>
            </a:extLst>
          </p:cNvPr>
          <p:cNvSpPr txBox="1"/>
          <p:nvPr/>
        </p:nvSpPr>
        <p:spPr>
          <a:xfrm>
            <a:off x="7086558" y="1505850"/>
            <a:ext cx="2507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Montserrat" panose="00000500000000000000" pitchFamily="2" charset="0"/>
              </a:rPr>
              <a:t>Renee Marino</a:t>
            </a:r>
          </a:p>
        </p:txBody>
      </p:sp>
      <p:pic>
        <p:nvPicPr>
          <p:cNvPr id="2" name="Graphic 1" descr="Eye with solid fill">
            <a:extLst>
              <a:ext uri="{FF2B5EF4-FFF2-40B4-BE49-F238E27FC236}">
                <a16:creationId xmlns:a16="http://schemas.microsoft.com/office/drawing/2014/main" id="{5486F41B-3099-392C-216D-6A691014B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4618" y="1502314"/>
            <a:ext cx="277523" cy="277523"/>
          </a:xfrm>
          <a:prstGeom prst="rect">
            <a:avLst/>
          </a:prstGeom>
        </p:spPr>
      </p:pic>
      <p:pic>
        <p:nvPicPr>
          <p:cNvPr id="3" name="Graphic 2" descr="Eye with solid fill">
            <a:extLst>
              <a:ext uri="{FF2B5EF4-FFF2-40B4-BE49-F238E27FC236}">
                <a16:creationId xmlns:a16="http://schemas.microsoft.com/office/drawing/2014/main" id="{8B710A4F-638F-A250-77D4-1BA7EEBD8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9336" y="1502314"/>
            <a:ext cx="277523" cy="277523"/>
          </a:xfrm>
          <a:prstGeom prst="rect">
            <a:avLst/>
          </a:prstGeom>
        </p:spPr>
      </p:pic>
      <p:pic>
        <p:nvPicPr>
          <p:cNvPr id="4" name="Graphic 3" descr="Eye with solid fill">
            <a:extLst>
              <a:ext uri="{FF2B5EF4-FFF2-40B4-BE49-F238E27FC236}">
                <a16:creationId xmlns:a16="http://schemas.microsoft.com/office/drawing/2014/main" id="{8F319642-C837-C92B-5F8F-8BC2F3CA1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4920" y="1502314"/>
            <a:ext cx="277523" cy="277523"/>
          </a:xfrm>
          <a:prstGeom prst="rect">
            <a:avLst/>
          </a:prstGeom>
        </p:spPr>
      </p:pic>
      <p:pic>
        <p:nvPicPr>
          <p:cNvPr id="5" name="Picture 4" descr="A black and blue logo&#10;&#10;AI-generated content may be incorrect.">
            <a:extLst>
              <a:ext uri="{FF2B5EF4-FFF2-40B4-BE49-F238E27FC236}">
                <a16:creationId xmlns:a16="http://schemas.microsoft.com/office/drawing/2014/main" id="{B3D9ACB8-8D86-AB4E-10FB-5FBF64F1B6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3" y="65215"/>
            <a:ext cx="1211274" cy="269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A1DA48-5EC8-733E-165C-BC8DAF637DBA}"/>
              </a:ext>
            </a:extLst>
          </p:cNvPr>
          <p:cNvSpPr txBox="1"/>
          <p:nvPr/>
        </p:nvSpPr>
        <p:spPr>
          <a:xfrm>
            <a:off x="1999967" y="624344"/>
            <a:ext cx="95731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Montserrat" panose="00000500000000000000" pitchFamily="2" charset="0"/>
                <a:cs typeface="Arial" panose="020B0604020202020204" pitchFamily="34" charset="0"/>
              </a:rPr>
              <a:t>SOME SELECTED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E4CF33-C734-CBA0-DC28-7743877033A9}"/>
              </a:ext>
            </a:extLst>
          </p:cNvPr>
          <p:cNvSpPr txBox="1"/>
          <p:nvPr/>
        </p:nvSpPr>
        <p:spPr>
          <a:xfrm>
            <a:off x="3152812" y="624343"/>
            <a:ext cx="9653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Montserrat" panose="00000500000000000000" pitchFamily="2" charset="0"/>
                <a:cs typeface="Arial" panose="020B0604020202020204" pitchFamily="34" charset="0"/>
              </a:rPr>
              <a:t>NONE SELECTED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F436C-CAD1-4669-2137-29C127BC00F4}"/>
              </a:ext>
            </a:extLst>
          </p:cNvPr>
          <p:cNvSpPr txBox="1"/>
          <p:nvPr/>
        </p:nvSpPr>
        <p:spPr>
          <a:xfrm>
            <a:off x="4405987" y="624343"/>
            <a:ext cx="8531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 dirty="0">
                <a:latin typeface="Montserrat" panose="00000500000000000000" pitchFamily="2" charset="0"/>
                <a:cs typeface="Arial" panose="020B0604020202020204" pitchFamily="34" charset="0"/>
              </a:rPr>
              <a:t>ALL SELECTED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4BBC38-4457-BF23-7264-A817184990C6}"/>
              </a:ext>
            </a:extLst>
          </p:cNvPr>
          <p:cNvSpPr txBox="1"/>
          <p:nvPr/>
        </p:nvSpPr>
        <p:spPr>
          <a:xfrm>
            <a:off x="97742" y="1001228"/>
            <a:ext cx="11304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Log out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latin typeface="Montserrat" panose="00000500000000000000" pitchFamily="2" charset="0"/>
              </a:rPr>
              <a:t>My Profile</a:t>
            </a:r>
          </a:p>
          <a:p>
            <a:pPr>
              <a:spcAft>
                <a:spcPts val="600"/>
              </a:spcAft>
            </a:pPr>
            <a:r>
              <a:rPr lang="en-US" sz="1000" b="1" dirty="0">
                <a:solidFill>
                  <a:srgbClr val="0087A0"/>
                </a:solidFill>
                <a:latin typeface="Montserrat" panose="00000500000000000000" pitchFamily="2" charset="0"/>
              </a:rPr>
              <a:t>Team Insights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FAC462-B9BA-E8F4-1D61-BF0DB62560DD}"/>
              </a:ext>
            </a:extLst>
          </p:cNvPr>
          <p:cNvSpPr txBox="1"/>
          <p:nvPr/>
        </p:nvSpPr>
        <p:spPr>
          <a:xfrm>
            <a:off x="97742" y="412223"/>
            <a:ext cx="125226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You are logged in as</a:t>
            </a:r>
          </a:p>
          <a:p>
            <a:pPr algn="ctr">
              <a:spcAft>
                <a:spcPts val="600"/>
              </a:spcAft>
            </a:pPr>
            <a:r>
              <a:rPr lang="en-US" sz="800" dirty="0">
                <a:latin typeface="Montserrat" panose="00000500000000000000" pitchFamily="2" charset="0"/>
              </a:rPr>
              <a:t>tom@parillume.com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F8906DB-7D62-AAF0-15EE-496605534E7E}"/>
              </a:ext>
            </a:extLst>
          </p:cNvPr>
          <p:cNvCxnSpPr/>
          <p:nvPr/>
        </p:nvCxnSpPr>
        <p:spPr>
          <a:xfrm>
            <a:off x="175378" y="917576"/>
            <a:ext cx="109990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26CFB499-0A2D-0BC5-024C-A74FD40CBE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35" y="6446160"/>
            <a:ext cx="1081525" cy="3094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CE0EF1-A534-66CB-8E18-A1E401040505}"/>
              </a:ext>
            </a:extLst>
          </p:cNvPr>
          <p:cNvSpPr txBox="1"/>
          <p:nvPr/>
        </p:nvSpPr>
        <p:spPr>
          <a:xfrm>
            <a:off x="205786" y="1626812"/>
            <a:ext cx="12724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87A0"/>
                </a:solidFill>
              </a:rPr>
              <a:t>BURNING QUESTION</a:t>
            </a:r>
          </a:p>
          <a:p>
            <a:r>
              <a:rPr lang="en-US" sz="800" dirty="0">
                <a:solidFill>
                  <a:srgbClr val="0087A0"/>
                </a:solidFill>
              </a:rPr>
              <a:t>PLAY-FULL PRACTICES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STRENGTHS</a:t>
            </a:r>
          </a:p>
          <a:p>
            <a:r>
              <a:rPr lang="en-US" sz="800" dirty="0">
                <a:solidFill>
                  <a:schemeClr val="bg1">
                    <a:lumMod val="65000"/>
                  </a:schemeClr>
                </a:solidFill>
              </a:rPr>
              <a:t>SUPERPOWERS</a:t>
            </a:r>
          </a:p>
          <a:p>
            <a:r>
              <a:rPr lang="en-US" sz="800" dirty="0">
                <a:solidFill>
                  <a:srgbClr val="0087A0"/>
                </a:solidFill>
              </a:rPr>
              <a:t>KRYPTONITE</a:t>
            </a: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3F46D6B5-1807-2256-8581-7C034081B33D}"/>
              </a:ext>
            </a:extLst>
          </p:cNvPr>
          <p:cNvSpPr/>
          <p:nvPr/>
        </p:nvSpPr>
        <p:spPr>
          <a:xfrm rot="10800000">
            <a:off x="7226432" y="1916199"/>
            <a:ext cx="1186775" cy="1012964"/>
          </a:xfrm>
          <a:prstGeom prst="ben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3F5CF2-4D2B-8892-04C0-0563C8CE1939}"/>
              </a:ext>
            </a:extLst>
          </p:cNvPr>
          <p:cNvSpPr txBox="1"/>
          <p:nvPr/>
        </p:nvSpPr>
        <p:spPr>
          <a:xfrm>
            <a:off x="8447496" y="2106928"/>
            <a:ext cx="19576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These columns can be reordered by sliding them sideways.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CE4867-F749-B74C-F908-B98E102DCE63}"/>
              </a:ext>
            </a:extLst>
          </p:cNvPr>
          <p:cNvCxnSpPr>
            <a:cxnSpLocks/>
          </p:cNvCxnSpPr>
          <p:nvPr/>
        </p:nvCxnSpPr>
        <p:spPr>
          <a:xfrm flipV="1">
            <a:off x="5719159" y="415619"/>
            <a:ext cx="438920" cy="359229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59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272</Words>
  <Application>Microsoft Office PowerPoint</Application>
  <PresentationFormat>Widescreen</PresentationFormat>
  <Paragraphs>112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Margolis</dc:creator>
  <cp:lastModifiedBy>Tom Margolis</cp:lastModifiedBy>
  <cp:revision>92</cp:revision>
  <dcterms:created xsi:type="dcterms:W3CDTF">2025-02-16T16:14:51Z</dcterms:created>
  <dcterms:modified xsi:type="dcterms:W3CDTF">2025-04-01T11:29:57Z</dcterms:modified>
</cp:coreProperties>
</file>