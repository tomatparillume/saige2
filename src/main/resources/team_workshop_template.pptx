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566" r:id="rId2"/>
    <p:sldId id="554" r:id="rId3"/>
    <p:sldId id="713" r:id="rId4"/>
    <p:sldId id="728" r:id="rId5"/>
    <p:sldId id="749" r:id="rId6"/>
    <p:sldId id="750" r:id="rId7"/>
    <p:sldId id="614" r:id="rId8"/>
    <p:sldId id="747" r:id="rId9"/>
    <p:sldId id="669" r:id="rId10"/>
    <p:sldId id="746" r:id="rId11"/>
    <p:sldId id="738" r:id="rId12"/>
    <p:sldId id="733" r:id="rId13"/>
    <p:sldId id="309" r:id="rId1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91BF"/>
    <a:srgbClr val="722B90"/>
    <a:srgbClr val="EC272B"/>
    <a:srgbClr val="2E84B7"/>
    <a:srgbClr val="6D31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3">
              <a:alpha val="20000"/>
            </a:scheme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3">
              <a:alpha val="20000"/>
            </a:schemeClr>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12700" cap="flat">
              <a:solidFill>
                <a:schemeClr val="accent3"/>
              </a:solidFill>
              <a:prstDash val="solid"/>
              <a:round/>
            </a:ln>
          </a:top>
          <a:bottom>
            <a:ln w="12700" cap="flat">
              <a:solidFill>
                <a:schemeClr val="accent3"/>
              </a:solidFill>
              <a:prstDash val="solid"/>
              <a:round/>
            </a:ln>
          </a:bottom>
          <a:insideH>
            <a:ln w="12700" cap="flat">
              <a:noFill/>
              <a:miter lim="400000"/>
            </a:ln>
          </a:insideH>
          <a:insideV>
            <a:ln w="12700" cap="flat">
              <a:noFill/>
              <a:miter lim="400000"/>
            </a:ln>
          </a:insideV>
        </a:tcBdr>
        <a:fill>
          <a:noFill/>
        </a:fill>
      </a:tcStyle>
    </a:lastRow>
    <a:firstRow>
      <a:tcTxStyle b="on" i="off">
        <a:fontRef idx="major">
          <a:srgbClr val="000000"/>
        </a:fontRef>
        <a:srgbClr val="000000"/>
      </a:tcTxStyle>
      <a:tcStyle>
        <a:tcBdr>
          <a:left>
            <a:ln w="12700" cap="flat">
              <a:noFill/>
              <a:miter lim="400000"/>
            </a:ln>
          </a:left>
          <a:right>
            <a:ln w="12700" cap="flat">
              <a:noFill/>
              <a:miter lim="400000"/>
            </a:ln>
          </a:right>
          <a:top>
            <a:ln w="12700" cap="flat">
              <a:solidFill>
                <a:schemeClr val="accent3"/>
              </a:solidFill>
              <a:prstDash val="solid"/>
              <a:round/>
            </a:ln>
          </a:top>
          <a:bottom>
            <a:ln w="12700" cap="flat">
              <a:solidFill>
                <a:schemeClr val="accent3"/>
              </a:solidFill>
              <a:prstDash val="solid"/>
              <a:round/>
            </a:ln>
          </a:bottom>
          <a:insideH>
            <a:ln w="12700" cap="flat">
              <a:noFill/>
              <a:miter lim="400000"/>
            </a:ln>
          </a:insideH>
          <a:insideV>
            <a:ln w="12700" cap="flat">
              <a:noFill/>
              <a:miter lim="400000"/>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4"/>
    <p:restoredTop sz="88719" autoAdjust="0"/>
  </p:normalViewPr>
  <p:slideViewPr>
    <p:cSldViewPr snapToGrid="0" snapToObjects="1">
      <p:cViewPr varScale="1">
        <p:scale>
          <a:sx n="101" d="100"/>
          <a:sy n="101" d="100"/>
        </p:scale>
        <p:origin x="332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Set Up: Notebooks, Index Card, Pens, Chocolates, Buzzers, Lenses, Bag-o-Questions, MB Quiz </a:t>
            </a:r>
          </a:p>
          <a:p>
            <a:endParaRPr lang="en-US" dirty="0"/>
          </a:p>
          <a:p>
            <a:r>
              <a:rPr lang="en-US" dirty="0"/>
              <a:t>Put teams in Enneagram groups by alphabetical order</a:t>
            </a:r>
          </a:p>
          <a:p>
            <a:endParaRPr lang="en-US" dirty="0"/>
          </a:p>
          <a:p>
            <a:r>
              <a:rPr lang="en-US" dirty="0"/>
              <a:t>Welcome! Thank you!</a:t>
            </a:r>
          </a:p>
          <a:p>
            <a:endParaRPr lang="en-US" dirty="0"/>
          </a:p>
          <a:p>
            <a:r>
              <a:rPr lang="en-US" dirty="0"/>
              <a:t>One quirky hobby, passion, or behavior that the team doesn’t know about  + bag-o-questions</a:t>
            </a:r>
          </a:p>
          <a:p>
            <a:endParaRPr lang="en-US" dirty="0"/>
          </a:p>
        </p:txBody>
      </p:sp>
    </p:spTree>
    <p:extLst>
      <p:ext uri="{BB962C8B-B14F-4D97-AF65-F5344CB8AC3E}">
        <p14:creationId xmlns:p14="http://schemas.microsoft.com/office/powerpoint/2010/main" val="1922879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Why are we here? Ultimately, so you and your team can be in your superpowers 80% of time, in alignment with annual and quarterly performance objectives for triple win. </a:t>
            </a:r>
          </a:p>
          <a:p>
            <a:endParaRPr lang="en-US" dirty="0"/>
          </a:p>
          <a:p>
            <a:r>
              <a:rPr lang="en-US" dirty="0"/>
              <a:t>What does superpowered growth look like for you now? Internally and externally? </a:t>
            </a:r>
          </a:p>
          <a:p>
            <a:endParaRPr lang="en-US" dirty="0"/>
          </a:p>
          <a:p>
            <a:endParaRPr lang="en-US" dirty="0"/>
          </a:p>
          <a:p>
            <a:r>
              <a:rPr lang="en-US" dirty="0"/>
              <a:t>What does superpowered growth look like for you?</a:t>
            </a:r>
          </a:p>
          <a:p>
            <a:r>
              <a:rPr lang="en-US" dirty="0"/>
              <a:t>4 ways this can go wrong </a:t>
            </a:r>
          </a:p>
          <a:p>
            <a:pPr marL="171450" indent="-171450">
              <a:buFont typeface="Arial" panose="020B0604020202020204" pitchFamily="34" charset="0"/>
              <a:buChar char="•"/>
            </a:pPr>
            <a:r>
              <a:rPr lang="en-US" dirty="0"/>
              <a:t>Leadership examples | Superpowers/Kryptonite</a:t>
            </a:r>
          </a:p>
          <a:p>
            <a:pPr marL="171450" indent="-171450">
              <a:buFont typeface="Arial" panose="020B0604020202020204" pitchFamily="34" charset="0"/>
              <a:buChar char="•"/>
            </a:pPr>
            <a:r>
              <a:rPr lang="en-US" dirty="0"/>
              <a:t>Individual mastery : SFOD sessions, “The One Sheet to Rule them All”: boxes as references for self, meetings, issues - example | Help the individuals that aren’t here – debrief </a:t>
            </a:r>
          </a:p>
          <a:p>
            <a:pPr marL="171450" indent="-171450">
              <a:buFont typeface="Arial" panose="020B0604020202020204" pitchFamily="34" charset="0"/>
              <a:buChar char="•"/>
            </a:pPr>
            <a:r>
              <a:rPr lang="en-US" dirty="0"/>
              <a:t>Inert Individuals/Weaponization: This is a growth tool – putting self or others in boxes = not what we’re here for | The PFP + Notebooks </a:t>
            </a:r>
          </a:p>
          <a:p>
            <a:pPr marL="171450" indent="-171450">
              <a:buFont typeface="Arial" panose="020B0604020202020204" pitchFamily="34" charset="0"/>
              <a:buChar char="•"/>
            </a:pPr>
            <a:r>
              <a:rPr lang="en-US" dirty="0"/>
              <a:t>Customize this work (Phase 2) – but the goal all the way through is that you have a common lens and language now to do this work yourself – today breakouts are for you to practice applying this on your team</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FA95425B-7169-48DA-A2C6-D329545B359A}" type="slidenum">
              <a:rPr lang="en-US" smtClean="0"/>
              <a:t>2</a:t>
            </a:fld>
            <a:endParaRPr lang="en-US"/>
          </a:p>
        </p:txBody>
      </p:sp>
    </p:spTree>
    <p:extLst>
      <p:ext uri="{BB962C8B-B14F-4D97-AF65-F5344CB8AC3E}">
        <p14:creationId xmlns:p14="http://schemas.microsoft.com/office/powerpoint/2010/main" val="3160115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spcBef>
                <a:spcPts val="0"/>
              </a:spcBef>
              <a:spcAft>
                <a:spcPts val="0"/>
              </a:spcAft>
            </a:pPr>
            <a:r>
              <a:rPr lang="en-US" sz="1100" b="1" i="0" u="none" strike="noStrike" dirty="0">
                <a:solidFill>
                  <a:srgbClr val="000000"/>
                </a:solidFill>
                <a:effectLst/>
                <a:latin typeface="Montserrat" pitchFamily="2" charset="77"/>
              </a:rPr>
              <a:t>Superpowers Tour - Activate Your Superpowers Worksheet</a:t>
            </a:r>
            <a:endParaRPr lang="en-US" b="0" dirty="0">
              <a:effectLst/>
            </a:endParaRP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Fill out first box with your percentage from February</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Eric - 70%</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Tim - 50%</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Lee - 50%</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Tonya - 40-50%</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Sam - 25%</a:t>
            </a: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First three boxes on column two of 2024 worksheet </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Last quarter to this quarter % </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PFPs &amp; Impact - also review your team PFP chart from last year &amp; include anything you worked on there</a:t>
            </a:r>
          </a:p>
          <a:p>
            <a:endParaRPr lang="en-US" dirty="0"/>
          </a:p>
        </p:txBody>
      </p:sp>
    </p:spTree>
    <p:extLst>
      <p:ext uri="{BB962C8B-B14F-4D97-AF65-F5344CB8AC3E}">
        <p14:creationId xmlns:p14="http://schemas.microsoft.com/office/powerpoint/2010/main" val="3584312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spcBef>
                <a:spcPts val="0"/>
              </a:spcBef>
              <a:spcAft>
                <a:spcPts val="0"/>
              </a:spcAft>
            </a:pPr>
            <a:r>
              <a:rPr lang="en-US" sz="1100" b="1" i="0" u="none" strike="noStrike" dirty="0">
                <a:solidFill>
                  <a:srgbClr val="000000"/>
                </a:solidFill>
                <a:effectLst/>
                <a:latin typeface="Montserrat" pitchFamily="2" charset="77"/>
              </a:rPr>
              <a:t>Superpowers Tour - Activate Your Superpowers Worksheet</a:t>
            </a:r>
            <a:endParaRPr lang="en-US" b="0" dirty="0">
              <a:effectLst/>
            </a:endParaRP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Fill out first box with your percentage from February</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Eric - 70%</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Tim - 50%</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Lee - 50%</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Tonya - 40-50%</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Sam - 25%</a:t>
            </a: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First three boxes on column two of 2024 worksheet </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Last quarter to this quarter % </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PFPs &amp; Impact - also review your team PFP chart from last year &amp; include anything you worked on there</a:t>
            </a:r>
          </a:p>
          <a:p>
            <a:endParaRPr lang="en-US" dirty="0"/>
          </a:p>
        </p:txBody>
      </p:sp>
    </p:spTree>
    <p:extLst>
      <p:ext uri="{BB962C8B-B14F-4D97-AF65-F5344CB8AC3E}">
        <p14:creationId xmlns:p14="http://schemas.microsoft.com/office/powerpoint/2010/main" val="155461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05236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37410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493040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06895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fontAlgn="base">
              <a:spcBef>
                <a:spcPts val="0"/>
              </a:spcBef>
              <a:spcAft>
                <a:spcPts val="0"/>
              </a:spcAft>
              <a:buFont typeface="Arial" panose="020B0604020202020204" pitchFamily="34" charset="0"/>
              <a:buChar char="•"/>
            </a:pPr>
            <a:r>
              <a:rPr lang="en-US" sz="1200" dirty="0">
                <a:effectLst/>
                <a:latin typeface="Montserrat ExtraLight" pitchFamily="2" charset="77"/>
                <a:ea typeface="Calibri" panose="020F0502020204030204" pitchFamily="34" charset="0"/>
                <a:cs typeface="Times New Roman" panose="02020603050405020304" pitchFamily="18" charset="0"/>
              </a:rPr>
              <a:t> </a:t>
            </a:r>
            <a:r>
              <a:rPr lang="en-US" sz="1800" b="0" i="0" u="none" strike="noStrike" dirty="0">
                <a:solidFill>
                  <a:srgbClr val="000000"/>
                </a:solidFill>
                <a:effectLst/>
                <a:latin typeface="Montserrat" pitchFamily="2" charset="77"/>
              </a:rPr>
              <a:t>Teach through the script with a concrete example - Renee performance conversation with Amy  - Renee /Lisa script &amp; solution “Is it pretty?” </a:t>
            </a:r>
          </a:p>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Montserrat" pitchFamily="2" charset="77"/>
              </a:rPr>
              <a:t>Ground rules: No one is “wrong” &amp; we seek to understand before being understood; no interrupting initiator of conversation. They need to be heard.</a:t>
            </a:r>
          </a:p>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Montserrat" pitchFamily="2" charset="77"/>
              </a:rPr>
              <a:t>Being seen, heard &amp; valued enough to be understood disappears complaints</a:t>
            </a:r>
          </a:p>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Montserrat" pitchFamily="2" charset="77"/>
              </a:rPr>
              <a:t>Recreating Communication is in the script.</a:t>
            </a:r>
          </a:p>
          <a:p>
            <a:pPr rtl="0" fontAlgn="base">
              <a:spcBef>
                <a:spcPts val="0"/>
              </a:spcBef>
              <a:spcAft>
                <a:spcPts val="0"/>
              </a:spcAft>
              <a:buFont typeface="Arial" panose="020B0604020202020204" pitchFamily="34" charset="0"/>
              <a:buChar char="•"/>
            </a:pPr>
            <a:endParaRPr lang="en-US" sz="1800" b="0" i="0" u="none" strike="noStrike" dirty="0">
              <a:solidFill>
                <a:srgbClr val="000000"/>
              </a:solidFill>
              <a:effectLst/>
              <a:latin typeface="Montserrat" pitchFamily="2" charset="77"/>
            </a:endParaRPr>
          </a:p>
          <a:p>
            <a:pPr rtl="0" fontAlgn="base">
              <a:spcBef>
                <a:spcPts val="0"/>
              </a:spcBef>
              <a:spcAft>
                <a:spcPts val="0"/>
              </a:spcAft>
              <a:buFont typeface="Arial" panose="020B0604020202020204" pitchFamily="34" charset="0"/>
              <a:buNone/>
            </a:pPr>
            <a:r>
              <a:rPr lang="en-US" sz="1100" b="0" i="0" u="none" strike="noStrike" dirty="0">
                <a:solidFill>
                  <a:srgbClr val="000000"/>
                </a:solidFill>
                <a:effectLst/>
                <a:latin typeface="Montserrat" pitchFamily="2" charset="77"/>
              </a:rPr>
              <a:t>CONFLICT TO COLLABORATION EXERCISE</a:t>
            </a:r>
          </a:p>
          <a:p>
            <a:pPr lvl="1"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Bring one-sheets </a:t>
            </a:r>
          </a:p>
          <a:p>
            <a:pPr lvl="1"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No names &amp; no judgment - own your experience</a:t>
            </a:r>
          </a:p>
          <a:p>
            <a:pPr lvl="1"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Purpose is to work through a real challenge </a:t>
            </a:r>
          </a:p>
          <a:p>
            <a:pPr marL="742950" lvl="2"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Decide who will be the Initiator first  </a:t>
            </a:r>
          </a:p>
          <a:p>
            <a:pPr lvl="1"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Create a goal: Get clear on what would solve this for you with your partner. Create a PFP around this. </a:t>
            </a:r>
          </a:p>
          <a:p>
            <a:pPr marL="742950" lvl="2"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If, for some reason, the issue actually involves the 2 of you, create a common intention and activate superpowers to achieve it. This becomes your PFP together.</a:t>
            </a:r>
          </a:p>
          <a:p>
            <a:pPr marL="742950" lvl="2" indent="-285750" rtl="0" fontAlgn="base">
              <a:spcBef>
                <a:spcPts val="0"/>
              </a:spcBef>
              <a:spcAft>
                <a:spcPts val="0"/>
              </a:spcAft>
              <a:buFont typeface="Arial" panose="020B0604020202020204" pitchFamily="34" charset="0"/>
              <a:buChar char="•"/>
            </a:pPr>
            <a:endParaRPr lang="en-US" sz="1100" b="0" i="0" u="none" strike="noStrike" dirty="0">
              <a:solidFill>
                <a:srgbClr val="000000"/>
              </a:solidFill>
              <a:effectLst/>
              <a:latin typeface="Montserrat" pitchFamily="2" charset="77"/>
            </a:endParaRPr>
          </a:p>
          <a:p>
            <a:pPr rtl="0">
              <a:spcBef>
                <a:spcPts val="0"/>
              </a:spcBef>
              <a:spcAft>
                <a:spcPts val="0"/>
              </a:spcAft>
            </a:pPr>
            <a:r>
              <a:rPr lang="en-US" sz="1100" b="0" i="0" u="none" strike="noStrike" dirty="0">
                <a:solidFill>
                  <a:srgbClr val="000000"/>
                </a:solidFill>
                <a:effectLst/>
                <a:latin typeface="Montserrat" pitchFamily="2" charset="77"/>
              </a:rPr>
              <a:t>VOLUNTEERS TO COACH THROUGH</a:t>
            </a:r>
            <a:endParaRPr lang="en-US" b="0" dirty="0">
              <a:effectLst/>
            </a:endParaRP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Who has more than one challenge you could workshop in this exercise? </a:t>
            </a: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Who wants to get extra practice on Active Listening? </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I’m going to facilitate, so I will interrupt you so I can teach</a:t>
            </a: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Move throughout hotel</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What if this feels too vulnerable? Emotional? Just follow the script. Do it anyway</a:t>
            </a:r>
          </a:p>
          <a:p>
            <a:pPr marL="742950" lvl="1" indent="-285750" rtl="0" fontAlgn="base">
              <a:spcBef>
                <a:spcPts val="0"/>
              </a:spcBef>
              <a:spcAft>
                <a:spcPts val="0"/>
              </a:spcAft>
              <a:buFont typeface="Arial" panose="020B0604020202020204" pitchFamily="34" charset="0"/>
              <a:buChar char="•"/>
            </a:pPr>
            <a:endParaRPr lang="en-US" sz="1100" b="0" i="0" u="none" strike="noStrike" dirty="0">
              <a:solidFill>
                <a:srgbClr val="000000"/>
              </a:solidFill>
              <a:effectLst/>
              <a:latin typeface="Montserrat" pitchFamily="2" charset="77"/>
            </a:endParaRPr>
          </a:p>
          <a:p>
            <a:pPr rtl="0">
              <a:spcBef>
                <a:spcPts val="0"/>
              </a:spcBef>
              <a:spcAft>
                <a:spcPts val="0"/>
              </a:spcAft>
            </a:pPr>
            <a:r>
              <a:rPr lang="en-US" sz="1800" b="0" i="0" u="none" strike="noStrike" dirty="0">
                <a:solidFill>
                  <a:srgbClr val="000000"/>
                </a:solidFill>
                <a:effectLst/>
                <a:latin typeface="Montserrat" pitchFamily="2" charset="77"/>
              </a:rPr>
              <a:t>DEBRIEF: What did you take away? What was easy? Hard? Where did it feel awkward? </a:t>
            </a:r>
            <a:endParaRPr lang="en-US" sz="1600" b="0" dirty="0">
              <a:effectLst/>
            </a:endParaRPr>
          </a:p>
          <a:p>
            <a:pPr rtl="0">
              <a:spcBef>
                <a:spcPts val="0"/>
              </a:spcBef>
              <a:spcAft>
                <a:spcPts val="0"/>
              </a:spcAft>
            </a:pPr>
            <a:br>
              <a:rPr lang="en-US" sz="1600" b="0" dirty="0">
                <a:effectLst/>
              </a:rPr>
            </a:br>
            <a:r>
              <a:rPr lang="en-US" sz="1800" b="0" i="0" u="none" strike="noStrike" dirty="0">
                <a:solidFill>
                  <a:srgbClr val="000000"/>
                </a:solidFill>
                <a:effectLst/>
                <a:latin typeface="Montserrat" pitchFamily="2" charset="77"/>
              </a:rPr>
              <a:t>Write out your PFP. </a:t>
            </a:r>
            <a:endParaRPr lang="en-US" sz="1600" b="0" dirty="0">
              <a:effectLst/>
            </a:endParaRPr>
          </a:p>
          <a:p>
            <a:br>
              <a:rPr lang="en-US" sz="1600" dirty="0"/>
            </a:br>
            <a:r>
              <a:rPr lang="en-US" sz="1100" b="0" i="0" u="none" strike="noStrike" dirty="0">
                <a:solidFill>
                  <a:srgbClr val="000000"/>
                </a:solidFill>
                <a:effectLst/>
                <a:latin typeface="Montserrat" pitchFamily="2" charset="77"/>
              </a:rPr>
              <a:t> </a:t>
            </a:r>
          </a:p>
          <a:p>
            <a:pPr marL="742950" lvl="1" indent="-285750" rtl="0" fontAlgn="base">
              <a:spcBef>
                <a:spcPts val="0"/>
              </a:spcBef>
              <a:spcAft>
                <a:spcPts val="0"/>
              </a:spcAft>
              <a:buFont typeface="Arial" panose="020B0604020202020204" pitchFamily="34" charset="0"/>
              <a:buChar char="•"/>
            </a:pPr>
            <a:endParaRPr lang="en-US" sz="1100" b="0" i="0" u="none" strike="noStrike" dirty="0">
              <a:solidFill>
                <a:srgbClr val="000000"/>
              </a:solidFill>
              <a:effectLst/>
              <a:latin typeface="Montserrat" pitchFamily="2" charset="77"/>
            </a:endParaRPr>
          </a:p>
          <a:p>
            <a:pPr marL="457200" lvl="0" indent="0" rtl="0" fontAlgn="base">
              <a:spcBef>
                <a:spcPts val="0"/>
              </a:spcBef>
              <a:spcAft>
                <a:spcPts val="0"/>
              </a:spcAft>
              <a:buFont typeface="Arial" panose="020B0604020202020204" pitchFamily="34" charset="0"/>
              <a:buNone/>
            </a:pPr>
            <a:endParaRPr lang="en-US" sz="1100" b="0" i="0" u="none" strike="noStrike" dirty="0">
              <a:solidFill>
                <a:srgbClr val="000000"/>
              </a:solidFill>
              <a:effectLst/>
              <a:latin typeface="Montserrat" pitchFamily="2" charset="77"/>
            </a:endParaRPr>
          </a:p>
          <a:p>
            <a:br>
              <a:rPr lang="en-US" b="0" dirty="0">
                <a:effectLst/>
              </a:rPr>
            </a:br>
            <a:endParaRPr lang="en-US" sz="1100" b="0" i="0" u="none" strike="noStrike" dirty="0">
              <a:solidFill>
                <a:srgbClr val="000000"/>
              </a:solidFill>
              <a:effectLst/>
              <a:latin typeface="Montserrat" pitchFamily="2" charset="77"/>
            </a:endParaRPr>
          </a:p>
          <a:p>
            <a:pPr rtl="0" fontAlgn="base">
              <a:spcBef>
                <a:spcPts val="0"/>
              </a:spcBef>
              <a:spcAft>
                <a:spcPts val="0"/>
              </a:spcAft>
              <a:buFont typeface="Arial" panose="020B0604020202020204" pitchFamily="34" charset="0"/>
              <a:buChar char="•"/>
            </a:pPr>
            <a:endParaRPr lang="en-US" sz="1800" b="0" i="0" u="none" strike="noStrike" dirty="0">
              <a:solidFill>
                <a:srgbClr val="000000"/>
              </a:solidFill>
              <a:effectLst/>
              <a:latin typeface="Montserrat" pitchFamily="2" charset="77"/>
            </a:endParaRPr>
          </a:p>
          <a:p>
            <a:pPr marL="0" marR="0" lvl="0" indent="0" defTabSz="914400" eaLnBrk="1" fontAlgn="auto" latinLnBrk="0" hangingPunct="1">
              <a:lnSpc>
                <a:spcPct val="100000"/>
              </a:lnSpc>
              <a:spcBef>
                <a:spcPts val="0"/>
              </a:spcBef>
              <a:spcAft>
                <a:spcPts val="0"/>
              </a:spcAft>
              <a:buClrTx/>
              <a:buSzTx/>
              <a:buFontTx/>
              <a:buNone/>
              <a:tabLst/>
              <a:defRP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01132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E86DF-99F2-E451-E57C-EB2CBEFE7F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601FD-1B09-5418-B240-5FE41DC7CB7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A64E7E2-BC56-CB5A-5D14-DF34DDF7633B}"/>
              </a:ext>
            </a:extLst>
          </p:cNvPr>
          <p:cNvSpPr>
            <a:spLocks noGrp="1"/>
          </p:cNvSpPr>
          <p:nvPr>
            <p:ph type="body" idx="1"/>
          </p:nvPr>
        </p:nvSpPr>
        <p:spPr/>
        <p:txBody>
          <a:bodyPr/>
          <a:lstStyle/>
          <a:p>
            <a:pPr rtl="0">
              <a:spcBef>
                <a:spcPts val="0"/>
              </a:spcBef>
              <a:spcAft>
                <a:spcPts val="0"/>
              </a:spcAft>
            </a:pPr>
            <a:r>
              <a:rPr lang="en-US" sz="1100" b="1" i="0" u="none" strike="noStrike" dirty="0">
                <a:solidFill>
                  <a:srgbClr val="000000"/>
                </a:solidFill>
                <a:effectLst/>
                <a:latin typeface="Montserrat" pitchFamily="2" charset="77"/>
              </a:rPr>
              <a:t>The Two Sides of Growth - Slides</a:t>
            </a:r>
            <a:endParaRPr lang="en-US" b="0" dirty="0">
              <a:effectLst/>
            </a:endParaRP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This is to teach you to evolve your understanding of your superpowers &amp; kryptonite in a conscious way for more superpowered growth.</a:t>
            </a: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Walk through the worksheet as it relates to their leadership</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Use my example </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Have people keep their one-sheets in front of them </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And fill out the page based on what they wrote on the index cards</a:t>
            </a: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Get examples from the group from both columns</a:t>
            </a:r>
          </a:p>
          <a:p>
            <a:pPr rtl="0">
              <a:spcBef>
                <a:spcPts val="0"/>
              </a:spcBef>
              <a:spcAft>
                <a:spcPts val="0"/>
              </a:spcAft>
            </a:pPr>
            <a:br>
              <a:rPr lang="en-US" b="0" dirty="0">
                <a:effectLst/>
              </a:rPr>
            </a:br>
            <a:r>
              <a:rPr lang="en-US" sz="1100" b="1" i="0" u="none" strike="noStrike" dirty="0">
                <a:solidFill>
                  <a:srgbClr val="000000"/>
                </a:solidFill>
                <a:effectLst/>
                <a:latin typeface="Montserrat" pitchFamily="2" charset="77"/>
              </a:rPr>
              <a:t>Breakout Exercise</a:t>
            </a:r>
            <a:endParaRPr lang="en-US" b="0" dirty="0">
              <a:effectLst/>
            </a:endParaRP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Share your answers with one another </a:t>
            </a: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See if there is any way you can support one another or come up with cross-functional PFPs </a:t>
            </a:r>
          </a:p>
          <a:p>
            <a:pPr rtl="0">
              <a:spcBef>
                <a:spcPts val="0"/>
              </a:spcBef>
              <a:spcAft>
                <a:spcPts val="0"/>
              </a:spcAft>
            </a:pPr>
            <a:br>
              <a:rPr lang="en-US" b="0" dirty="0">
                <a:effectLst/>
              </a:rPr>
            </a:br>
            <a:r>
              <a:rPr lang="en-US" sz="1100" b="1" i="0" u="none" strike="noStrike" dirty="0">
                <a:solidFill>
                  <a:srgbClr val="000000"/>
                </a:solidFill>
                <a:effectLst/>
                <a:latin typeface="Montserrat" pitchFamily="2" charset="77"/>
              </a:rPr>
              <a:t>Debrief</a:t>
            </a:r>
            <a:endParaRPr lang="en-US" b="0" dirty="0">
              <a:effectLst/>
            </a:endParaRP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Have each group share their takeaways and how they are going to support one another</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Ask what they need from leadership </a:t>
            </a:r>
          </a:p>
          <a:p>
            <a:endParaRPr lang="en-US" dirty="0"/>
          </a:p>
        </p:txBody>
      </p:sp>
    </p:spTree>
    <p:extLst>
      <p:ext uri="{BB962C8B-B14F-4D97-AF65-F5344CB8AC3E}">
        <p14:creationId xmlns:p14="http://schemas.microsoft.com/office/powerpoint/2010/main" val="40690742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E86DF-99F2-E451-E57C-EB2CBEFE7F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601FD-1B09-5418-B240-5FE41DC7CB7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A64E7E2-BC56-CB5A-5D14-DF34DDF7633B}"/>
              </a:ext>
            </a:extLst>
          </p:cNvPr>
          <p:cNvSpPr>
            <a:spLocks noGrp="1"/>
          </p:cNvSpPr>
          <p:nvPr>
            <p:ph type="body" idx="1"/>
          </p:nvPr>
        </p:nvSpPr>
        <p:spPr/>
        <p:txBody>
          <a:bodyPr/>
          <a:lstStyle/>
          <a:p>
            <a:pPr rtl="0">
              <a:spcBef>
                <a:spcPts val="0"/>
              </a:spcBef>
              <a:spcAft>
                <a:spcPts val="0"/>
              </a:spcAft>
            </a:pPr>
            <a:r>
              <a:rPr lang="en-US" sz="1100" b="1" i="0" u="none" strike="noStrike" dirty="0">
                <a:solidFill>
                  <a:srgbClr val="000000"/>
                </a:solidFill>
                <a:effectLst/>
                <a:latin typeface="Montserrat" pitchFamily="2" charset="77"/>
              </a:rPr>
              <a:t>The Two Sides of Growth - Slides</a:t>
            </a:r>
            <a:endParaRPr lang="en-US" b="0" dirty="0">
              <a:effectLst/>
            </a:endParaRP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This is to teach you to evolve your understanding of your superpowers &amp; kryptonite in a conscious way for more superpowered growth.</a:t>
            </a: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Walk through the worksheet as it relates to their leadership</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Use my example </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Have people keep their one-sheets in front of them </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And fill out the page based on what they wrote on the index cards</a:t>
            </a: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Get examples from the group from both columns</a:t>
            </a:r>
          </a:p>
          <a:p>
            <a:pPr rtl="0">
              <a:spcBef>
                <a:spcPts val="0"/>
              </a:spcBef>
              <a:spcAft>
                <a:spcPts val="0"/>
              </a:spcAft>
            </a:pPr>
            <a:br>
              <a:rPr lang="en-US" b="0" dirty="0">
                <a:effectLst/>
              </a:rPr>
            </a:br>
            <a:r>
              <a:rPr lang="en-US" sz="1100" b="1" i="0" u="none" strike="noStrike" dirty="0">
                <a:solidFill>
                  <a:srgbClr val="000000"/>
                </a:solidFill>
                <a:effectLst/>
                <a:latin typeface="Montserrat" pitchFamily="2" charset="77"/>
              </a:rPr>
              <a:t>Breakout Exercise</a:t>
            </a:r>
            <a:endParaRPr lang="en-US" b="0" dirty="0">
              <a:effectLst/>
            </a:endParaRP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Share your answers with one another </a:t>
            </a: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See if there is any way you can support one another or come up with cross-functional PFPs </a:t>
            </a:r>
          </a:p>
          <a:p>
            <a:pPr rtl="0">
              <a:spcBef>
                <a:spcPts val="0"/>
              </a:spcBef>
              <a:spcAft>
                <a:spcPts val="0"/>
              </a:spcAft>
            </a:pPr>
            <a:br>
              <a:rPr lang="en-US" b="0" dirty="0">
                <a:effectLst/>
              </a:rPr>
            </a:br>
            <a:r>
              <a:rPr lang="en-US" sz="1100" b="1" i="0" u="none" strike="noStrike" dirty="0">
                <a:solidFill>
                  <a:srgbClr val="000000"/>
                </a:solidFill>
                <a:effectLst/>
                <a:latin typeface="Montserrat" pitchFamily="2" charset="77"/>
              </a:rPr>
              <a:t>Debrief</a:t>
            </a:r>
            <a:endParaRPr lang="en-US" b="0" dirty="0">
              <a:effectLst/>
            </a:endParaRP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Have each group share their takeaways and how they are going to support one another</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Ask what they need from leadership </a:t>
            </a:r>
          </a:p>
          <a:p>
            <a:endParaRPr lang="en-US" dirty="0"/>
          </a:p>
        </p:txBody>
      </p:sp>
    </p:spTree>
    <p:extLst>
      <p:ext uri="{BB962C8B-B14F-4D97-AF65-F5344CB8AC3E}">
        <p14:creationId xmlns:p14="http://schemas.microsoft.com/office/powerpoint/2010/main" val="542429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spcBef>
                <a:spcPts val="1200"/>
              </a:spcBef>
              <a:spcAft>
                <a:spcPts val="1200"/>
              </a:spcAft>
            </a:pPr>
            <a:r>
              <a:rPr lang="en-US" sz="1100" b="1" i="0" u="none" strike="noStrike" dirty="0">
                <a:solidFill>
                  <a:srgbClr val="000000"/>
                </a:solidFill>
                <a:effectLst/>
                <a:latin typeface="Montserrat" pitchFamily="2" charset="77"/>
              </a:rPr>
              <a:t>Closing</a:t>
            </a:r>
            <a:endParaRPr lang="en-US" b="0" dirty="0">
              <a:effectLst/>
            </a:endParaRPr>
          </a:p>
          <a:p>
            <a:pPr rtl="0" fontAlgn="base">
              <a:spcBef>
                <a:spcPts val="120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Review the day &amp; PFPs | Takeaways</a:t>
            </a:r>
          </a:p>
          <a:p>
            <a:pPr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Where do you go from here? How will you apply this?</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How will you remember PFPs? </a:t>
            </a:r>
          </a:p>
          <a:p>
            <a:pPr marL="1143000" lvl="2" indent="-22860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Where do you keep them? </a:t>
            </a:r>
          </a:p>
          <a:p>
            <a:pPr marL="742950" lvl="1" indent="-285750" rtl="0" fontAlgn="base">
              <a:spcBef>
                <a:spcPts val="0"/>
              </a:spcBef>
              <a:spcAft>
                <a:spcPts val="0"/>
              </a:spcAft>
              <a:buFont typeface="Arial" panose="020B0604020202020204" pitchFamily="34" charset="0"/>
              <a:buChar char="•"/>
            </a:pPr>
            <a:r>
              <a:rPr lang="en-US" sz="1100" b="0" i="0" u="none" strike="noStrike" dirty="0">
                <a:solidFill>
                  <a:srgbClr val="000000"/>
                </a:solidFill>
                <a:effectLst/>
                <a:latin typeface="Montserrat" pitchFamily="2" charset="77"/>
              </a:rPr>
              <a:t>How will you measure your growth as a leader? </a:t>
            </a:r>
          </a:p>
          <a:p>
            <a:pPr rtl="0" fontAlgn="base">
              <a:spcBef>
                <a:spcPts val="0"/>
              </a:spcBef>
              <a:spcAft>
                <a:spcPts val="1200"/>
              </a:spcAft>
              <a:buFont typeface="Arial" panose="020B0604020202020204" pitchFamily="34" charset="0"/>
              <a:buChar char="•"/>
            </a:pPr>
            <a:r>
              <a:rPr lang="en-US" sz="1100" b="0" i="0" u="none" strike="noStrike" dirty="0">
                <a:solidFill>
                  <a:srgbClr val="000000"/>
                </a:solidFill>
                <a:effectLst/>
                <a:latin typeface="Montserrat" pitchFamily="2" charset="77"/>
              </a:rPr>
              <a:t>Write your PFP on the bottom of your Activate Your Superpowers worksheet. We’ll review this together at our next workshop.</a:t>
            </a:r>
          </a:p>
          <a:p>
            <a:endParaRPr lang="en-US" dirty="0"/>
          </a:p>
        </p:txBody>
      </p:sp>
    </p:spTree>
    <p:extLst>
      <p:ext uri="{BB962C8B-B14F-4D97-AF65-F5344CB8AC3E}">
        <p14:creationId xmlns:p14="http://schemas.microsoft.com/office/powerpoint/2010/main" val="97280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Bag-o-questions + biggest takeaway or PFP</a:t>
            </a:r>
          </a:p>
          <a:p>
            <a:endParaRPr lang="en-US" dirty="0"/>
          </a:p>
        </p:txBody>
      </p:sp>
    </p:spTree>
    <p:extLst>
      <p:ext uri="{BB962C8B-B14F-4D97-AF65-F5344CB8AC3E}">
        <p14:creationId xmlns:p14="http://schemas.microsoft.com/office/powerpoint/2010/main" val="3465681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13"/>
          </p:nvPr>
        </p:nvSpPr>
        <p:spPr>
          <a:xfrm>
            <a:off x="6172200" y="1681163"/>
            <a:ext cx="5183188" cy="823913"/>
          </a:xfrm>
          <a:prstGeom prst="rect">
            <a:avLst/>
          </a:prstGeom>
        </p:spPr>
        <p:txBody>
          <a:bodyPr anchor="b"/>
          <a:lstStyle/>
          <a:p>
            <a:pPr marL="0" indent="0">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13"/>
          </p:nvPr>
        </p:nvSpPr>
        <p:spPr>
          <a:xfrm>
            <a:off x="839787" y="2057400"/>
            <a:ext cx="3932238" cy="3811588"/>
          </a:xfrm>
          <a:prstGeom prst="rect">
            <a:avLst/>
          </a:prstGeom>
        </p:spPr>
        <p:txBody>
          <a:bodyPr/>
          <a:lstStyle/>
          <a:p>
            <a:pPr marL="0" indent="0">
              <a:buSzTx/>
              <a:buFontTx/>
              <a:buNone/>
              <a:defRPr sz="16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13"/>
          </p:nvPr>
        </p:nvSpPr>
        <p:spPr>
          <a:xfrm>
            <a:off x="5183187" y="987425"/>
            <a:ext cx="6172201" cy="4873625"/>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itle 1"/>
          <p:cNvSpPr txBox="1">
            <a:spLocks noGrp="1"/>
          </p:cNvSpPr>
          <p:nvPr>
            <p:ph type="ctrTitle"/>
          </p:nvPr>
        </p:nvSpPr>
        <p:spPr>
          <a:xfrm>
            <a:off x="1052511" y="3308124"/>
            <a:ext cx="10468929" cy="1323747"/>
          </a:xfrm>
          <a:prstGeom prst="rect">
            <a:avLst/>
          </a:prstGeom>
        </p:spPr>
        <p:txBody>
          <a:bodyPr>
            <a:normAutofit/>
          </a:bodyPr>
          <a:lstStyle>
            <a:lvl1pPr>
              <a:defRPr sz="6100">
                <a:solidFill>
                  <a:srgbClr val="C00000"/>
                </a:solidFill>
                <a:latin typeface="League Gothic"/>
                <a:ea typeface="League Gothic"/>
                <a:cs typeface="League Gothic"/>
                <a:sym typeface="League Gothic"/>
              </a:defRPr>
            </a:lvl1pPr>
          </a:lstStyle>
          <a:p>
            <a:r>
              <a:rPr sz="4500" dirty="0">
                <a:solidFill>
                  <a:srgbClr val="722B90"/>
                </a:solidFill>
                <a:latin typeface="Brittany Signature" pitchFamily="2" charset="0"/>
              </a:rPr>
              <a:t>Shine From Your Original Design</a:t>
            </a:r>
            <a:endParaRPr sz="2000" dirty="0">
              <a:solidFill>
                <a:srgbClr val="722B90"/>
              </a:solidFill>
              <a:latin typeface="Brittany Signature" pitchFamily="2" charset="0"/>
            </a:endParaRPr>
          </a:p>
        </p:txBody>
      </p:sp>
      <p:pic>
        <p:nvPicPr>
          <p:cNvPr id="3" name="Picture 2" descr="Text  Description automatically generated">
            <a:extLst>
              <a:ext uri="{FF2B5EF4-FFF2-40B4-BE49-F238E27FC236}">
                <a16:creationId xmlns:a16="http://schemas.microsoft.com/office/drawing/2014/main" id="{A6DFF7D9-8381-2F44-8F04-9458A3B6C7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8975" y="1090837"/>
            <a:ext cx="7834045" cy="1936750"/>
          </a:xfrm>
          <a:prstGeom prst="rect">
            <a:avLst/>
          </a:prstGeom>
        </p:spPr>
      </p:pic>
      <p:sp>
        <p:nvSpPr>
          <p:cNvPr id="7" name="Footer Placeholder 14">
            <a:extLst>
              <a:ext uri="{FF2B5EF4-FFF2-40B4-BE49-F238E27FC236}">
                <a16:creationId xmlns:a16="http://schemas.microsoft.com/office/drawing/2014/main" id="{51C103C1-BA3D-4F22-AEF3-F028D1324604}"/>
              </a:ext>
            </a:extLst>
          </p:cNvPr>
          <p:cNvSpPr txBox="1">
            <a:spLocks/>
          </p:cNvSpPr>
          <p:nvPr/>
        </p:nvSpPr>
        <p:spPr>
          <a:xfrm>
            <a:off x="4464966" y="6598843"/>
            <a:ext cx="3634049" cy="217015"/>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pPr algn="ctr"/>
            <a:r>
              <a:rPr lang="en-US" sz="882">
                <a:solidFill>
                  <a:schemeClr val="tx1"/>
                </a:solidFill>
                <a:latin typeface="Montserrat ExtraLight" pitchFamily="2" charset="77"/>
              </a:rPr>
              <a:t>©2022 </a:t>
            </a:r>
            <a:r>
              <a:rPr lang="en-US" sz="882" dirty="0" err="1">
                <a:solidFill>
                  <a:schemeClr val="tx1"/>
                </a:solidFill>
                <a:latin typeface="Montserrat ExtraLight" pitchFamily="2" charset="77"/>
              </a:rPr>
              <a:t>Parillume</a:t>
            </a:r>
            <a:r>
              <a:rPr lang="en-US" sz="882" dirty="0">
                <a:solidFill>
                  <a:schemeClr val="tx1"/>
                </a:solidFill>
                <a:latin typeface="Montserrat ExtraLight" pitchFamily="2" charset="77"/>
              </a:rPr>
              <a:t> All rights reserved</a:t>
            </a:r>
          </a:p>
        </p:txBody>
      </p:sp>
      <p:sp>
        <p:nvSpPr>
          <p:cNvPr id="2" name="TextBox 1">
            <a:extLst>
              <a:ext uri="{FF2B5EF4-FFF2-40B4-BE49-F238E27FC236}">
                <a16:creationId xmlns:a16="http://schemas.microsoft.com/office/drawing/2014/main" id="{ED06776A-DA9F-634B-BB60-63F279AA2691}"/>
              </a:ext>
            </a:extLst>
          </p:cNvPr>
          <p:cNvSpPr txBox="1"/>
          <p:nvPr/>
        </p:nvSpPr>
        <p:spPr>
          <a:xfrm>
            <a:off x="10075025" y="3906982"/>
            <a:ext cx="332509"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800" dirty="0">
                <a:solidFill>
                  <a:srgbClr val="722B90"/>
                </a:solidFill>
                <a:latin typeface="Brittany Signature" pitchFamily="2" charset="0"/>
              </a:rPr>
              <a:t>®</a:t>
            </a:r>
            <a:endParaRPr kumimoji="0" lang="en-US" sz="1800" b="0" i="0" u="none" strike="noStrike" cap="none" spc="0" normalizeH="0" baseline="0" dirty="0">
              <a:ln>
                <a:noFill/>
              </a:ln>
              <a:solidFill>
                <a:srgbClr val="000000"/>
              </a:solidFill>
              <a:effectLst/>
              <a:uFillTx/>
              <a:latin typeface="+mj-lt"/>
              <a:ea typeface="+mj-ea"/>
              <a:cs typeface="+mj-cs"/>
              <a:sym typeface="Calibri"/>
            </a:endParaRPr>
          </a:p>
        </p:txBody>
      </p:sp>
      <p:sp>
        <p:nvSpPr>
          <p:cNvPr id="8" name="TextBox 7">
            <a:extLst>
              <a:ext uri="{FF2B5EF4-FFF2-40B4-BE49-F238E27FC236}">
                <a16:creationId xmlns:a16="http://schemas.microsoft.com/office/drawing/2014/main" id="{A9E85235-2F72-7A88-F9D4-23B17A1CCDB6}"/>
              </a:ext>
            </a:extLst>
          </p:cNvPr>
          <p:cNvSpPr txBox="1"/>
          <p:nvPr/>
        </p:nvSpPr>
        <p:spPr>
          <a:xfrm>
            <a:off x="9772129" y="2285815"/>
            <a:ext cx="302896" cy="36933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1" i="0" u="none" strike="noStrike" cap="none" spc="0" normalizeH="0" baseline="0">
                <a:ln>
                  <a:noFill/>
                </a:ln>
                <a:solidFill>
                  <a:srgbClr val="000000"/>
                </a:solidFill>
                <a:effectLst/>
                <a:uFillTx/>
                <a:latin typeface="Montserrat" pitchFamily="2" charset="0"/>
                <a:cs typeface="Mongolian Baiti" panose="03000500000000000000" pitchFamily="66" charset="0"/>
                <a:sym typeface="Calibri"/>
              </a:rPr>
              <a:t>®</a:t>
            </a:r>
          </a:p>
        </p:txBody>
      </p:sp>
      <p:sp>
        <p:nvSpPr>
          <p:cNvPr id="4" name="TextBox 4"/>
          <p:cNvSpPr txBox="1"/>
          <p:nvPr/>
        </p:nvSpPr>
        <p:spPr>
          <a:xfrm>
            <a:off x="0" y="5080000"/>
            <a:ext cx="12192000" cy="1270000"/>
          </a:xfrm>
          <a:prstGeom prst="rect">
            <a:avLst/>
          </a:prstGeom>
        </p:spPr>
        <p:txBody>
          <a:bodyPr rtlCol="0" anchor="t"/>
          <a:lstStyle/>
          <a:p>
            <a:pPr algn="l">
              <a:defRPr/>
            </a:pPr>
            <a:endParaRPr lang="en-US" sz="1100"/>
          </a:p>
          <a:p>
            <a:pPr algn="ctr"/>
            <a:r>
              <a:rPr lang="en-US" sz="3000">
                <a:solidFill>
                  <a:srgbClr val="000000"/>
                </a:solidFill>
                <a:latin typeface="Montserrat"/>
              </a:rPr>
              <a:t>TEAMNAME TEAMNAME</a:t>
            </a:r>
            <a:r>
              <a:rPr lang="en-US" sz="2400">
                <a:solidFill>
                  <a:srgbClr val="000000"/>
                </a:solidFill>
                <a:latin typeface="Montserrat"/>
              </a:rPr>
              <a:t>
01.23.2024</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30ADB04-998E-8947-8DAA-E87799BC31A5}"/>
              </a:ext>
            </a:extLst>
          </p:cNvPr>
          <p:cNvGrpSpPr/>
          <p:nvPr/>
        </p:nvGrpSpPr>
        <p:grpSpPr>
          <a:xfrm>
            <a:off x="158930" y="192073"/>
            <a:ext cx="11874139" cy="6473853"/>
            <a:chOff x="144845" y="121863"/>
            <a:chExt cx="11874139" cy="6473853"/>
          </a:xfrm>
        </p:grpSpPr>
        <p:pic>
          <p:nvPicPr>
            <p:cNvPr id="149" name="Picture 148">
              <a:extLst>
                <a:ext uri="{FF2B5EF4-FFF2-40B4-BE49-F238E27FC236}">
                  <a16:creationId xmlns:a16="http://schemas.microsoft.com/office/drawing/2014/main" id="{AB40BAB7-6C4C-A9E6-4DF2-D6DD18AB93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9843" y="148975"/>
              <a:ext cx="2457657" cy="608872"/>
            </a:xfrm>
            <a:prstGeom prst="rect">
              <a:avLst/>
            </a:prstGeom>
          </p:spPr>
        </p:pic>
        <p:grpSp>
          <p:nvGrpSpPr>
            <p:cNvPr id="117" name="Group 116">
              <a:extLst>
                <a:ext uri="{FF2B5EF4-FFF2-40B4-BE49-F238E27FC236}">
                  <a16:creationId xmlns:a16="http://schemas.microsoft.com/office/drawing/2014/main" id="{EACFDB24-152E-BFA7-41DF-BCA410AF0A89}"/>
                </a:ext>
              </a:extLst>
            </p:cNvPr>
            <p:cNvGrpSpPr/>
            <p:nvPr/>
          </p:nvGrpSpPr>
          <p:grpSpPr>
            <a:xfrm>
              <a:off x="144845" y="781292"/>
              <a:ext cx="2953552" cy="523220"/>
              <a:chOff x="192470" y="781292"/>
              <a:chExt cx="2953552" cy="523220"/>
            </a:xfrm>
          </p:grpSpPr>
          <p:sp>
            <p:nvSpPr>
              <p:cNvPr id="151" name="TextBox 150">
                <a:extLst>
                  <a:ext uri="{FF2B5EF4-FFF2-40B4-BE49-F238E27FC236}">
                    <a16:creationId xmlns:a16="http://schemas.microsoft.com/office/drawing/2014/main" id="{B4CA4D0D-FB5B-20C7-E0CE-5AA4AD95F820}"/>
                  </a:ext>
                </a:extLst>
              </p:cNvPr>
              <p:cNvSpPr txBox="1"/>
              <p:nvPr/>
            </p:nvSpPr>
            <p:spPr>
              <a:xfrm>
                <a:off x="192470" y="781292"/>
                <a:ext cx="2953552" cy="523220"/>
              </a:xfrm>
              <a:prstGeom prst="rect">
                <a:avLst/>
              </a:prstGeom>
              <a:noFill/>
            </p:spPr>
            <p:txBody>
              <a:bodyPr wrap="square" rtlCol="0">
                <a:spAutoFit/>
              </a:bodyPr>
              <a:lstStyle/>
              <a:p>
                <a:pPr algn="ctr"/>
                <a:r>
                  <a:rPr lang="en-US" sz="1400" b="1" dirty="0">
                    <a:solidFill>
                      <a:schemeClr val="bg1">
                        <a:lumMod val="50000"/>
                      </a:schemeClr>
                    </a:solidFill>
                    <a:latin typeface="Montserrat" panose="00000500000000000000" pitchFamily="2" charset="0"/>
                  </a:rPr>
                  <a:t>The Shine From Your</a:t>
                </a:r>
              </a:p>
              <a:p>
                <a:pPr algn="ctr"/>
                <a:r>
                  <a:rPr lang="en-US" sz="1400" b="1" dirty="0">
                    <a:solidFill>
                      <a:schemeClr val="bg1">
                        <a:lumMod val="50000"/>
                      </a:schemeClr>
                    </a:solidFill>
                    <a:latin typeface="Montserrat" panose="00000500000000000000" pitchFamily="2" charset="0"/>
                  </a:rPr>
                  <a:t>Original Design   Experience  </a:t>
                </a:r>
              </a:p>
            </p:txBody>
          </p:sp>
          <p:sp>
            <p:nvSpPr>
              <p:cNvPr id="152" name="TextBox 151">
                <a:extLst>
                  <a:ext uri="{FF2B5EF4-FFF2-40B4-BE49-F238E27FC236}">
                    <a16:creationId xmlns:a16="http://schemas.microsoft.com/office/drawing/2014/main" id="{0FC3A1BA-71F8-F1E5-895D-3042EDA75966}"/>
                  </a:ext>
                </a:extLst>
              </p:cNvPr>
              <p:cNvSpPr txBox="1"/>
              <p:nvPr/>
            </p:nvSpPr>
            <p:spPr>
              <a:xfrm>
                <a:off x="1687534" y="1030497"/>
                <a:ext cx="312596" cy="200055"/>
              </a:xfrm>
              <a:prstGeom prst="rect">
                <a:avLst/>
              </a:prstGeom>
              <a:noFill/>
            </p:spPr>
            <p:txBody>
              <a:bodyPr wrap="square" rtlCol="0">
                <a:spAutoFit/>
              </a:bodyPr>
              <a:lstStyle/>
              <a:p>
                <a:pPr algn="ctr"/>
                <a:r>
                  <a:rPr lang="en-US" sz="700" b="1" dirty="0">
                    <a:solidFill>
                      <a:schemeClr val="bg1">
                        <a:lumMod val="50000"/>
                      </a:schemeClr>
                    </a:solidFill>
                    <a:latin typeface="Montserrat" panose="00000500000000000000" pitchFamily="2" charset="0"/>
                  </a:rPr>
                  <a:t>®</a:t>
                </a:r>
              </a:p>
            </p:txBody>
          </p:sp>
        </p:grpSp>
        <p:grpSp>
          <p:nvGrpSpPr>
            <p:cNvPr id="8" name="Group 7">
              <a:extLst>
                <a:ext uri="{FF2B5EF4-FFF2-40B4-BE49-F238E27FC236}">
                  <a16:creationId xmlns:a16="http://schemas.microsoft.com/office/drawing/2014/main" id="{249465FB-7EAC-1992-B3A2-2E65DB24C74F}"/>
                </a:ext>
              </a:extLst>
            </p:cNvPr>
            <p:cNvGrpSpPr/>
            <p:nvPr/>
          </p:nvGrpSpPr>
          <p:grpSpPr>
            <a:xfrm>
              <a:off x="9155368" y="121863"/>
              <a:ext cx="2863616" cy="1517904"/>
              <a:chOff x="7635203" y="75567"/>
              <a:chExt cx="2863616" cy="1517904"/>
            </a:xfrm>
          </p:grpSpPr>
          <p:sp>
            <p:nvSpPr>
              <p:cNvPr id="150" name="TextBox 149">
                <a:extLst>
                  <a:ext uri="{FF2B5EF4-FFF2-40B4-BE49-F238E27FC236}">
                    <a16:creationId xmlns:a16="http://schemas.microsoft.com/office/drawing/2014/main" id="{827A9DC4-7E61-1D96-3D47-11FABD44A332}"/>
                  </a:ext>
                </a:extLst>
              </p:cNvPr>
              <p:cNvSpPr txBox="1"/>
              <p:nvPr/>
            </p:nvSpPr>
            <p:spPr>
              <a:xfrm>
                <a:off x="7635203" y="392956"/>
                <a:ext cx="2863616" cy="861774"/>
              </a:xfrm>
              <a:prstGeom prst="rect">
                <a:avLst/>
              </a:prstGeom>
              <a:noFill/>
            </p:spPr>
            <p:txBody>
              <a:bodyPr wrap="square" rtlCol="0">
                <a:spAutoFit/>
              </a:bodyPr>
              <a:lstStyle/>
              <a:p>
                <a:pPr algn="ctr"/>
                <a:r>
                  <a:rPr lang="en-US" sz="1000" dirty="0">
                    <a:latin typeface="Montserrat" panose="00000500000000000000" pitchFamily="2" charset="0"/>
                  </a:rPr>
                  <a:t>Our proven, fully-integrated</a:t>
                </a:r>
              </a:p>
              <a:p>
                <a:pPr algn="ctr"/>
                <a:r>
                  <a:rPr lang="en-US" sz="1000" dirty="0">
                    <a:latin typeface="Montserrat" panose="00000500000000000000" pitchFamily="2" charset="0"/>
                  </a:rPr>
                  <a:t>people-development system</a:t>
                </a:r>
              </a:p>
              <a:p>
                <a:pPr algn="ctr"/>
                <a:r>
                  <a:rPr lang="en-US" sz="1000" dirty="0">
                    <a:latin typeface="Montserrat" panose="00000500000000000000" pitchFamily="2" charset="0"/>
                  </a:rPr>
                  <a:t>leverages your team’s unique</a:t>
                </a:r>
              </a:p>
              <a:p>
                <a:pPr algn="ctr"/>
                <a:r>
                  <a:rPr lang="en-US" sz="1000" dirty="0">
                    <a:latin typeface="Montserrat" panose="00000500000000000000" pitchFamily="2" charset="0"/>
                  </a:rPr>
                  <a:t>strengths, personalities, and perspectives</a:t>
                </a:r>
              </a:p>
              <a:p>
                <a:pPr algn="ctr"/>
                <a:r>
                  <a:rPr lang="en-US" sz="1000" dirty="0">
                    <a:latin typeface="Montserrat" panose="00000500000000000000" pitchFamily="2" charset="0"/>
                  </a:rPr>
                  <a:t>for superpowered growth.</a:t>
                </a:r>
              </a:p>
            </p:txBody>
          </p:sp>
          <p:pic>
            <p:nvPicPr>
              <p:cNvPr id="159" name="Picture 158" descr="A picture containing logo  Description automatically generated">
                <a:extLst>
                  <a:ext uri="{FF2B5EF4-FFF2-40B4-BE49-F238E27FC236}">
                    <a16:creationId xmlns:a16="http://schemas.microsoft.com/office/drawing/2014/main" id="{22AFACBC-7BBB-4498-8EA4-052837295397}"/>
                  </a:ext>
                </a:extLst>
              </p:cNvPr>
              <p:cNvPicPr>
                <a:picLocks/>
              </p:cNvPicPr>
              <p:nvPr/>
            </p:nvPicPr>
            <p:blipFill>
              <a:blip r:embed="rId4">
                <a:alphaModFix amt="25000"/>
                <a:extLst>
                  <a:ext uri="{28A0092B-C50C-407E-A947-70E740481C1C}">
                    <a14:useLocalDpi xmlns:a14="http://schemas.microsoft.com/office/drawing/2010/main" val="0"/>
                  </a:ext>
                </a:extLst>
              </a:blip>
              <a:stretch>
                <a:fillRect/>
              </a:stretch>
            </p:blipFill>
            <p:spPr>
              <a:xfrm>
                <a:off x="8309858" y="75567"/>
                <a:ext cx="1517904" cy="1517904"/>
              </a:xfrm>
              <a:prstGeom prst="rect">
                <a:avLst/>
              </a:prstGeom>
            </p:spPr>
          </p:pic>
        </p:grpSp>
        <p:grpSp>
          <p:nvGrpSpPr>
            <p:cNvPr id="5" name="Group 4">
              <a:extLst>
                <a:ext uri="{FF2B5EF4-FFF2-40B4-BE49-F238E27FC236}">
                  <a16:creationId xmlns:a16="http://schemas.microsoft.com/office/drawing/2014/main" id="{3E81612E-4D5E-C38C-218B-A1DB2907F6CC}"/>
                </a:ext>
              </a:extLst>
            </p:cNvPr>
            <p:cNvGrpSpPr/>
            <p:nvPr/>
          </p:nvGrpSpPr>
          <p:grpSpPr>
            <a:xfrm>
              <a:off x="3291944" y="934360"/>
              <a:ext cx="5547256" cy="5661356"/>
              <a:chOff x="3291944" y="1190625"/>
              <a:chExt cx="5547256" cy="5661356"/>
            </a:xfrm>
          </p:grpSpPr>
          <p:grpSp>
            <p:nvGrpSpPr>
              <p:cNvPr id="124" name="Group 123">
                <a:extLst>
                  <a:ext uri="{FF2B5EF4-FFF2-40B4-BE49-F238E27FC236}">
                    <a16:creationId xmlns:a16="http://schemas.microsoft.com/office/drawing/2014/main" id="{6D4EF3C6-3ECB-4007-2AC8-2C97FC148EB8}"/>
                  </a:ext>
                </a:extLst>
              </p:cNvPr>
              <p:cNvGrpSpPr/>
              <p:nvPr/>
            </p:nvGrpSpPr>
            <p:grpSpPr>
              <a:xfrm>
                <a:off x="3291944" y="1190625"/>
                <a:ext cx="5547256" cy="5486400"/>
                <a:chOff x="3291944" y="1152525"/>
                <a:chExt cx="5547256" cy="5486400"/>
              </a:xfrm>
            </p:grpSpPr>
            <p:sp>
              <p:nvSpPr>
                <p:cNvPr id="3" name="Oval 2">
                  <a:extLst>
                    <a:ext uri="{FF2B5EF4-FFF2-40B4-BE49-F238E27FC236}">
                      <a16:creationId xmlns:a16="http://schemas.microsoft.com/office/drawing/2014/main" id="{E4746B6D-E491-C99F-44BC-792F18884386}"/>
                    </a:ext>
                  </a:extLst>
                </p:cNvPr>
                <p:cNvSpPr/>
                <p:nvPr/>
              </p:nvSpPr>
              <p:spPr>
                <a:xfrm>
                  <a:off x="3352800" y="1152525"/>
                  <a:ext cx="5486400" cy="5486400"/>
                </a:xfrm>
                <a:prstGeom prst="ellipse">
                  <a:avLst/>
                </a:prstGeom>
                <a:solidFill>
                  <a:srgbClr val="722B9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grpSp>
              <p:nvGrpSpPr>
                <p:cNvPr id="123" name="Group 122">
                  <a:extLst>
                    <a:ext uri="{FF2B5EF4-FFF2-40B4-BE49-F238E27FC236}">
                      <a16:creationId xmlns:a16="http://schemas.microsoft.com/office/drawing/2014/main" id="{805C6544-95E7-267D-4BEC-4E085748B04C}"/>
                    </a:ext>
                  </a:extLst>
                </p:cNvPr>
                <p:cNvGrpSpPr/>
                <p:nvPr/>
              </p:nvGrpSpPr>
              <p:grpSpPr>
                <a:xfrm>
                  <a:off x="7130426" y="1904370"/>
                  <a:ext cx="1128988" cy="1097280"/>
                  <a:chOff x="7130426" y="1904370"/>
                  <a:chExt cx="1128988" cy="1097280"/>
                </a:xfrm>
              </p:grpSpPr>
              <p:cxnSp>
                <p:nvCxnSpPr>
                  <p:cNvPr id="86" name="Straight Connector 85">
                    <a:extLst>
                      <a:ext uri="{FF2B5EF4-FFF2-40B4-BE49-F238E27FC236}">
                        <a16:creationId xmlns:a16="http://schemas.microsoft.com/office/drawing/2014/main" id="{DCA6722F-9CCC-7392-F194-B1C87D00253C}"/>
                      </a:ext>
                    </a:extLst>
                  </p:cNvPr>
                  <p:cNvCxnSpPr>
                    <a:cxnSpLocks/>
                  </p:cNvCxnSpPr>
                  <p:nvPr/>
                </p:nvCxnSpPr>
                <p:spPr>
                  <a:xfrm rot="16836337" flipH="1">
                    <a:off x="7679066" y="2304014"/>
                    <a:ext cx="0" cy="1097280"/>
                  </a:xfrm>
                  <a:prstGeom prst="line">
                    <a:avLst/>
                  </a:prstGeom>
                  <a:ln w="1016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3648825F-7CAB-69D6-702D-33B5A24E4D83}"/>
                      </a:ext>
                    </a:extLst>
                  </p:cNvPr>
                  <p:cNvCxnSpPr>
                    <a:cxnSpLocks/>
                  </p:cNvCxnSpPr>
                  <p:nvPr/>
                </p:nvCxnSpPr>
                <p:spPr>
                  <a:xfrm rot="636337" flipH="1">
                    <a:off x="8259414" y="1904370"/>
                    <a:ext cx="0" cy="1097280"/>
                  </a:xfrm>
                  <a:prstGeom prst="line">
                    <a:avLst/>
                  </a:prstGeom>
                  <a:ln w="1016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22" name="Group 121">
                  <a:extLst>
                    <a:ext uri="{FF2B5EF4-FFF2-40B4-BE49-F238E27FC236}">
                      <a16:creationId xmlns:a16="http://schemas.microsoft.com/office/drawing/2014/main" id="{9D4AC89D-D04A-3A72-238A-1360C18177DB}"/>
                    </a:ext>
                  </a:extLst>
                </p:cNvPr>
                <p:cNvGrpSpPr/>
                <p:nvPr/>
              </p:nvGrpSpPr>
              <p:grpSpPr>
                <a:xfrm>
                  <a:off x="3291944" y="2499516"/>
                  <a:ext cx="1156849" cy="1097280"/>
                  <a:chOff x="3291944" y="2499516"/>
                  <a:chExt cx="1156849" cy="1097280"/>
                </a:xfrm>
              </p:grpSpPr>
              <p:cxnSp>
                <p:nvCxnSpPr>
                  <p:cNvPr id="96" name="Straight Connector 95">
                    <a:extLst>
                      <a:ext uri="{FF2B5EF4-FFF2-40B4-BE49-F238E27FC236}">
                        <a16:creationId xmlns:a16="http://schemas.microsoft.com/office/drawing/2014/main" id="{CB58C508-D3E2-0327-0A81-82149ECFDE04}"/>
                      </a:ext>
                    </a:extLst>
                  </p:cNvPr>
                  <p:cNvCxnSpPr>
                    <a:cxnSpLocks/>
                  </p:cNvCxnSpPr>
                  <p:nvPr/>
                </p:nvCxnSpPr>
                <p:spPr>
                  <a:xfrm rot="9929174" flipH="1">
                    <a:off x="4448793" y="2499516"/>
                    <a:ext cx="0" cy="1097280"/>
                  </a:xfrm>
                  <a:prstGeom prst="line">
                    <a:avLst/>
                  </a:prstGeom>
                  <a:ln w="1016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2EE6A-EAAE-3645-9E02-EC6585E517ED}"/>
                      </a:ext>
                    </a:extLst>
                  </p:cNvPr>
                  <p:cNvCxnSpPr>
                    <a:cxnSpLocks/>
                  </p:cNvCxnSpPr>
                  <p:nvPr/>
                </p:nvCxnSpPr>
                <p:spPr>
                  <a:xfrm rot="15329174" flipH="1">
                    <a:off x="3840584" y="2143705"/>
                    <a:ext cx="0" cy="1097280"/>
                  </a:xfrm>
                  <a:prstGeom prst="line">
                    <a:avLst/>
                  </a:prstGeom>
                  <a:ln w="1016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21" name="Group 120">
                  <a:extLst>
                    <a:ext uri="{FF2B5EF4-FFF2-40B4-BE49-F238E27FC236}">
                      <a16:creationId xmlns:a16="http://schemas.microsoft.com/office/drawing/2014/main" id="{AA459B1C-4FE4-8F3C-9B63-E8219E6239A9}"/>
                    </a:ext>
                  </a:extLst>
                </p:cNvPr>
                <p:cNvGrpSpPr/>
                <p:nvPr/>
              </p:nvGrpSpPr>
              <p:grpSpPr>
                <a:xfrm>
                  <a:off x="5709217" y="5209097"/>
                  <a:ext cx="1097280" cy="1252957"/>
                  <a:chOff x="5709217" y="5209097"/>
                  <a:chExt cx="1097280" cy="1252957"/>
                </a:xfrm>
              </p:grpSpPr>
              <p:cxnSp>
                <p:nvCxnSpPr>
                  <p:cNvPr id="93" name="Straight Connector 92">
                    <a:extLst>
                      <a:ext uri="{FF2B5EF4-FFF2-40B4-BE49-F238E27FC236}">
                        <a16:creationId xmlns:a16="http://schemas.microsoft.com/office/drawing/2014/main" id="{C10A15DD-7AA9-0BEB-0810-B8B9B52C355F}"/>
                      </a:ext>
                    </a:extLst>
                  </p:cNvPr>
                  <p:cNvCxnSpPr>
                    <a:cxnSpLocks/>
                  </p:cNvCxnSpPr>
                  <p:nvPr/>
                </p:nvCxnSpPr>
                <p:spPr>
                  <a:xfrm rot="2605168" flipH="1">
                    <a:off x="6236479" y="5209097"/>
                    <a:ext cx="0" cy="1097280"/>
                  </a:xfrm>
                  <a:prstGeom prst="line">
                    <a:avLst/>
                  </a:prstGeom>
                  <a:ln w="1016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39436E9-3479-9BC6-8B51-A5380804A2E5}"/>
                      </a:ext>
                    </a:extLst>
                  </p:cNvPr>
                  <p:cNvCxnSpPr>
                    <a:cxnSpLocks/>
                  </p:cNvCxnSpPr>
                  <p:nvPr/>
                </p:nvCxnSpPr>
                <p:spPr>
                  <a:xfrm rot="8005168" flipH="1">
                    <a:off x="6257857" y="5913414"/>
                    <a:ext cx="0" cy="1097280"/>
                  </a:xfrm>
                  <a:prstGeom prst="line">
                    <a:avLst/>
                  </a:prstGeom>
                  <a:ln w="101600">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4" name="TextBox 3">
                <a:extLst>
                  <a:ext uri="{FF2B5EF4-FFF2-40B4-BE49-F238E27FC236}">
                    <a16:creationId xmlns:a16="http://schemas.microsoft.com/office/drawing/2014/main" id="{3F0BB01B-8898-EA14-B732-CB3E06FF4815}"/>
                  </a:ext>
                </a:extLst>
              </p:cNvPr>
              <p:cNvSpPr txBox="1"/>
              <p:nvPr/>
            </p:nvSpPr>
            <p:spPr>
              <a:xfrm>
                <a:off x="4792141" y="3520369"/>
                <a:ext cx="2907000" cy="830997"/>
              </a:xfrm>
              <a:prstGeom prst="rect">
                <a:avLst/>
              </a:prstGeom>
              <a:noFill/>
            </p:spPr>
            <p:txBody>
              <a:bodyPr wrap="square" rtlCol="0">
                <a:spAutoFit/>
              </a:bodyPr>
              <a:lstStyle/>
              <a:p>
                <a:pPr algn="ctr"/>
                <a:r>
                  <a:rPr lang="en-US" sz="2400" dirty="0">
                    <a:solidFill>
                      <a:schemeClr val="bg1"/>
                    </a:solidFill>
                    <a:latin typeface="Montserrat" pitchFamily="2" charset="77"/>
                  </a:rPr>
                  <a:t>Superpowered Growth</a:t>
                </a:r>
              </a:p>
            </p:txBody>
          </p:sp>
          <p:sp>
            <p:nvSpPr>
              <p:cNvPr id="55" name="TextBox 54">
                <a:extLst>
                  <a:ext uri="{FF2B5EF4-FFF2-40B4-BE49-F238E27FC236}">
                    <a16:creationId xmlns:a16="http://schemas.microsoft.com/office/drawing/2014/main" id="{40AE9A00-E0FE-BDD3-4AEC-138810EC6FBE}"/>
                  </a:ext>
                </a:extLst>
              </p:cNvPr>
              <p:cNvSpPr txBox="1"/>
              <p:nvPr/>
            </p:nvSpPr>
            <p:spPr>
              <a:xfrm>
                <a:off x="4699506" y="1615690"/>
                <a:ext cx="2861973" cy="492443"/>
              </a:xfrm>
              <a:prstGeom prst="rect">
                <a:avLst/>
              </a:prstGeom>
              <a:noFill/>
            </p:spPr>
            <p:txBody>
              <a:bodyPr wrap="square" rtlCol="0">
                <a:spAutoFit/>
              </a:bodyPr>
              <a:lstStyle/>
              <a:p>
                <a:pPr algn="ctr"/>
                <a:r>
                  <a:rPr lang="en-US" sz="1300" b="1" dirty="0">
                    <a:solidFill>
                      <a:schemeClr val="bg1"/>
                    </a:solidFill>
                    <a:latin typeface="Montserrat" pitchFamily="2" charset="77"/>
                  </a:rPr>
                  <a:t>Embrace Superpowers + recognize Kryptonite</a:t>
                </a:r>
              </a:p>
            </p:txBody>
          </p:sp>
          <p:sp>
            <p:nvSpPr>
              <p:cNvPr id="76" name="TextBox 75">
                <a:extLst>
                  <a:ext uri="{FF2B5EF4-FFF2-40B4-BE49-F238E27FC236}">
                    <a16:creationId xmlns:a16="http://schemas.microsoft.com/office/drawing/2014/main" id="{BBDD8760-8235-925B-F947-9F9773ED9FB6}"/>
                  </a:ext>
                </a:extLst>
              </p:cNvPr>
              <p:cNvSpPr txBox="1"/>
              <p:nvPr/>
            </p:nvSpPr>
            <p:spPr>
              <a:xfrm rot="18023156">
                <a:off x="6065355" y="4785348"/>
                <a:ext cx="3640822" cy="492443"/>
              </a:xfrm>
              <a:prstGeom prst="rect">
                <a:avLst/>
              </a:prstGeom>
              <a:noFill/>
            </p:spPr>
            <p:txBody>
              <a:bodyPr wrap="square" rtlCol="0">
                <a:spAutoFit/>
              </a:bodyPr>
              <a:lstStyle/>
              <a:p>
                <a:pPr algn="ctr"/>
                <a:r>
                  <a:rPr lang="en-US" sz="1300" b="1" dirty="0">
                    <a:solidFill>
                      <a:schemeClr val="bg1"/>
                    </a:solidFill>
                    <a:latin typeface="Montserrat" pitchFamily="2" charset="77"/>
                  </a:rPr>
                  <a:t>Harness Superpowers +</a:t>
                </a:r>
              </a:p>
              <a:p>
                <a:pPr algn="ctr"/>
                <a:r>
                  <a:rPr lang="en-US" sz="1300" b="1" dirty="0">
                    <a:solidFill>
                      <a:schemeClr val="bg1"/>
                    </a:solidFill>
                    <a:latin typeface="Montserrat" pitchFamily="2" charset="77"/>
                  </a:rPr>
                  <a:t>hack Kryptonite </a:t>
                </a:r>
              </a:p>
            </p:txBody>
          </p:sp>
          <p:sp>
            <p:nvSpPr>
              <p:cNvPr id="79" name="TextBox 78">
                <a:extLst>
                  <a:ext uri="{FF2B5EF4-FFF2-40B4-BE49-F238E27FC236}">
                    <a16:creationId xmlns:a16="http://schemas.microsoft.com/office/drawing/2014/main" id="{53AE9E89-48C5-D1DB-2E49-F67EF7C361BB}"/>
                  </a:ext>
                </a:extLst>
              </p:cNvPr>
              <p:cNvSpPr txBox="1"/>
              <p:nvPr/>
            </p:nvSpPr>
            <p:spPr>
              <a:xfrm rot="3600000">
                <a:off x="2693944" y="4785347"/>
                <a:ext cx="3273119" cy="492443"/>
              </a:xfrm>
              <a:prstGeom prst="rect">
                <a:avLst/>
              </a:prstGeom>
              <a:noFill/>
            </p:spPr>
            <p:txBody>
              <a:bodyPr wrap="square" rtlCol="0">
                <a:spAutoFit/>
              </a:bodyPr>
              <a:lstStyle/>
              <a:p>
                <a:pPr algn="ctr"/>
                <a:r>
                  <a:rPr lang="en-US" sz="1300" b="1" dirty="0">
                    <a:solidFill>
                      <a:schemeClr val="bg1"/>
                    </a:solidFill>
                    <a:latin typeface="Montserrat" pitchFamily="2" charset="77"/>
                  </a:rPr>
                  <a:t>into hiring, onboarding  and  performance on your team </a:t>
                </a:r>
              </a:p>
            </p:txBody>
          </p:sp>
          <p:sp>
            <p:nvSpPr>
              <p:cNvPr id="46" name="Oval 45">
                <a:extLst>
                  <a:ext uri="{FF2B5EF4-FFF2-40B4-BE49-F238E27FC236}">
                    <a16:creationId xmlns:a16="http://schemas.microsoft.com/office/drawing/2014/main" id="{E9EBEAE0-8A7C-3287-D893-FCD755FF84DC}"/>
                  </a:ext>
                </a:extLst>
              </p:cNvPr>
              <p:cNvSpPr/>
              <p:nvPr/>
            </p:nvSpPr>
            <p:spPr>
              <a:xfrm>
                <a:off x="4372393" y="2229889"/>
                <a:ext cx="3429000" cy="3429000"/>
              </a:xfrm>
              <a:prstGeom prst="ellipse">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00" name="TextBox 99">
                <a:extLst>
                  <a:ext uri="{FF2B5EF4-FFF2-40B4-BE49-F238E27FC236}">
                    <a16:creationId xmlns:a16="http://schemas.microsoft.com/office/drawing/2014/main" id="{A1EEBE34-B9AF-61AE-159B-E6148459CEE0}"/>
                  </a:ext>
                </a:extLst>
              </p:cNvPr>
              <p:cNvSpPr txBox="1"/>
              <p:nvPr/>
            </p:nvSpPr>
            <p:spPr>
              <a:xfrm>
                <a:off x="4371717" y="3015925"/>
                <a:ext cx="3437944" cy="1569660"/>
              </a:xfrm>
              <a:prstGeom prst="rect">
                <a:avLst/>
              </a:prstGeom>
              <a:noFill/>
            </p:spPr>
            <p:txBody>
              <a:bodyPr wrap="square" rtlCol="0">
                <a:spAutoFit/>
              </a:bodyPr>
              <a:lstStyle/>
              <a:p>
                <a:pPr algn="ctr">
                  <a:lnSpc>
                    <a:spcPct val="150000"/>
                  </a:lnSpc>
                </a:pPr>
                <a:r>
                  <a:rPr lang="en-US" sz="3200" b="1" dirty="0">
                    <a:solidFill>
                      <a:srgbClr val="0091BF"/>
                    </a:solidFill>
                    <a:latin typeface="Brittany Signature" pitchFamily="2" charset="0"/>
                  </a:rPr>
                  <a:t>Superpowered</a:t>
                </a:r>
              </a:p>
              <a:p>
                <a:pPr algn="ctr">
                  <a:lnSpc>
                    <a:spcPct val="150000"/>
                  </a:lnSpc>
                </a:pPr>
                <a:r>
                  <a:rPr lang="en-US" sz="3200" b="1" dirty="0">
                    <a:solidFill>
                      <a:srgbClr val="0091BF"/>
                    </a:solidFill>
                    <a:latin typeface="Brittany Signature" pitchFamily="2" charset="0"/>
                  </a:rPr>
                  <a:t>Growth</a:t>
                </a:r>
              </a:p>
            </p:txBody>
          </p:sp>
          <p:cxnSp>
            <p:nvCxnSpPr>
              <p:cNvPr id="35" name="Straight Arrow Connector 34">
                <a:extLst>
                  <a:ext uri="{FF2B5EF4-FFF2-40B4-BE49-F238E27FC236}">
                    <a16:creationId xmlns:a16="http://schemas.microsoft.com/office/drawing/2014/main" id="{BF80F625-6ACA-3D1D-8121-E0D413A9E18C}"/>
                  </a:ext>
                </a:extLst>
              </p:cNvPr>
              <p:cNvCxnSpPr>
                <a:cxnSpLocks/>
                <a:stCxn id="105" idx="7"/>
              </p:cNvCxnSpPr>
              <p:nvPr/>
            </p:nvCxnSpPr>
            <p:spPr>
              <a:xfrm>
                <a:off x="7166787" y="2867316"/>
                <a:ext cx="114267" cy="129155"/>
              </a:xfrm>
              <a:prstGeom prst="straightConnector1">
                <a:avLst/>
              </a:prstGeom>
              <a:ln w="38100">
                <a:solidFill>
                  <a:srgbClr val="0091BF"/>
                </a:solidFill>
                <a:tailEnd type="stealth" w="lg" len="med"/>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4FC6F369-A235-3758-EB0F-B8F91573D986}"/>
                  </a:ext>
                </a:extLst>
              </p:cNvPr>
              <p:cNvCxnSpPr>
                <a:cxnSpLocks/>
              </p:cNvCxnSpPr>
              <p:nvPr/>
            </p:nvCxnSpPr>
            <p:spPr>
              <a:xfrm rot="7080000">
                <a:off x="6366020" y="5333937"/>
                <a:ext cx="114267" cy="129155"/>
              </a:xfrm>
              <a:prstGeom prst="straightConnector1">
                <a:avLst/>
              </a:prstGeom>
              <a:ln w="38100">
                <a:solidFill>
                  <a:srgbClr val="0091BF"/>
                </a:solidFill>
                <a:tailEnd type="stealth" w="lg" len="med"/>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0C8D7E4B-CC3E-A3FB-08DE-9A107F473029}"/>
                  </a:ext>
                </a:extLst>
              </p:cNvPr>
              <p:cNvSpPr>
                <a:spLocks noChangeAspect="1"/>
              </p:cNvSpPr>
              <p:nvPr/>
            </p:nvSpPr>
            <p:spPr>
              <a:xfrm>
                <a:off x="4591173" y="2425410"/>
                <a:ext cx="3017520" cy="3017520"/>
              </a:xfrm>
              <a:prstGeom prst="ellipse">
                <a:avLst/>
              </a:prstGeom>
              <a:noFill/>
              <a:ln w="57150">
                <a:solidFill>
                  <a:srgbClr val="0091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01" name="TextBox 100">
                <a:extLst>
                  <a:ext uri="{FF2B5EF4-FFF2-40B4-BE49-F238E27FC236}">
                    <a16:creationId xmlns:a16="http://schemas.microsoft.com/office/drawing/2014/main" id="{A2ED7170-0AA9-8B15-A1A6-9FF0CCBABF6F}"/>
                  </a:ext>
                </a:extLst>
              </p:cNvPr>
              <p:cNvSpPr txBox="1"/>
              <p:nvPr/>
            </p:nvSpPr>
            <p:spPr>
              <a:xfrm rot="17799468">
                <a:off x="6647427" y="4355903"/>
                <a:ext cx="1342009" cy="369332"/>
              </a:xfrm>
              <a:prstGeom prst="rect">
                <a:avLst/>
              </a:prstGeom>
              <a:solidFill>
                <a:schemeClr val="bg1">
                  <a:lumMod val="95000"/>
                </a:schemeClr>
              </a:solidFill>
            </p:spPr>
            <p:txBody>
              <a:bodyPr wrap="square" rtlCol="0">
                <a:spAutoFit/>
              </a:bodyPr>
              <a:lstStyle/>
              <a:p>
                <a:pPr algn="ctr"/>
                <a:r>
                  <a:rPr lang="en-US" dirty="0">
                    <a:solidFill>
                      <a:srgbClr val="0091BF"/>
                    </a:solidFill>
                    <a:latin typeface="Montserrat" pitchFamily="2" charset="77"/>
                  </a:rPr>
                  <a:t>ACTIVATE</a:t>
                </a:r>
              </a:p>
            </p:txBody>
          </p:sp>
          <p:sp>
            <p:nvSpPr>
              <p:cNvPr id="56" name="TextBox 55">
                <a:extLst>
                  <a:ext uri="{FF2B5EF4-FFF2-40B4-BE49-F238E27FC236}">
                    <a16:creationId xmlns:a16="http://schemas.microsoft.com/office/drawing/2014/main" id="{044A813A-7FA1-133C-00FC-736C95A9F86E}"/>
                  </a:ext>
                </a:extLst>
              </p:cNvPr>
              <p:cNvSpPr txBox="1"/>
              <p:nvPr/>
            </p:nvSpPr>
            <p:spPr>
              <a:xfrm>
                <a:off x="5626368" y="2308956"/>
                <a:ext cx="977844" cy="369332"/>
              </a:xfrm>
              <a:prstGeom prst="rect">
                <a:avLst/>
              </a:prstGeom>
              <a:solidFill>
                <a:schemeClr val="bg1">
                  <a:lumMod val="95000"/>
                </a:schemeClr>
              </a:solidFill>
            </p:spPr>
            <p:txBody>
              <a:bodyPr wrap="square" rtlCol="0">
                <a:spAutoFit/>
              </a:bodyPr>
              <a:lstStyle/>
              <a:p>
                <a:pPr algn="ctr"/>
                <a:r>
                  <a:rPr lang="en-US" dirty="0">
                    <a:solidFill>
                      <a:srgbClr val="0091BF"/>
                    </a:solidFill>
                    <a:latin typeface="Montserrat" pitchFamily="2" charset="77"/>
                  </a:rPr>
                  <a:t>OWN</a:t>
                </a:r>
              </a:p>
            </p:txBody>
          </p:sp>
          <p:sp>
            <p:nvSpPr>
              <p:cNvPr id="103" name="TextBox 102">
                <a:extLst>
                  <a:ext uri="{FF2B5EF4-FFF2-40B4-BE49-F238E27FC236}">
                    <a16:creationId xmlns:a16="http://schemas.microsoft.com/office/drawing/2014/main" id="{7B8B104E-A9DA-78AE-8094-9BEF397004DB}"/>
                  </a:ext>
                </a:extLst>
              </p:cNvPr>
              <p:cNvSpPr txBox="1"/>
              <p:nvPr/>
            </p:nvSpPr>
            <p:spPr>
              <a:xfrm rot="3270585">
                <a:off x="4184160" y="4546433"/>
                <a:ext cx="1617095" cy="369332"/>
              </a:xfrm>
              <a:prstGeom prst="rect">
                <a:avLst/>
              </a:prstGeom>
              <a:solidFill>
                <a:schemeClr val="bg1">
                  <a:lumMod val="95000"/>
                </a:schemeClr>
              </a:solidFill>
            </p:spPr>
            <p:txBody>
              <a:bodyPr wrap="square" rtlCol="0">
                <a:spAutoFit/>
              </a:bodyPr>
              <a:lstStyle/>
              <a:p>
                <a:pPr algn="ctr"/>
                <a:r>
                  <a:rPr lang="en-US" dirty="0">
                    <a:solidFill>
                      <a:srgbClr val="0091BF"/>
                    </a:solidFill>
                    <a:latin typeface="Montserrat" pitchFamily="2" charset="77"/>
                  </a:rPr>
                  <a:t>INTEGRATE</a:t>
                </a:r>
              </a:p>
            </p:txBody>
          </p:sp>
          <p:cxnSp>
            <p:nvCxnSpPr>
              <p:cNvPr id="160" name="Straight Arrow Connector 159">
                <a:extLst>
                  <a:ext uri="{FF2B5EF4-FFF2-40B4-BE49-F238E27FC236}">
                    <a16:creationId xmlns:a16="http://schemas.microsoft.com/office/drawing/2014/main" id="{8933940B-0CEC-E836-9B15-23BAC9268F86}"/>
                  </a:ext>
                </a:extLst>
              </p:cNvPr>
              <p:cNvCxnSpPr>
                <a:cxnSpLocks/>
              </p:cNvCxnSpPr>
              <p:nvPr/>
            </p:nvCxnSpPr>
            <p:spPr>
              <a:xfrm rot="14400000">
                <a:off x="4622523" y="3362206"/>
                <a:ext cx="114267" cy="129155"/>
              </a:xfrm>
              <a:prstGeom prst="straightConnector1">
                <a:avLst/>
              </a:prstGeom>
              <a:ln w="38100">
                <a:solidFill>
                  <a:srgbClr val="0091BF"/>
                </a:solidFill>
                <a:tailEnd type="stealth" w="lg" len="med"/>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77A4CDFA-E204-EDCC-8F83-9C179CEC0225}"/>
                </a:ext>
              </a:extLst>
            </p:cNvPr>
            <p:cNvGrpSpPr/>
            <p:nvPr/>
          </p:nvGrpSpPr>
          <p:grpSpPr>
            <a:xfrm>
              <a:off x="4617584" y="263929"/>
              <a:ext cx="3025815" cy="548640"/>
              <a:chOff x="4617584" y="147446"/>
              <a:chExt cx="3025815" cy="548640"/>
            </a:xfrm>
          </p:grpSpPr>
          <p:pic>
            <p:nvPicPr>
              <p:cNvPr id="60" name="Picture 59" descr="A picture containing logo  Description automatically generated">
                <a:extLst>
                  <a:ext uri="{FF2B5EF4-FFF2-40B4-BE49-F238E27FC236}">
                    <a16:creationId xmlns:a16="http://schemas.microsoft.com/office/drawing/2014/main" id="{3691A2D5-E5BC-7D07-656C-DDADEB3AD5AF}"/>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a:off x="5841799" y="147446"/>
                <a:ext cx="498763" cy="548640"/>
              </a:xfrm>
              <a:prstGeom prst="rect">
                <a:avLst/>
              </a:prstGeom>
            </p:spPr>
          </p:pic>
          <p:sp>
            <p:nvSpPr>
              <p:cNvPr id="65" name="TextBox 64">
                <a:extLst>
                  <a:ext uri="{FF2B5EF4-FFF2-40B4-BE49-F238E27FC236}">
                    <a16:creationId xmlns:a16="http://schemas.microsoft.com/office/drawing/2014/main" id="{447525D2-6292-B160-F835-9C5B25311E2D}"/>
                  </a:ext>
                </a:extLst>
              </p:cNvPr>
              <p:cNvSpPr txBox="1"/>
              <p:nvPr/>
            </p:nvSpPr>
            <p:spPr>
              <a:xfrm>
                <a:off x="4617584" y="184053"/>
                <a:ext cx="3025815" cy="461665"/>
              </a:xfrm>
              <a:prstGeom prst="rect">
                <a:avLst/>
              </a:prstGeom>
              <a:noFill/>
            </p:spPr>
            <p:txBody>
              <a:bodyPr wrap="square" rtlCol="0">
                <a:spAutoFit/>
              </a:bodyPr>
              <a:lstStyle/>
              <a:p>
                <a:pPr algn="ctr"/>
                <a:r>
                  <a:rPr lang="en-US" sz="1200" b="1" dirty="0">
                    <a:solidFill>
                      <a:srgbClr val="722B90"/>
                    </a:solidFill>
                    <a:latin typeface="Montserrat" pitchFamily="2" charset="77"/>
                  </a:rPr>
                  <a:t>Phase I:</a:t>
                </a:r>
              </a:p>
              <a:p>
                <a:pPr algn="ctr"/>
                <a:r>
                  <a:rPr lang="en-US" sz="1200" b="1" dirty="0">
                    <a:solidFill>
                      <a:srgbClr val="722B90"/>
                    </a:solidFill>
                    <a:latin typeface="Montserrat" pitchFamily="2" charset="77"/>
                  </a:rPr>
                  <a:t>The Foundation</a:t>
                </a:r>
                <a:endParaRPr lang="en-US" sz="1200" i="1" dirty="0">
                  <a:solidFill>
                    <a:srgbClr val="722B90"/>
                  </a:solidFill>
                  <a:latin typeface="Montserrat" pitchFamily="2" charset="77"/>
                </a:endParaRPr>
              </a:p>
            </p:txBody>
          </p:sp>
        </p:grpSp>
        <p:grpSp>
          <p:nvGrpSpPr>
            <p:cNvPr id="71" name="Group 70">
              <a:extLst>
                <a:ext uri="{FF2B5EF4-FFF2-40B4-BE49-F238E27FC236}">
                  <a16:creationId xmlns:a16="http://schemas.microsoft.com/office/drawing/2014/main" id="{25DA4802-AB87-4B94-83C9-6DBF04CE25F4}"/>
                </a:ext>
              </a:extLst>
            </p:cNvPr>
            <p:cNvGrpSpPr/>
            <p:nvPr/>
          </p:nvGrpSpPr>
          <p:grpSpPr>
            <a:xfrm>
              <a:off x="8158438" y="4650715"/>
              <a:ext cx="3025815" cy="548640"/>
              <a:chOff x="3800968" y="1003797"/>
              <a:chExt cx="3025815" cy="548640"/>
            </a:xfrm>
          </p:grpSpPr>
          <p:pic>
            <p:nvPicPr>
              <p:cNvPr id="72" name="Picture 71" descr="A picture containing logo  Description automatically generated">
                <a:extLst>
                  <a:ext uri="{FF2B5EF4-FFF2-40B4-BE49-F238E27FC236}">
                    <a16:creationId xmlns:a16="http://schemas.microsoft.com/office/drawing/2014/main" id="{2D74E2B4-8FB5-8326-0DF4-DD2741A0FCA5}"/>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a:off x="5007068" y="1003797"/>
                <a:ext cx="498763" cy="548640"/>
              </a:xfrm>
              <a:prstGeom prst="rect">
                <a:avLst/>
              </a:prstGeom>
            </p:spPr>
          </p:pic>
          <p:sp>
            <p:nvSpPr>
              <p:cNvPr id="73" name="TextBox 72">
                <a:extLst>
                  <a:ext uri="{FF2B5EF4-FFF2-40B4-BE49-F238E27FC236}">
                    <a16:creationId xmlns:a16="http://schemas.microsoft.com/office/drawing/2014/main" id="{848BCD7E-85E8-223D-BA61-607814BEB611}"/>
                  </a:ext>
                </a:extLst>
              </p:cNvPr>
              <p:cNvSpPr txBox="1"/>
              <p:nvPr/>
            </p:nvSpPr>
            <p:spPr>
              <a:xfrm>
                <a:off x="3800968" y="1046489"/>
                <a:ext cx="3025815" cy="461665"/>
              </a:xfrm>
              <a:prstGeom prst="rect">
                <a:avLst/>
              </a:prstGeom>
              <a:noFill/>
            </p:spPr>
            <p:txBody>
              <a:bodyPr wrap="square" rtlCol="0">
                <a:spAutoFit/>
              </a:bodyPr>
              <a:lstStyle/>
              <a:p>
                <a:pPr algn="ctr"/>
                <a:r>
                  <a:rPr lang="en-US" sz="1200" b="1" dirty="0">
                    <a:solidFill>
                      <a:srgbClr val="722B90"/>
                    </a:solidFill>
                    <a:latin typeface="Montserrat" pitchFamily="2" charset="77"/>
                  </a:rPr>
                  <a:t>Phase 2:</a:t>
                </a:r>
              </a:p>
              <a:p>
                <a:pPr algn="ctr"/>
                <a:r>
                  <a:rPr lang="en-US" sz="1200" b="1" dirty="0">
                    <a:solidFill>
                      <a:srgbClr val="722B90"/>
                    </a:solidFill>
                    <a:latin typeface="Montserrat" pitchFamily="2" charset="77"/>
                  </a:rPr>
                  <a:t>People-Development</a:t>
                </a:r>
                <a:endParaRPr lang="en-US" sz="1200" i="1" dirty="0">
                  <a:solidFill>
                    <a:srgbClr val="722B90"/>
                  </a:solidFill>
                  <a:latin typeface="Montserrat" pitchFamily="2" charset="77"/>
                </a:endParaRPr>
              </a:p>
            </p:txBody>
          </p:sp>
        </p:grpSp>
        <p:grpSp>
          <p:nvGrpSpPr>
            <p:cNvPr id="74" name="Group 73">
              <a:extLst>
                <a:ext uri="{FF2B5EF4-FFF2-40B4-BE49-F238E27FC236}">
                  <a16:creationId xmlns:a16="http://schemas.microsoft.com/office/drawing/2014/main" id="{61CACDD4-2BE4-3606-4D2B-975BB979F6CB}"/>
                </a:ext>
              </a:extLst>
            </p:cNvPr>
            <p:cNvGrpSpPr/>
            <p:nvPr/>
          </p:nvGrpSpPr>
          <p:grpSpPr>
            <a:xfrm>
              <a:off x="1086925" y="4647185"/>
              <a:ext cx="3025815" cy="548640"/>
              <a:chOff x="5413334" y="994444"/>
              <a:chExt cx="3025815" cy="548640"/>
            </a:xfrm>
          </p:grpSpPr>
          <p:pic>
            <p:nvPicPr>
              <p:cNvPr id="75" name="Picture 74" descr="A picture containing logo  Description automatically generated">
                <a:extLst>
                  <a:ext uri="{FF2B5EF4-FFF2-40B4-BE49-F238E27FC236}">
                    <a16:creationId xmlns:a16="http://schemas.microsoft.com/office/drawing/2014/main" id="{741497EE-B519-CAE6-2D97-2C1395CEF56C}"/>
                  </a:ext>
                </a:extLst>
              </p:cNvPr>
              <p:cNvPicPr>
                <a:picLocks noChangeAspect="1"/>
              </p:cNvPicPr>
              <p:nvPr/>
            </p:nvPicPr>
            <p:blipFill>
              <a:blip r:embed="rId4">
                <a:alphaModFix amt="25000"/>
                <a:extLst>
                  <a:ext uri="{28A0092B-C50C-407E-A947-70E740481C1C}">
                    <a14:useLocalDpi xmlns:a14="http://schemas.microsoft.com/office/drawing/2010/main" val="0"/>
                  </a:ext>
                </a:extLst>
              </a:blip>
              <a:stretch>
                <a:fillRect/>
              </a:stretch>
            </p:blipFill>
            <p:spPr>
              <a:xfrm>
                <a:off x="6619434" y="994444"/>
                <a:ext cx="498763" cy="548640"/>
              </a:xfrm>
              <a:prstGeom prst="rect">
                <a:avLst/>
              </a:prstGeom>
            </p:spPr>
          </p:pic>
          <p:sp>
            <p:nvSpPr>
              <p:cNvPr id="80" name="TextBox 79">
                <a:extLst>
                  <a:ext uri="{FF2B5EF4-FFF2-40B4-BE49-F238E27FC236}">
                    <a16:creationId xmlns:a16="http://schemas.microsoft.com/office/drawing/2014/main" id="{9D50B0E5-79F7-2789-63A1-8CF4A805ABBF}"/>
                  </a:ext>
                </a:extLst>
              </p:cNvPr>
              <p:cNvSpPr txBox="1"/>
              <p:nvPr/>
            </p:nvSpPr>
            <p:spPr>
              <a:xfrm>
                <a:off x="5413334" y="1031051"/>
                <a:ext cx="3025815" cy="461665"/>
              </a:xfrm>
              <a:prstGeom prst="rect">
                <a:avLst/>
              </a:prstGeom>
              <a:noFill/>
            </p:spPr>
            <p:txBody>
              <a:bodyPr wrap="square" rtlCol="0">
                <a:spAutoFit/>
              </a:bodyPr>
              <a:lstStyle/>
              <a:p>
                <a:pPr algn="ctr"/>
                <a:r>
                  <a:rPr lang="en-US" sz="1200" b="1" dirty="0">
                    <a:solidFill>
                      <a:srgbClr val="722B90"/>
                    </a:solidFill>
                    <a:latin typeface="Montserrat" pitchFamily="2" charset="77"/>
                  </a:rPr>
                  <a:t>Phase 3:</a:t>
                </a:r>
              </a:p>
              <a:p>
                <a:pPr algn="ctr"/>
                <a:r>
                  <a:rPr lang="en-US" sz="1200" b="1" dirty="0">
                    <a:solidFill>
                      <a:srgbClr val="722B90"/>
                    </a:solidFill>
                    <a:latin typeface="Montserrat" pitchFamily="2" charset="77"/>
                  </a:rPr>
                  <a:t>Cultural Integration</a:t>
                </a:r>
                <a:endParaRPr lang="en-US" sz="1200" i="1" dirty="0">
                  <a:solidFill>
                    <a:srgbClr val="722B90"/>
                  </a:solidFill>
                  <a:latin typeface="Montserrat" pitchFamily="2" charset="77"/>
                </a:endParaRPr>
              </a:p>
            </p:txBody>
          </p:sp>
        </p:grpSp>
        <p:sp>
          <p:nvSpPr>
            <p:cNvPr id="82" name="TextBox 81">
              <a:extLst>
                <a:ext uri="{FF2B5EF4-FFF2-40B4-BE49-F238E27FC236}">
                  <a16:creationId xmlns:a16="http://schemas.microsoft.com/office/drawing/2014/main" id="{C758B148-ED32-DC03-D5B3-6D818943BAA0}"/>
                </a:ext>
              </a:extLst>
            </p:cNvPr>
            <p:cNvSpPr txBox="1"/>
            <p:nvPr/>
          </p:nvSpPr>
          <p:spPr>
            <a:xfrm>
              <a:off x="2160545" y="2254695"/>
              <a:ext cx="1262619" cy="553998"/>
            </a:xfrm>
            <a:prstGeom prst="rect">
              <a:avLst/>
            </a:prstGeom>
            <a:noFill/>
            <a:effectLst/>
          </p:spPr>
          <p:txBody>
            <a:bodyPr wrap="square" rtlCol="0">
              <a:spAutoFit/>
            </a:bodyPr>
            <a:lstStyle/>
            <a:p>
              <a:pPr algn="ctr"/>
              <a:r>
                <a:rPr lang="en-US" sz="1000" dirty="0">
                  <a:solidFill>
                    <a:srgbClr val="0091BF"/>
                  </a:solidFill>
                  <a:effectLst>
                    <a:outerShdw blurRad="38100" dist="38100" dir="2700000" algn="tl" rotWithShape="0">
                      <a:schemeClr val="bg1"/>
                    </a:outerShdw>
                  </a:effectLst>
                  <a:latin typeface="Montserrat" panose="00000500000000000000" pitchFamily="2" charset="0"/>
                </a:rPr>
                <a:t>New hire assessment</a:t>
              </a:r>
            </a:p>
            <a:p>
              <a:pPr algn="ctr"/>
              <a:r>
                <a:rPr lang="en-US" sz="1000" dirty="0">
                  <a:solidFill>
                    <a:srgbClr val="0091BF"/>
                  </a:solidFill>
                  <a:effectLst>
                    <a:outerShdw blurRad="38100" dist="38100" dir="2700000" algn="tl" rotWithShape="0">
                      <a:schemeClr val="bg1"/>
                    </a:outerShdw>
                  </a:effectLst>
                  <a:latin typeface="Montserrat" panose="00000500000000000000" pitchFamily="2" charset="0"/>
                </a:rPr>
                <a:t>and onboarding</a:t>
              </a:r>
            </a:p>
          </p:txBody>
        </p:sp>
        <p:sp>
          <p:nvSpPr>
            <p:cNvPr id="6" name="Right Arrow 5">
              <a:extLst>
                <a:ext uri="{FF2B5EF4-FFF2-40B4-BE49-F238E27FC236}">
                  <a16:creationId xmlns:a16="http://schemas.microsoft.com/office/drawing/2014/main" id="{787DB1B3-CBC3-D523-F8AA-6F894BD0E0F7}"/>
                </a:ext>
              </a:extLst>
            </p:cNvPr>
            <p:cNvSpPr/>
            <p:nvPr/>
          </p:nvSpPr>
          <p:spPr>
            <a:xfrm>
              <a:off x="3273488" y="2431672"/>
              <a:ext cx="299447" cy="194793"/>
            </a:xfrm>
            <a:prstGeom prst="rightArrow">
              <a:avLst/>
            </a:prstGeom>
            <a:solidFill>
              <a:srgbClr val="0091BF"/>
            </a:solidFill>
            <a:ln w="12700" cap="flat">
              <a:solidFill>
                <a:srgbClr val="0091BF"/>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grpSp>
      <p:sp>
        <p:nvSpPr>
          <p:cNvPr id="10" name="TextBox 9">
            <a:extLst>
              <a:ext uri="{FF2B5EF4-FFF2-40B4-BE49-F238E27FC236}">
                <a16:creationId xmlns:a16="http://schemas.microsoft.com/office/drawing/2014/main" id="{61E694AF-FDFF-85FF-E024-6B7611B3EE50}"/>
              </a:ext>
            </a:extLst>
          </p:cNvPr>
          <p:cNvSpPr txBox="1"/>
          <p:nvPr/>
        </p:nvSpPr>
        <p:spPr>
          <a:xfrm flipH="1">
            <a:off x="9833155" y="1440961"/>
            <a:ext cx="1536211" cy="646331"/>
          </a:xfrm>
          <a:prstGeom prst="rect">
            <a:avLst/>
          </a:prstGeom>
          <a:noFill/>
          <a:effectLst>
            <a:outerShdw blurRad="50800" dist="25400" dir="2700000" algn="tl" rotWithShape="0">
              <a:prstClr val="black">
                <a:alpha val="40000"/>
              </a:prstClr>
            </a:outerShdw>
          </a:effectLst>
        </p:spPr>
        <p:txBody>
          <a:bodyPr wrap="square" rtlCol="0">
            <a:spAutoFit/>
          </a:bodyPr>
          <a:lstStyle/>
          <a:p>
            <a:pPr algn="ctr" hangingPunct="1"/>
            <a:r>
              <a:rPr lang="en-US" sz="1200" kern="1200" dirty="0">
                <a:solidFill>
                  <a:schemeClr val="tx1"/>
                </a:solidFill>
                <a:latin typeface="Montserrat" pitchFamily="2" charset="77"/>
                <a:ea typeface="+mn-ea"/>
                <a:cs typeface="+mn-cs"/>
              </a:rPr>
              <a:t>GOAL</a:t>
            </a:r>
          </a:p>
          <a:p>
            <a:pPr algn="ctr" hangingPunct="1"/>
            <a:r>
              <a:rPr lang="en-US" sz="1200" kern="1200" dirty="0">
                <a:solidFill>
                  <a:schemeClr val="tx1"/>
                </a:solidFill>
                <a:latin typeface="Montserrat" pitchFamily="2" charset="77"/>
                <a:ea typeface="+mn-ea"/>
                <a:cs typeface="+mn-cs"/>
              </a:rPr>
              <a:t>Superpowered</a:t>
            </a:r>
          </a:p>
          <a:p>
            <a:pPr algn="ctr" hangingPunct="1"/>
            <a:r>
              <a:rPr lang="en-US" sz="1200" kern="1200" dirty="0">
                <a:solidFill>
                  <a:schemeClr val="tx1"/>
                </a:solidFill>
                <a:latin typeface="Montserrat" pitchFamily="2" charset="77"/>
                <a:ea typeface="+mn-ea"/>
                <a:cs typeface="+mn-cs"/>
              </a:rPr>
              <a:t>80% of the time</a:t>
            </a:r>
          </a:p>
        </p:txBody>
      </p:sp>
      <p:pic>
        <p:nvPicPr>
          <p:cNvPr id="50" name="Picture 49" descr="Text  Description automatically generated">
            <a:extLst>
              <a:ext uri="{FF2B5EF4-FFF2-40B4-BE49-F238E27FC236}">
                <a16:creationId xmlns:a16="http://schemas.microsoft.com/office/drawing/2014/main" id="{4E190F0D-CD69-F448-A86C-1F4C284B2AB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5115" y="219185"/>
            <a:ext cx="2457658" cy="607588"/>
          </a:xfrm>
          <a:prstGeom prst="rect">
            <a:avLst/>
          </a:prstGeom>
        </p:spPr>
      </p:pic>
      <p:sp>
        <p:nvSpPr>
          <p:cNvPr id="51" name="Footer Placeholder 14">
            <a:extLst>
              <a:ext uri="{FF2B5EF4-FFF2-40B4-BE49-F238E27FC236}">
                <a16:creationId xmlns:a16="http://schemas.microsoft.com/office/drawing/2014/main" id="{4F391CCF-AF13-44DD-9843-D0CBA6D9DA98}"/>
              </a:ext>
            </a:extLst>
          </p:cNvPr>
          <p:cNvSpPr txBox="1">
            <a:spLocks/>
          </p:cNvSpPr>
          <p:nvPr/>
        </p:nvSpPr>
        <p:spPr>
          <a:xfrm>
            <a:off x="4464966" y="6598843"/>
            <a:ext cx="3634049" cy="217015"/>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pPr algn="ctr"/>
            <a:r>
              <a:rPr lang="en-US" sz="882">
                <a:solidFill>
                  <a:schemeClr val="tx1"/>
                </a:solidFill>
                <a:latin typeface="Montserrat ExtraLight" pitchFamily="2" charset="77"/>
              </a:rPr>
              <a:t>©2022 </a:t>
            </a:r>
            <a:r>
              <a:rPr lang="en-US" sz="882" dirty="0" err="1">
                <a:solidFill>
                  <a:schemeClr val="tx1"/>
                </a:solidFill>
                <a:latin typeface="Montserrat ExtraLight" pitchFamily="2" charset="77"/>
              </a:rPr>
              <a:t>Parillume</a:t>
            </a:r>
            <a:r>
              <a:rPr lang="en-US" sz="882" dirty="0">
                <a:solidFill>
                  <a:schemeClr val="tx1"/>
                </a:solidFill>
                <a:latin typeface="Montserrat ExtraLight" pitchFamily="2" charset="77"/>
              </a:rPr>
              <a:t> All rights reserved</a:t>
            </a:r>
          </a:p>
        </p:txBody>
      </p:sp>
      <p:sp>
        <p:nvSpPr>
          <p:cNvPr id="11" name="TextBox 10">
            <a:extLst>
              <a:ext uri="{FF2B5EF4-FFF2-40B4-BE49-F238E27FC236}">
                <a16:creationId xmlns:a16="http://schemas.microsoft.com/office/drawing/2014/main" id="{854EB214-681B-FF27-4E86-E7830FA4189F}"/>
              </a:ext>
            </a:extLst>
          </p:cNvPr>
          <p:cNvSpPr txBox="1"/>
          <p:nvPr/>
        </p:nvSpPr>
        <p:spPr>
          <a:xfrm>
            <a:off x="6989" y="6494907"/>
            <a:ext cx="1227922" cy="363818"/>
          </a:xfrm>
          <a:prstGeom prst="rect">
            <a:avLst/>
          </a:prstGeom>
          <a:noFill/>
        </p:spPr>
        <p:txBody>
          <a:bodyPr wrap="square" rtlCol="0">
            <a:spAutoFit/>
          </a:bodyPr>
          <a:lstStyle/>
          <a:p>
            <a:pPr algn="ctr"/>
            <a:r>
              <a:rPr lang="en-US" sz="882">
                <a:solidFill>
                  <a:schemeClr val="tx1">
                    <a:lumMod val="50000"/>
                    <a:lumOff val="50000"/>
                  </a:schemeClr>
                </a:solidFill>
                <a:latin typeface="Montserrat ExtraLight" panose="00000300000000000000" pitchFamily="2" charset="0"/>
              </a:rPr>
              <a:t>Customer Success</a:t>
            </a:r>
          </a:p>
          <a:p>
            <a:pPr algn="ctr"/>
            <a:r>
              <a:rPr lang="en-US" sz="882">
                <a:solidFill>
                  <a:schemeClr val="tx1">
                    <a:lumMod val="50000"/>
                    <a:lumOff val="50000"/>
                  </a:schemeClr>
                </a:solidFill>
                <a:latin typeface="Montserrat ExtraLight" panose="00000300000000000000" pitchFamily="2" charset="0"/>
              </a:rPr>
              <a:t>Team Workshop</a:t>
            </a:r>
            <a:endParaRPr lang="en-US" sz="882" dirty="0">
              <a:solidFill>
                <a:schemeClr val="tx1">
                  <a:lumMod val="50000"/>
                  <a:lumOff val="50000"/>
                </a:schemeClr>
              </a:solidFill>
              <a:latin typeface="Montserrat ExtraLight" panose="00000300000000000000" pitchFamily="2" charset="0"/>
            </a:endParaRPr>
          </a:p>
        </p:txBody>
      </p:sp>
    </p:spTree>
    <p:extLst>
      <p:ext uri="{BB962C8B-B14F-4D97-AF65-F5344CB8AC3E}">
        <p14:creationId xmlns:p14="http://schemas.microsoft.com/office/powerpoint/2010/main" val="352849081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D7C907-B75E-3543-90FB-5BBCFAA85C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8920" y="66675"/>
            <a:ext cx="8875059" cy="6858000"/>
          </a:xfrm>
          <a:prstGeom prst="rect">
            <a:avLst/>
          </a:prstGeom>
        </p:spPr>
      </p:pic>
      <p:pic>
        <p:nvPicPr>
          <p:cNvPr id="17" name="Picture 16" descr="Text  Description automatically generated">
            <a:extLst>
              <a:ext uri="{FF2B5EF4-FFF2-40B4-BE49-F238E27FC236}">
                <a16:creationId xmlns:a16="http://schemas.microsoft.com/office/drawing/2014/main" id="{3CE6788F-2B50-E614-535E-A2909F21C7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74849" y="75475"/>
            <a:ext cx="1529937" cy="378235"/>
          </a:xfrm>
          <a:prstGeom prst="rect">
            <a:avLst/>
          </a:prstGeom>
        </p:spPr>
      </p:pic>
      <p:sp>
        <p:nvSpPr>
          <p:cNvPr id="9" name="Rectangle 8">
            <a:extLst>
              <a:ext uri="{FF2B5EF4-FFF2-40B4-BE49-F238E27FC236}">
                <a16:creationId xmlns:a16="http://schemas.microsoft.com/office/drawing/2014/main" id="{93A70382-2AC6-4C49-8D0F-1665136DC5E2}"/>
              </a:ext>
            </a:extLst>
          </p:cNvPr>
          <p:cNvSpPr/>
          <p:nvPr/>
        </p:nvSpPr>
        <p:spPr>
          <a:xfrm>
            <a:off x="8677663" y="90075"/>
            <a:ext cx="1694330" cy="727270"/>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19" name="Rectangle 18">
            <a:extLst>
              <a:ext uri="{FF2B5EF4-FFF2-40B4-BE49-F238E27FC236}">
                <a16:creationId xmlns:a16="http://schemas.microsoft.com/office/drawing/2014/main" id="{797260F0-6CE5-3283-C500-0AA9D14D457F}"/>
              </a:ext>
            </a:extLst>
          </p:cNvPr>
          <p:cNvSpPr/>
          <p:nvPr/>
        </p:nvSpPr>
        <p:spPr>
          <a:xfrm>
            <a:off x="3887763" y="0"/>
            <a:ext cx="4553727" cy="923100"/>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grpSp>
        <p:nvGrpSpPr>
          <p:cNvPr id="20" name="Group 19">
            <a:extLst>
              <a:ext uri="{FF2B5EF4-FFF2-40B4-BE49-F238E27FC236}">
                <a16:creationId xmlns:a16="http://schemas.microsoft.com/office/drawing/2014/main" id="{87E76BC5-0BCD-9309-F3BE-1828406FEC30}"/>
              </a:ext>
            </a:extLst>
          </p:cNvPr>
          <p:cNvGrpSpPr/>
          <p:nvPr/>
        </p:nvGrpSpPr>
        <p:grpSpPr>
          <a:xfrm>
            <a:off x="0" y="140448"/>
            <a:ext cx="12191999" cy="782652"/>
            <a:chOff x="0" y="140448"/>
            <a:chExt cx="12191999" cy="782652"/>
          </a:xfrm>
        </p:grpSpPr>
        <p:grpSp>
          <p:nvGrpSpPr>
            <p:cNvPr id="14" name="Group 13">
              <a:extLst>
                <a:ext uri="{FF2B5EF4-FFF2-40B4-BE49-F238E27FC236}">
                  <a16:creationId xmlns:a16="http://schemas.microsoft.com/office/drawing/2014/main" id="{324F6240-4924-DC60-211F-13C9A1530902}"/>
                </a:ext>
              </a:extLst>
            </p:cNvPr>
            <p:cNvGrpSpPr/>
            <p:nvPr/>
          </p:nvGrpSpPr>
          <p:grpSpPr>
            <a:xfrm>
              <a:off x="0" y="140448"/>
              <a:ext cx="12191999" cy="469136"/>
              <a:chOff x="0" y="140448"/>
              <a:chExt cx="12191999" cy="469136"/>
            </a:xfrm>
            <a:noFill/>
          </p:grpSpPr>
          <p:sp>
            <p:nvSpPr>
              <p:cNvPr id="15" name="Rectangle 14">
                <a:extLst>
                  <a:ext uri="{FF2B5EF4-FFF2-40B4-BE49-F238E27FC236}">
                    <a16:creationId xmlns:a16="http://schemas.microsoft.com/office/drawing/2014/main" id="{54C650A6-0B7C-809F-130F-7C85455CACB8}"/>
                  </a:ext>
                </a:extLst>
              </p:cNvPr>
              <p:cNvSpPr/>
              <p:nvPr/>
            </p:nvSpPr>
            <p:spPr>
              <a:xfrm>
                <a:off x="0" y="178699"/>
                <a:ext cx="12191999" cy="430885"/>
              </a:xfrm>
              <a:prstGeom prst="rect">
                <a:avLst/>
              </a:prstGeom>
              <a:grp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200" b="0" i="0" u="none" strike="noStrike" cap="none" spc="0" normalizeH="0" baseline="0">
                    <a:ln>
                      <a:noFill/>
                    </a:ln>
                    <a:solidFill>
                      <a:srgbClr val="722B90"/>
                    </a:solidFill>
                    <a:effectLst/>
                    <a:uFillTx/>
                    <a:latin typeface="Brittany Signature" pitchFamily="2" charset="0"/>
                    <a:sym typeface="Calibri"/>
                  </a:rPr>
                  <a:t>Shine </a:t>
                </a:r>
                <a:r>
                  <a:rPr kumimoji="0" lang="en-US" sz="2100" b="0" i="0" u="none" strike="noStrike" cap="none" spc="0" normalizeH="0" baseline="0">
                    <a:ln>
                      <a:noFill/>
                    </a:ln>
                    <a:solidFill>
                      <a:srgbClr val="722B90"/>
                    </a:solidFill>
                    <a:effectLst/>
                    <a:uFillTx/>
                    <a:latin typeface="Brittany Signature" pitchFamily="2" charset="0"/>
                    <a:sym typeface="Calibri"/>
                  </a:rPr>
                  <a:t>F</a:t>
                </a:r>
                <a:r>
                  <a:rPr kumimoji="0" lang="en-US" sz="2200" b="0" i="0" u="none" strike="noStrike" cap="none" spc="0" normalizeH="0" baseline="0">
                    <a:ln>
                      <a:noFill/>
                    </a:ln>
                    <a:solidFill>
                      <a:srgbClr val="722B90"/>
                    </a:solidFill>
                    <a:effectLst/>
                    <a:uFillTx/>
                    <a:latin typeface="Brittany Signature" pitchFamily="2" charset="0"/>
                    <a:sym typeface="Calibri"/>
                  </a:rPr>
                  <a:t>rom Your Original Design</a:t>
                </a:r>
              </a:p>
            </p:txBody>
          </p:sp>
          <p:sp>
            <p:nvSpPr>
              <p:cNvPr id="16" name="TextBox 15">
                <a:extLst>
                  <a:ext uri="{FF2B5EF4-FFF2-40B4-BE49-F238E27FC236}">
                    <a16:creationId xmlns:a16="http://schemas.microsoft.com/office/drawing/2014/main" id="{D13CA75A-FEB0-FC93-D3D4-5F2E46554AF3}"/>
                  </a:ext>
                </a:extLst>
              </p:cNvPr>
              <p:cNvSpPr txBox="1"/>
              <p:nvPr/>
            </p:nvSpPr>
            <p:spPr>
              <a:xfrm>
                <a:off x="7908484" y="140448"/>
                <a:ext cx="209351" cy="36933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a:ln>
                      <a:noFill/>
                    </a:ln>
                    <a:solidFill>
                      <a:srgbClr val="722B90"/>
                    </a:solidFill>
                    <a:effectLst/>
                    <a:uFillTx/>
                    <a:latin typeface="+mj-lt"/>
                    <a:ea typeface="+mj-ea"/>
                    <a:cs typeface="+mj-cs"/>
                    <a:sym typeface="Calibri"/>
                  </a:rPr>
                  <a:t>®</a:t>
                </a:r>
              </a:p>
            </p:txBody>
          </p:sp>
        </p:grpSp>
        <p:sp>
          <p:nvSpPr>
            <p:cNvPr id="18" name="TextBox 17">
              <a:extLst>
                <a:ext uri="{FF2B5EF4-FFF2-40B4-BE49-F238E27FC236}">
                  <a16:creationId xmlns:a16="http://schemas.microsoft.com/office/drawing/2014/main" id="{12FAA983-4265-427C-0773-A1F7FB49142A}"/>
                </a:ext>
              </a:extLst>
            </p:cNvPr>
            <p:cNvSpPr txBox="1"/>
            <p:nvPr/>
          </p:nvSpPr>
          <p:spPr>
            <a:xfrm>
              <a:off x="0" y="584548"/>
              <a:ext cx="12191999" cy="3385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a:ln>
                    <a:noFill/>
                  </a:ln>
                  <a:solidFill>
                    <a:srgbClr val="000000"/>
                  </a:solidFill>
                  <a:effectLst/>
                  <a:uFillTx/>
                  <a:latin typeface="Montserrat" pitchFamily="2" charset="0"/>
                  <a:sym typeface="Calibri"/>
                </a:rPr>
                <a:t>Activate Your Superpowers 2024</a:t>
              </a:r>
            </a:p>
          </p:txBody>
        </p:sp>
      </p:grpSp>
      <p:sp>
        <p:nvSpPr>
          <p:cNvPr id="22" name="Rectangle 21">
            <a:extLst>
              <a:ext uri="{FF2B5EF4-FFF2-40B4-BE49-F238E27FC236}">
                <a16:creationId xmlns:a16="http://schemas.microsoft.com/office/drawing/2014/main" id="{03383323-3348-D704-C58B-A775DF98AD6E}"/>
              </a:ext>
            </a:extLst>
          </p:cNvPr>
          <p:cNvSpPr/>
          <p:nvPr/>
        </p:nvSpPr>
        <p:spPr>
          <a:xfrm>
            <a:off x="5295900" y="6693592"/>
            <a:ext cx="1790700" cy="212033"/>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23" name="Footer Placeholder 14">
            <a:extLst>
              <a:ext uri="{FF2B5EF4-FFF2-40B4-BE49-F238E27FC236}">
                <a16:creationId xmlns:a16="http://schemas.microsoft.com/office/drawing/2014/main" id="{BCD2BE37-E105-973D-04DC-D125AFAE981C}"/>
              </a:ext>
            </a:extLst>
          </p:cNvPr>
          <p:cNvSpPr txBox="1">
            <a:spLocks/>
          </p:cNvSpPr>
          <p:nvPr/>
        </p:nvSpPr>
        <p:spPr>
          <a:xfrm>
            <a:off x="4278973" y="6634892"/>
            <a:ext cx="3634049" cy="217015"/>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pPr algn="ctr"/>
            <a:r>
              <a:rPr lang="en-US" sz="800">
                <a:solidFill>
                  <a:schemeClr val="tx1"/>
                </a:solidFill>
                <a:latin typeface="Montserrat ExtraLight" pitchFamily="2" charset="77"/>
              </a:rPr>
              <a:t>©2023 </a:t>
            </a:r>
            <a:r>
              <a:rPr lang="en-US" sz="800" dirty="0" err="1">
                <a:solidFill>
                  <a:schemeClr val="tx1"/>
                </a:solidFill>
                <a:latin typeface="Montserrat ExtraLight" pitchFamily="2" charset="77"/>
              </a:rPr>
              <a:t>Parillume</a:t>
            </a:r>
            <a:r>
              <a:rPr lang="en-US" sz="800" dirty="0">
                <a:solidFill>
                  <a:schemeClr val="tx1"/>
                </a:solidFill>
                <a:latin typeface="Montserrat ExtraLight" pitchFamily="2" charset="77"/>
              </a:rPr>
              <a:t> All rights reserved</a:t>
            </a:r>
          </a:p>
        </p:txBody>
      </p:sp>
      <p:sp>
        <p:nvSpPr>
          <p:cNvPr id="24" name="Rectangle 23">
            <a:extLst>
              <a:ext uri="{FF2B5EF4-FFF2-40B4-BE49-F238E27FC236}">
                <a16:creationId xmlns:a16="http://schemas.microsoft.com/office/drawing/2014/main" id="{05083A30-6D1A-9A9A-A035-DB38BD63B647}"/>
              </a:ext>
            </a:extLst>
          </p:cNvPr>
          <p:cNvSpPr/>
          <p:nvPr/>
        </p:nvSpPr>
        <p:spPr>
          <a:xfrm>
            <a:off x="1507117" y="99597"/>
            <a:ext cx="1694330" cy="727270"/>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4" name="TextBox 3">
            <a:extLst>
              <a:ext uri="{FF2B5EF4-FFF2-40B4-BE49-F238E27FC236}">
                <a16:creationId xmlns:a16="http://schemas.microsoft.com/office/drawing/2014/main" id="{F642B838-EDF9-8F10-1523-887FB87B6160}"/>
              </a:ext>
            </a:extLst>
          </p:cNvPr>
          <p:cNvSpPr txBox="1"/>
          <p:nvPr/>
        </p:nvSpPr>
        <p:spPr>
          <a:xfrm>
            <a:off x="6989" y="6494907"/>
            <a:ext cx="1227922" cy="363818"/>
          </a:xfrm>
          <a:prstGeom prst="rect">
            <a:avLst/>
          </a:prstGeom>
          <a:noFill/>
        </p:spPr>
        <p:txBody>
          <a:bodyPr wrap="square" rtlCol="0">
            <a:spAutoFit/>
          </a:bodyPr>
          <a:lstStyle/>
          <a:p>
            <a:pPr algn="ctr"/>
            <a:r>
              <a:rPr lang="en-US" sz="882">
                <a:solidFill>
                  <a:schemeClr val="tx1">
                    <a:lumMod val="50000"/>
                    <a:lumOff val="50000"/>
                  </a:schemeClr>
                </a:solidFill>
                <a:latin typeface="Montserrat ExtraLight" panose="00000300000000000000" pitchFamily="2" charset="0"/>
              </a:rPr>
              <a:t>Customer Success</a:t>
            </a:r>
          </a:p>
          <a:p>
            <a:pPr algn="ctr"/>
            <a:r>
              <a:rPr lang="en-US" sz="882">
                <a:solidFill>
                  <a:schemeClr val="tx1">
                    <a:lumMod val="50000"/>
                    <a:lumOff val="50000"/>
                  </a:schemeClr>
                </a:solidFill>
                <a:latin typeface="Montserrat ExtraLight" panose="00000300000000000000" pitchFamily="2" charset="0"/>
              </a:rPr>
              <a:t>Team Workshop</a:t>
            </a:r>
            <a:endParaRPr lang="en-US" sz="882" dirty="0">
              <a:solidFill>
                <a:schemeClr val="tx1">
                  <a:lumMod val="50000"/>
                  <a:lumOff val="50000"/>
                </a:schemeClr>
              </a:solidFill>
              <a:latin typeface="Montserrat ExtraLight" panose="00000300000000000000" pitchFamily="2" charset="0"/>
            </a:endParaRPr>
          </a:p>
        </p:txBody>
      </p:sp>
    </p:spTree>
    <p:extLst>
      <p:ext uri="{BB962C8B-B14F-4D97-AF65-F5344CB8AC3E}">
        <p14:creationId xmlns:p14="http://schemas.microsoft.com/office/powerpoint/2010/main" val="134178602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232B7353-ABA4-D26F-17B0-6C95DDAF6214}"/>
              </a:ext>
            </a:extLst>
          </p:cNvPr>
          <p:cNvGrpSpPr/>
          <p:nvPr/>
        </p:nvGrpSpPr>
        <p:grpSpPr>
          <a:xfrm>
            <a:off x="1448920" y="66675"/>
            <a:ext cx="8875059" cy="6858000"/>
            <a:chOff x="1658470" y="0"/>
            <a:chExt cx="8875059" cy="6858000"/>
          </a:xfrm>
        </p:grpSpPr>
        <p:pic>
          <p:nvPicPr>
            <p:cNvPr id="3" name="Picture 2">
              <a:extLst>
                <a:ext uri="{FF2B5EF4-FFF2-40B4-BE49-F238E27FC236}">
                  <a16:creationId xmlns:a16="http://schemas.microsoft.com/office/drawing/2014/main" id="{4ED7C907-B75E-3543-90FB-5BBCFAA85C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8470" y="0"/>
              <a:ext cx="8875059" cy="6858000"/>
            </a:xfrm>
            <a:prstGeom prst="rect">
              <a:avLst/>
            </a:prstGeom>
          </p:spPr>
        </p:pic>
        <p:sp>
          <p:nvSpPr>
            <p:cNvPr id="2" name="TextBox 1">
              <a:extLst>
                <a:ext uri="{FF2B5EF4-FFF2-40B4-BE49-F238E27FC236}">
                  <a16:creationId xmlns:a16="http://schemas.microsoft.com/office/drawing/2014/main" id="{09E8194E-A683-47B5-8CFD-C7067749CC35}"/>
                </a:ext>
              </a:extLst>
            </p:cNvPr>
            <p:cNvSpPr txBox="1"/>
            <p:nvPr/>
          </p:nvSpPr>
          <p:spPr>
            <a:xfrm>
              <a:off x="5167086" y="1422400"/>
              <a:ext cx="79828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solidFill>
                    <a:schemeClr val="accent1">
                      <a:lumMod val="50000"/>
                    </a:schemeClr>
                  </a:solidFill>
                  <a:latin typeface="Ink Free" panose="03080402000500000000" pitchFamily="66" charset="0"/>
                </a:rPr>
                <a:t>9</a:t>
              </a:r>
              <a:r>
                <a:rPr kumimoji="0" lang="en-US" sz="1800" b="0" i="0" u="none" strike="noStrike" cap="none" spc="0" normalizeH="0" baseline="0" dirty="0">
                  <a:ln>
                    <a:noFill/>
                  </a:ln>
                  <a:solidFill>
                    <a:schemeClr val="accent1">
                      <a:lumMod val="50000"/>
                    </a:schemeClr>
                  </a:solidFill>
                  <a:effectLst/>
                  <a:uFillTx/>
                  <a:latin typeface="Ink Free" panose="03080402000500000000" pitchFamily="66" charset="0"/>
                  <a:sym typeface="Calibri"/>
                </a:rPr>
                <a:t>0%</a:t>
              </a:r>
            </a:p>
          </p:txBody>
        </p:sp>
        <p:sp>
          <p:nvSpPr>
            <p:cNvPr id="5" name="TextBox 4">
              <a:extLst>
                <a:ext uri="{FF2B5EF4-FFF2-40B4-BE49-F238E27FC236}">
                  <a16:creationId xmlns:a16="http://schemas.microsoft.com/office/drawing/2014/main" id="{4E44CA07-1C3B-64C8-F5C7-575EF55D59F8}"/>
                </a:ext>
              </a:extLst>
            </p:cNvPr>
            <p:cNvSpPr txBox="1"/>
            <p:nvPr/>
          </p:nvSpPr>
          <p:spPr>
            <a:xfrm>
              <a:off x="4760688" y="2489199"/>
              <a:ext cx="1930399" cy="11695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400" dirty="0">
                  <a:solidFill>
                    <a:schemeClr val="accent1">
                      <a:lumMod val="50000"/>
                    </a:schemeClr>
                  </a:solidFill>
                  <a:latin typeface="Ink Free" panose="03080402000500000000" pitchFamily="66" charset="0"/>
                </a:rPr>
                <a:t>Prepped workshops</a:t>
              </a:r>
            </a:p>
            <a:p>
              <a:pPr marL="0" marR="0" indent="0" algn="l" defTabSz="914400" rtl="0" fontAlgn="auto" latinLnBrk="0" hangingPunct="0">
                <a:lnSpc>
                  <a:spcPct val="100000"/>
                </a:lnSpc>
                <a:spcBef>
                  <a:spcPts val="0"/>
                </a:spcBef>
                <a:spcAft>
                  <a:spcPts val="0"/>
                </a:spcAft>
                <a:buClrTx/>
                <a:buSzTx/>
                <a:buFontTx/>
                <a:buNone/>
                <a:tabLst/>
              </a:pPr>
              <a:r>
                <a:rPr lang="en-US" sz="1400" dirty="0">
                  <a:solidFill>
                    <a:schemeClr val="accent1">
                      <a:lumMod val="50000"/>
                    </a:schemeClr>
                  </a:solidFill>
                  <a:latin typeface="Ink Free" panose="03080402000500000000" pitchFamily="66" charset="0"/>
                </a:rPr>
                <a:t>in a more disciplined </a:t>
              </a:r>
            </a:p>
            <a:p>
              <a:pPr marL="0" marR="0" indent="0" algn="l" defTabSz="914400" rtl="0" fontAlgn="auto" latinLnBrk="0" hangingPunct="0">
                <a:lnSpc>
                  <a:spcPct val="100000"/>
                </a:lnSpc>
                <a:spcBef>
                  <a:spcPts val="0"/>
                </a:spcBef>
                <a:spcAft>
                  <a:spcPts val="0"/>
                </a:spcAft>
                <a:buClrTx/>
                <a:buSzTx/>
                <a:buFontTx/>
                <a:buNone/>
                <a:tabLst/>
              </a:pPr>
              <a:r>
                <a:rPr lang="en-US" sz="1400" dirty="0">
                  <a:solidFill>
                    <a:schemeClr val="accent1">
                      <a:lumMod val="50000"/>
                    </a:schemeClr>
                  </a:solidFill>
                  <a:latin typeface="Ink Free" panose="03080402000500000000" pitchFamily="66" charset="0"/>
                </a:rPr>
                <a:t>way; </a:t>
              </a:r>
              <a:r>
                <a:rPr lang="en-US" sz="1400">
                  <a:solidFill>
                    <a:schemeClr val="accent1">
                      <a:lumMod val="50000"/>
                    </a:schemeClr>
                  </a:solidFill>
                  <a:latin typeface="Ink Free" panose="03080402000500000000" pitchFamily="66" charset="0"/>
                </a:rPr>
                <a:t>documented our</a:t>
              </a:r>
            </a:p>
            <a:p>
              <a:pPr marL="0" marR="0" indent="0" algn="l" defTabSz="914400" rtl="0" fontAlgn="auto" latinLnBrk="0" hangingPunct="0">
                <a:lnSpc>
                  <a:spcPct val="100000"/>
                </a:lnSpc>
                <a:spcBef>
                  <a:spcPts val="0"/>
                </a:spcBef>
                <a:spcAft>
                  <a:spcPts val="0"/>
                </a:spcAft>
                <a:buClrTx/>
                <a:buSzTx/>
                <a:buFontTx/>
                <a:buNone/>
                <a:tabLst/>
              </a:pPr>
              <a:r>
                <a:rPr lang="en-US" sz="1400">
                  <a:solidFill>
                    <a:schemeClr val="accent1">
                      <a:lumMod val="50000"/>
                    </a:schemeClr>
                  </a:solidFill>
                  <a:latin typeface="Ink Free" panose="03080402000500000000" pitchFamily="66" charset="0"/>
                </a:rPr>
                <a:t>3-phases </a:t>
              </a:r>
              <a:r>
                <a:rPr lang="en-US" sz="1400" dirty="0">
                  <a:solidFill>
                    <a:schemeClr val="accent1">
                      <a:lumMod val="50000"/>
                    </a:schemeClr>
                  </a:solidFill>
                  <a:latin typeface="Ink Free" panose="03080402000500000000" pitchFamily="66" charset="0"/>
                </a:rPr>
                <a:t>workflow; increased automation</a:t>
              </a:r>
              <a:endParaRPr kumimoji="0" lang="en-US" sz="1400" b="0" i="0" u="none" strike="noStrike" cap="none" spc="0" normalizeH="0" baseline="0" dirty="0">
                <a:ln>
                  <a:noFill/>
                </a:ln>
                <a:solidFill>
                  <a:schemeClr val="accent1">
                    <a:lumMod val="50000"/>
                  </a:schemeClr>
                </a:solidFill>
                <a:effectLst/>
                <a:uFillTx/>
                <a:latin typeface="Ink Free" panose="03080402000500000000" pitchFamily="66" charset="0"/>
                <a:sym typeface="Calibri"/>
              </a:endParaRPr>
            </a:p>
          </p:txBody>
        </p:sp>
        <p:sp>
          <p:nvSpPr>
            <p:cNvPr id="6" name="TextBox 5">
              <a:extLst>
                <a:ext uri="{FF2B5EF4-FFF2-40B4-BE49-F238E27FC236}">
                  <a16:creationId xmlns:a16="http://schemas.microsoft.com/office/drawing/2014/main" id="{BE5CD3D3-AAD8-264F-760A-333B7C9A64CD}"/>
                </a:ext>
              </a:extLst>
            </p:cNvPr>
            <p:cNvSpPr txBox="1"/>
            <p:nvPr/>
          </p:nvSpPr>
          <p:spPr>
            <a:xfrm>
              <a:off x="4767946" y="3759199"/>
              <a:ext cx="1930399" cy="1384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400" dirty="0">
                  <a:solidFill>
                    <a:schemeClr val="accent1">
                      <a:lumMod val="50000"/>
                    </a:schemeClr>
                  </a:solidFill>
                  <a:latin typeface="Ink Free" panose="03080402000500000000" pitchFamily="66" charset="0"/>
                </a:rPr>
                <a:t>Instead of being anxious &amp; stressed, I am more at peace &amp; enjoying the increased workload &amp; every workshop</a:t>
              </a:r>
              <a:endParaRPr kumimoji="0" lang="en-US" sz="1400" b="0" i="0" u="none" strike="noStrike" cap="none" spc="0" normalizeH="0" baseline="0" dirty="0">
                <a:ln>
                  <a:noFill/>
                </a:ln>
                <a:solidFill>
                  <a:schemeClr val="accent1">
                    <a:lumMod val="50000"/>
                  </a:schemeClr>
                </a:solidFill>
                <a:effectLst/>
                <a:uFillTx/>
                <a:latin typeface="Ink Free" panose="03080402000500000000" pitchFamily="66" charset="0"/>
                <a:sym typeface="Calibri"/>
              </a:endParaRPr>
            </a:p>
          </p:txBody>
        </p:sp>
        <p:sp>
          <p:nvSpPr>
            <p:cNvPr id="7" name="TextBox 6">
              <a:extLst>
                <a:ext uri="{FF2B5EF4-FFF2-40B4-BE49-F238E27FC236}">
                  <a16:creationId xmlns:a16="http://schemas.microsoft.com/office/drawing/2014/main" id="{5103C410-6079-10FA-3B37-1F398F489CA4}"/>
                </a:ext>
              </a:extLst>
            </p:cNvPr>
            <p:cNvSpPr txBox="1"/>
            <p:nvPr/>
          </p:nvSpPr>
          <p:spPr>
            <a:xfrm>
              <a:off x="3327852" y="1449540"/>
              <a:ext cx="79828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chemeClr val="accent1">
                      <a:lumMod val="50000"/>
                    </a:schemeClr>
                  </a:solidFill>
                  <a:effectLst/>
                  <a:uFillTx/>
                  <a:latin typeface="Ink Free" panose="03080402000500000000" pitchFamily="66" charset="0"/>
                  <a:sym typeface="Calibri"/>
                </a:rPr>
                <a:t>8</a:t>
              </a:r>
              <a:r>
                <a:rPr lang="en-US" dirty="0">
                  <a:solidFill>
                    <a:schemeClr val="accent1">
                      <a:lumMod val="50000"/>
                    </a:schemeClr>
                  </a:solidFill>
                  <a:latin typeface="Ink Free" panose="03080402000500000000" pitchFamily="66" charset="0"/>
                </a:rPr>
                <a:t>5</a:t>
              </a:r>
              <a:r>
                <a:rPr kumimoji="0" lang="en-US" sz="1800" b="0" i="0" u="none" strike="noStrike" cap="none" spc="0" normalizeH="0" baseline="0" dirty="0">
                  <a:ln>
                    <a:noFill/>
                  </a:ln>
                  <a:solidFill>
                    <a:schemeClr val="accent1">
                      <a:lumMod val="50000"/>
                    </a:schemeClr>
                  </a:solidFill>
                  <a:effectLst/>
                  <a:uFillTx/>
                  <a:latin typeface="Ink Free" panose="03080402000500000000" pitchFamily="66" charset="0"/>
                  <a:sym typeface="Calibri"/>
                </a:rPr>
                <a:t>%</a:t>
              </a:r>
            </a:p>
          </p:txBody>
        </p:sp>
      </p:grpSp>
      <p:pic>
        <p:nvPicPr>
          <p:cNvPr id="17" name="Picture 16" descr="Text  Description automatically generated">
            <a:extLst>
              <a:ext uri="{FF2B5EF4-FFF2-40B4-BE49-F238E27FC236}">
                <a16:creationId xmlns:a16="http://schemas.microsoft.com/office/drawing/2014/main" id="{3CE6788F-2B50-E614-535E-A2909F21C7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74849" y="75475"/>
            <a:ext cx="1529937" cy="378235"/>
          </a:xfrm>
          <a:prstGeom prst="rect">
            <a:avLst/>
          </a:prstGeom>
        </p:spPr>
      </p:pic>
      <p:sp>
        <p:nvSpPr>
          <p:cNvPr id="9" name="Rectangle 8">
            <a:extLst>
              <a:ext uri="{FF2B5EF4-FFF2-40B4-BE49-F238E27FC236}">
                <a16:creationId xmlns:a16="http://schemas.microsoft.com/office/drawing/2014/main" id="{93A70382-2AC6-4C49-8D0F-1665136DC5E2}"/>
              </a:ext>
            </a:extLst>
          </p:cNvPr>
          <p:cNvSpPr/>
          <p:nvPr/>
        </p:nvSpPr>
        <p:spPr>
          <a:xfrm>
            <a:off x="8677663" y="90075"/>
            <a:ext cx="1694330" cy="727270"/>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11" name="Rectangle 10">
            <a:extLst>
              <a:ext uri="{FF2B5EF4-FFF2-40B4-BE49-F238E27FC236}">
                <a16:creationId xmlns:a16="http://schemas.microsoft.com/office/drawing/2014/main" id="{AC8F8F8A-0F17-EF18-ECA9-191A228CB7D2}"/>
              </a:ext>
            </a:extLst>
          </p:cNvPr>
          <p:cNvSpPr/>
          <p:nvPr/>
        </p:nvSpPr>
        <p:spPr>
          <a:xfrm>
            <a:off x="3887763" y="0"/>
            <a:ext cx="4553727" cy="923100"/>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grpSp>
        <p:nvGrpSpPr>
          <p:cNvPr id="15" name="Group 14">
            <a:extLst>
              <a:ext uri="{FF2B5EF4-FFF2-40B4-BE49-F238E27FC236}">
                <a16:creationId xmlns:a16="http://schemas.microsoft.com/office/drawing/2014/main" id="{4DA482EF-533E-1D69-E35E-429B0EF1BD5E}"/>
              </a:ext>
            </a:extLst>
          </p:cNvPr>
          <p:cNvGrpSpPr/>
          <p:nvPr/>
        </p:nvGrpSpPr>
        <p:grpSpPr>
          <a:xfrm>
            <a:off x="0" y="140448"/>
            <a:ext cx="12191999" cy="782652"/>
            <a:chOff x="0" y="140448"/>
            <a:chExt cx="12191999" cy="782652"/>
          </a:xfrm>
        </p:grpSpPr>
        <p:grpSp>
          <p:nvGrpSpPr>
            <p:cNvPr id="16" name="Group 15">
              <a:extLst>
                <a:ext uri="{FF2B5EF4-FFF2-40B4-BE49-F238E27FC236}">
                  <a16:creationId xmlns:a16="http://schemas.microsoft.com/office/drawing/2014/main" id="{82B331A3-0C44-762C-2D49-F3F668B2F438}"/>
                </a:ext>
              </a:extLst>
            </p:cNvPr>
            <p:cNvGrpSpPr/>
            <p:nvPr/>
          </p:nvGrpSpPr>
          <p:grpSpPr>
            <a:xfrm>
              <a:off x="0" y="140448"/>
              <a:ext cx="12191999" cy="469136"/>
              <a:chOff x="0" y="140448"/>
              <a:chExt cx="12191999" cy="469136"/>
            </a:xfrm>
            <a:noFill/>
          </p:grpSpPr>
          <p:sp>
            <p:nvSpPr>
              <p:cNvPr id="19" name="Rectangle 18">
                <a:extLst>
                  <a:ext uri="{FF2B5EF4-FFF2-40B4-BE49-F238E27FC236}">
                    <a16:creationId xmlns:a16="http://schemas.microsoft.com/office/drawing/2014/main" id="{43F79CF0-3EE2-F860-88A1-6CB16CBEDE24}"/>
                  </a:ext>
                </a:extLst>
              </p:cNvPr>
              <p:cNvSpPr/>
              <p:nvPr/>
            </p:nvSpPr>
            <p:spPr>
              <a:xfrm>
                <a:off x="0" y="178699"/>
                <a:ext cx="12191999" cy="430885"/>
              </a:xfrm>
              <a:prstGeom prst="rect">
                <a:avLst/>
              </a:prstGeom>
              <a:grp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200" b="0" i="0" u="none" strike="noStrike" cap="none" spc="0" normalizeH="0" baseline="0">
                    <a:ln>
                      <a:noFill/>
                    </a:ln>
                    <a:solidFill>
                      <a:srgbClr val="722B90"/>
                    </a:solidFill>
                    <a:effectLst/>
                    <a:uFillTx/>
                    <a:latin typeface="Brittany Signature" pitchFamily="2" charset="0"/>
                    <a:sym typeface="Calibri"/>
                  </a:rPr>
                  <a:t>Shine </a:t>
                </a:r>
                <a:r>
                  <a:rPr kumimoji="0" lang="en-US" sz="2100" b="0" i="0" u="none" strike="noStrike" cap="none" spc="0" normalizeH="0" baseline="0">
                    <a:ln>
                      <a:noFill/>
                    </a:ln>
                    <a:solidFill>
                      <a:srgbClr val="722B90"/>
                    </a:solidFill>
                    <a:effectLst/>
                    <a:uFillTx/>
                    <a:latin typeface="Brittany Signature" pitchFamily="2" charset="0"/>
                    <a:sym typeface="Calibri"/>
                  </a:rPr>
                  <a:t>F</a:t>
                </a:r>
                <a:r>
                  <a:rPr kumimoji="0" lang="en-US" sz="2200" b="0" i="0" u="none" strike="noStrike" cap="none" spc="0" normalizeH="0" baseline="0">
                    <a:ln>
                      <a:noFill/>
                    </a:ln>
                    <a:solidFill>
                      <a:srgbClr val="722B90"/>
                    </a:solidFill>
                    <a:effectLst/>
                    <a:uFillTx/>
                    <a:latin typeface="Brittany Signature" pitchFamily="2" charset="0"/>
                    <a:sym typeface="Calibri"/>
                  </a:rPr>
                  <a:t>rom Your Original Design</a:t>
                </a:r>
              </a:p>
            </p:txBody>
          </p:sp>
          <p:sp>
            <p:nvSpPr>
              <p:cNvPr id="20" name="TextBox 19">
                <a:extLst>
                  <a:ext uri="{FF2B5EF4-FFF2-40B4-BE49-F238E27FC236}">
                    <a16:creationId xmlns:a16="http://schemas.microsoft.com/office/drawing/2014/main" id="{4D4DC6D6-871F-3F7B-21B3-C33AAA91133B}"/>
                  </a:ext>
                </a:extLst>
              </p:cNvPr>
              <p:cNvSpPr txBox="1"/>
              <p:nvPr/>
            </p:nvSpPr>
            <p:spPr>
              <a:xfrm>
                <a:off x="7908484" y="140448"/>
                <a:ext cx="209351" cy="36933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a:ln>
                      <a:noFill/>
                    </a:ln>
                    <a:solidFill>
                      <a:srgbClr val="722B90"/>
                    </a:solidFill>
                    <a:effectLst/>
                    <a:uFillTx/>
                    <a:latin typeface="+mj-lt"/>
                    <a:ea typeface="+mj-ea"/>
                    <a:cs typeface="+mj-cs"/>
                    <a:sym typeface="Calibri"/>
                  </a:rPr>
                  <a:t>®</a:t>
                </a:r>
              </a:p>
            </p:txBody>
          </p:sp>
        </p:grpSp>
        <p:sp>
          <p:nvSpPr>
            <p:cNvPr id="18" name="TextBox 17">
              <a:extLst>
                <a:ext uri="{FF2B5EF4-FFF2-40B4-BE49-F238E27FC236}">
                  <a16:creationId xmlns:a16="http://schemas.microsoft.com/office/drawing/2014/main" id="{9C1349CE-644E-C857-B3B3-995C88E7EF9F}"/>
                </a:ext>
              </a:extLst>
            </p:cNvPr>
            <p:cNvSpPr txBox="1"/>
            <p:nvPr/>
          </p:nvSpPr>
          <p:spPr>
            <a:xfrm>
              <a:off x="0" y="584548"/>
              <a:ext cx="12191999" cy="3385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a:ln>
                    <a:noFill/>
                  </a:ln>
                  <a:solidFill>
                    <a:srgbClr val="000000"/>
                  </a:solidFill>
                  <a:effectLst/>
                  <a:uFillTx/>
                  <a:latin typeface="Montserrat" pitchFamily="2" charset="0"/>
                  <a:sym typeface="Calibri"/>
                </a:rPr>
                <a:t>Activate Your Superpowers 2024</a:t>
              </a:r>
            </a:p>
          </p:txBody>
        </p:sp>
      </p:grpSp>
      <p:sp>
        <p:nvSpPr>
          <p:cNvPr id="21" name="Rectangle 20">
            <a:extLst>
              <a:ext uri="{FF2B5EF4-FFF2-40B4-BE49-F238E27FC236}">
                <a16:creationId xmlns:a16="http://schemas.microsoft.com/office/drawing/2014/main" id="{63E1F27C-7FA0-B26A-F0AD-AA3445E23FDC}"/>
              </a:ext>
            </a:extLst>
          </p:cNvPr>
          <p:cNvSpPr/>
          <p:nvPr/>
        </p:nvSpPr>
        <p:spPr>
          <a:xfrm>
            <a:off x="5295900" y="6693592"/>
            <a:ext cx="1790700" cy="212033"/>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22" name="Footer Placeholder 14">
            <a:extLst>
              <a:ext uri="{FF2B5EF4-FFF2-40B4-BE49-F238E27FC236}">
                <a16:creationId xmlns:a16="http://schemas.microsoft.com/office/drawing/2014/main" id="{07203818-D88E-65D2-FEAA-68A1CB42E445}"/>
              </a:ext>
            </a:extLst>
          </p:cNvPr>
          <p:cNvSpPr txBox="1">
            <a:spLocks/>
          </p:cNvSpPr>
          <p:nvPr/>
        </p:nvSpPr>
        <p:spPr>
          <a:xfrm>
            <a:off x="4278973" y="6634892"/>
            <a:ext cx="3634049" cy="217015"/>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pPr algn="ctr"/>
            <a:r>
              <a:rPr lang="en-US" sz="800">
                <a:solidFill>
                  <a:schemeClr val="tx1"/>
                </a:solidFill>
                <a:latin typeface="Montserrat ExtraLight" pitchFamily="2" charset="77"/>
              </a:rPr>
              <a:t>©2023 </a:t>
            </a:r>
            <a:r>
              <a:rPr lang="en-US" sz="800" dirty="0" err="1">
                <a:solidFill>
                  <a:schemeClr val="tx1"/>
                </a:solidFill>
                <a:latin typeface="Montserrat ExtraLight" pitchFamily="2" charset="77"/>
              </a:rPr>
              <a:t>Parillume</a:t>
            </a:r>
            <a:r>
              <a:rPr lang="en-US" sz="800" dirty="0">
                <a:solidFill>
                  <a:schemeClr val="tx1"/>
                </a:solidFill>
                <a:latin typeface="Montserrat ExtraLight" pitchFamily="2" charset="77"/>
              </a:rPr>
              <a:t> All rights reserved</a:t>
            </a:r>
          </a:p>
        </p:txBody>
      </p:sp>
      <p:sp>
        <p:nvSpPr>
          <p:cNvPr id="24" name="Rectangle 23">
            <a:extLst>
              <a:ext uri="{FF2B5EF4-FFF2-40B4-BE49-F238E27FC236}">
                <a16:creationId xmlns:a16="http://schemas.microsoft.com/office/drawing/2014/main" id="{99AEA902-0B0B-17D5-9731-974FD10875EF}"/>
              </a:ext>
            </a:extLst>
          </p:cNvPr>
          <p:cNvSpPr/>
          <p:nvPr/>
        </p:nvSpPr>
        <p:spPr>
          <a:xfrm>
            <a:off x="1507117" y="99597"/>
            <a:ext cx="1694330" cy="727270"/>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10" name="TextBox 9">
            <a:extLst>
              <a:ext uri="{FF2B5EF4-FFF2-40B4-BE49-F238E27FC236}">
                <a16:creationId xmlns:a16="http://schemas.microsoft.com/office/drawing/2014/main" id="{9D008C94-7230-9ECC-A11C-880BC7FFA82B}"/>
              </a:ext>
            </a:extLst>
          </p:cNvPr>
          <p:cNvSpPr txBox="1"/>
          <p:nvPr/>
        </p:nvSpPr>
        <p:spPr>
          <a:xfrm>
            <a:off x="6989" y="6494907"/>
            <a:ext cx="1227922" cy="363818"/>
          </a:xfrm>
          <a:prstGeom prst="rect">
            <a:avLst/>
          </a:prstGeom>
          <a:noFill/>
        </p:spPr>
        <p:txBody>
          <a:bodyPr wrap="square" rtlCol="0">
            <a:spAutoFit/>
          </a:bodyPr>
          <a:lstStyle/>
          <a:p>
            <a:pPr algn="ctr"/>
            <a:r>
              <a:rPr lang="en-US" sz="882">
                <a:solidFill>
                  <a:schemeClr val="tx1">
                    <a:lumMod val="50000"/>
                    <a:lumOff val="50000"/>
                  </a:schemeClr>
                </a:solidFill>
                <a:latin typeface="Montserrat ExtraLight" panose="00000300000000000000" pitchFamily="2" charset="0"/>
              </a:rPr>
              <a:t>Customer Success</a:t>
            </a:r>
          </a:p>
          <a:p>
            <a:pPr algn="ctr"/>
            <a:r>
              <a:rPr lang="en-US" sz="882">
                <a:solidFill>
                  <a:schemeClr val="tx1">
                    <a:lumMod val="50000"/>
                    <a:lumOff val="50000"/>
                  </a:schemeClr>
                </a:solidFill>
                <a:latin typeface="Montserrat ExtraLight" panose="00000300000000000000" pitchFamily="2" charset="0"/>
              </a:rPr>
              <a:t>Team Workshop</a:t>
            </a:r>
            <a:endParaRPr lang="en-US" sz="882" dirty="0">
              <a:solidFill>
                <a:schemeClr val="tx1">
                  <a:lumMod val="50000"/>
                  <a:lumOff val="50000"/>
                </a:schemeClr>
              </a:solidFill>
              <a:latin typeface="Montserrat ExtraLight" panose="00000300000000000000" pitchFamily="2" charset="0"/>
            </a:endParaRPr>
          </a:p>
        </p:txBody>
      </p:sp>
    </p:spTree>
    <p:extLst>
      <p:ext uri="{BB962C8B-B14F-4D97-AF65-F5344CB8AC3E}">
        <p14:creationId xmlns:p14="http://schemas.microsoft.com/office/powerpoint/2010/main" val="240174167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9E77D27-E8D9-8C41-A335-82E8B3EEEBFF}"/>
              </a:ext>
            </a:extLst>
          </p:cNvPr>
          <p:cNvSpPr/>
          <p:nvPr/>
        </p:nvSpPr>
        <p:spPr>
          <a:xfrm>
            <a:off x="8958278" y="75475"/>
            <a:ext cx="1416571" cy="531627"/>
          </a:xfrm>
          <a:prstGeom prst="rect">
            <a:avLst/>
          </a:prstGeom>
          <a:solidFill>
            <a:schemeClr val="bg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17" name="TextBox 16">
            <a:extLst>
              <a:ext uri="{FF2B5EF4-FFF2-40B4-BE49-F238E27FC236}">
                <a16:creationId xmlns:a16="http://schemas.microsoft.com/office/drawing/2014/main" id="{A84039F1-BCF1-9250-6DE5-02F3918CFB01}"/>
              </a:ext>
            </a:extLst>
          </p:cNvPr>
          <p:cNvSpPr txBox="1"/>
          <p:nvPr/>
        </p:nvSpPr>
        <p:spPr>
          <a:xfrm>
            <a:off x="9737848" y="6590625"/>
            <a:ext cx="244997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r>
              <a:rPr lang="en-US" sz="600" b="0" i="0">
                <a:solidFill>
                  <a:schemeClr val="bg1">
                    <a:lumMod val="65000"/>
                  </a:schemeClr>
                </a:solidFill>
                <a:effectLst/>
                <a:latin typeface="Montserrat" pitchFamily="2" charset="0"/>
              </a:rPr>
              <a:t>Myers-Briggs® is a registered trademark of Myers &amp; Briggs Foundation in the United States and other countries.</a:t>
            </a:r>
          </a:p>
        </p:txBody>
      </p:sp>
      <p:sp>
        <p:nvSpPr>
          <p:cNvPr id="29" name="TextBox 28">
            <a:extLst>
              <a:ext uri="{FF2B5EF4-FFF2-40B4-BE49-F238E27FC236}">
                <a16:creationId xmlns:a16="http://schemas.microsoft.com/office/drawing/2014/main" id="{1B7C1D04-605F-25D1-10BB-9ABD67AFB391}"/>
              </a:ext>
            </a:extLst>
          </p:cNvPr>
          <p:cNvSpPr txBox="1"/>
          <p:nvPr/>
        </p:nvSpPr>
        <p:spPr>
          <a:xfrm>
            <a:off x="1306532" y="6615260"/>
            <a:ext cx="236219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800" b="0" i="0">
                <a:solidFill>
                  <a:srgbClr val="A0A0A0"/>
                </a:solidFill>
                <a:effectLst/>
                <a:latin typeface="Montserrat" pitchFamily="2" charset="0"/>
              </a:rPr>
              <a:t>©2016 Parillume All rights reserved</a:t>
            </a:r>
            <a:endParaRPr lang="en-US" sz="800" b="0" i="0">
              <a:solidFill>
                <a:srgbClr val="EDEDED"/>
              </a:solidFill>
              <a:effectLst/>
              <a:latin typeface="Montserrat" pitchFamily="2" charset="0"/>
            </a:endParaRPr>
          </a:p>
        </p:txBody>
      </p:sp>
    </p:spTree>
    <p:extLst>
      <p:ext uri="{BB962C8B-B14F-4D97-AF65-F5344CB8AC3E}">
        <p14:creationId xmlns:p14="http://schemas.microsoft.com/office/powerpoint/2010/main" val="389713599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9E77D27-E8D9-8C41-A335-82E8B3EEEBFF}"/>
              </a:ext>
            </a:extLst>
          </p:cNvPr>
          <p:cNvSpPr/>
          <p:nvPr/>
        </p:nvSpPr>
        <p:spPr>
          <a:xfrm>
            <a:off x="8958278" y="75475"/>
            <a:ext cx="1416571" cy="531627"/>
          </a:xfrm>
          <a:prstGeom prst="rect">
            <a:avLst/>
          </a:prstGeom>
          <a:solidFill>
            <a:schemeClr val="bg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pic>
        <p:nvPicPr>
          <p:cNvPr id="8" name="Picture 7" descr="Text  Description automatically generated">
            <a:extLst>
              <a:ext uri="{FF2B5EF4-FFF2-40B4-BE49-F238E27FC236}">
                <a16:creationId xmlns:a16="http://schemas.microsoft.com/office/drawing/2014/main" id="{82EA5368-D2EE-F64D-9837-D6EEBADE13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94758" y="70002"/>
            <a:ext cx="1838856" cy="454606"/>
          </a:xfrm>
          <a:prstGeom prst="rect">
            <a:avLst/>
          </a:prstGeom>
        </p:spPr>
      </p:pic>
      <p:pic>
        <p:nvPicPr>
          <p:cNvPr id="2" name="Picture 1" descr="A logo for a company  Description automatically generated">
            <a:extLst>
              <a:ext uri="{FF2B5EF4-FFF2-40B4-BE49-F238E27FC236}">
                <a16:creationId xmlns:a16="http://schemas.microsoft.com/office/drawing/2014/main" id="{8422C78C-F799-9CE2-9463-81214B8D2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036" y="25525"/>
            <a:ext cx="1302542" cy="801342"/>
          </a:xfrm>
          <a:prstGeom prst="rect">
            <a:avLst/>
          </a:prstGeom>
        </p:spPr>
      </p:pic>
      <p:grpSp>
        <p:nvGrpSpPr>
          <p:cNvPr id="25" name="Group 24">
            <a:extLst>
              <a:ext uri="{FF2B5EF4-FFF2-40B4-BE49-F238E27FC236}">
                <a16:creationId xmlns:a16="http://schemas.microsoft.com/office/drawing/2014/main" id="{496D5F5D-24FA-4FC8-52B3-6DA5A39B8E1A}"/>
              </a:ext>
            </a:extLst>
          </p:cNvPr>
          <p:cNvGrpSpPr/>
          <p:nvPr/>
        </p:nvGrpSpPr>
        <p:grpSpPr>
          <a:xfrm>
            <a:off x="0" y="140448"/>
            <a:ext cx="12191999" cy="469136"/>
            <a:chOff x="0" y="140448"/>
            <a:chExt cx="12191999" cy="469136"/>
          </a:xfrm>
          <a:noFill/>
        </p:grpSpPr>
        <p:sp>
          <p:nvSpPr>
            <p:cNvPr id="26" name="Rectangle 25">
              <a:extLst>
                <a:ext uri="{FF2B5EF4-FFF2-40B4-BE49-F238E27FC236}">
                  <a16:creationId xmlns:a16="http://schemas.microsoft.com/office/drawing/2014/main" id="{5FB85BDD-0555-5BC5-5B06-0DDD83695D12}"/>
                </a:ext>
              </a:extLst>
            </p:cNvPr>
            <p:cNvSpPr/>
            <p:nvPr/>
          </p:nvSpPr>
          <p:spPr>
            <a:xfrm>
              <a:off x="0" y="178699"/>
              <a:ext cx="12191999" cy="430885"/>
            </a:xfrm>
            <a:prstGeom prst="rect">
              <a:avLst/>
            </a:prstGeom>
            <a:grp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200" b="0" i="0" u="none" strike="noStrike" cap="none" spc="0" normalizeH="0" baseline="0">
                  <a:ln>
                    <a:noFill/>
                  </a:ln>
                  <a:solidFill>
                    <a:srgbClr val="722B90"/>
                  </a:solidFill>
                  <a:effectLst/>
                  <a:uFillTx/>
                  <a:latin typeface="Brittany Signature" pitchFamily="2" charset="0"/>
                  <a:sym typeface="Calibri"/>
                </a:rPr>
                <a:t>Shine </a:t>
              </a:r>
              <a:r>
                <a:rPr kumimoji="0" lang="en-US" sz="2100" b="0" i="0" u="none" strike="noStrike" cap="none" spc="0" normalizeH="0" baseline="0">
                  <a:ln>
                    <a:noFill/>
                  </a:ln>
                  <a:solidFill>
                    <a:srgbClr val="722B90"/>
                  </a:solidFill>
                  <a:effectLst/>
                  <a:uFillTx/>
                  <a:latin typeface="Brittany Signature" pitchFamily="2" charset="0"/>
                  <a:sym typeface="Calibri"/>
                </a:rPr>
                <a:t>F</a:t>
              </a:r>
              <a:r>
                <a:rPr kumimoji="0" lang="en-US" sz="2200" b="0" i="0" u="none" strike="noStrike" cap="none" spc="0" normalizeH="0" baseline="0">
                  <a:ln>
                    <a:noFill/>
                  </a:ln>
                  <a:solidFill>
                    <a:srgbClr val="722B90"/>
                  </a:solidFill>
                  <a:effectLst/>
                  <a:uFillTx/>
                  <a:latin typeface="Brittany Signature" pitchFamily="2" charset="0"/>
                  <a:sym typeface="Calibri"/>
                </a:rPr>
                <a:t>rom Your Original Design</a:t>
              </a:r>
            </a:p>
          </p:txBody>
        </p:sp>
        <p:sp>
          <p:nvSpPr>
            <p:cNvPr id="27" name="TextBox 26">
              <a:extLst>
                <a:ext uri="{FF2B5EF4-FFF2-40B4-BE49-F238E27FC236}">
                  <a16:creationId xmlns:a16="http://schemas.microsoft.com/office/drawing/2014/main" id="{7D26FE19-09D9-BC34-A577-F5E29662217B}"/>
                </a:ext>
              </a:extLst>
            </p:cNvPr>
            <p:cNvSpPr txBox="1"/>
            <p:nvPr/>
          </p:nvSpPr>
          <p:spPr>
            <a:xfrm>
              <a:off x="7908484" y="140448"/>
              <a:ext cx="209351" cy="36933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a:ln>
                    <a:noFill/>
                  </a:ln>
                  <a:solidFill>
                    <a:srgbClr val="722B90"/>
                  </a:solidFill>
                  <a:effectLst/>
                  <a:uFillTx/>
                  <a:latin typeface="+mj-lt"/>
                  <a:ea typeface="+mj-ea"/>
                  <a:cs typeface="+mj-cs"/>
                  <a:sym typeface="Calibri"/>
                </a:rPr>
                <a:t>®</a:t>
              </a:r>
            </a:p>
          </p:txBody>
        </p:sp>
      </p:grpSp>
      <p:sp>
        <p:nvSpPr>
          <p:cNvPr id="29" name="TextBox 28">
            <a:extLst>
              <a:ext uri="{FF2B5EF4-FFF2-40B4-BE49-F238E27FC236}">
                <a16:creationId xmlns:a16="http://schemas.microsoft.com/office/drawing/2014/main" id="{1B7C1D04-605F-25D1-10BB-9ABD67AFB391}"/>
              </a:ext>
            </a:extLst>
          </p:cNvPr>
          <p:cNvSpPr txBox="1"/>
          <p:nvPr/>
        </p:nvSpPr>
        <p:spPr>
          <a:xfrm>
            <a:off x="1306532" y="6615260"/>
            <a:ext cx="236219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800" b="0" i="0">
                <a:solidFill>
                  <a:srgbClr val="A0A0A0"/>
                </a:solidFill>
                <a:effectLst/>
                <a:latin typeface="Montserrat" pitchFamily="2" charset="0"/>
              </a:rPr>
              <a:t>©2016 Parillume All rights reserved</a:t>
            </a:r>
            <a:endParaRPr lang="en-US" sz="800" b="0" i="0">
              <a:solidFill>
                <a:srgbClr val="EDEDED"/>
              </a:solidFill>
              <a:effectLst/>
              <a:latin typeface="Montserrat" pitchFamily="2" charset="0"/>
            </a:endParaRPr>
          </a:p>
        </p:txBody>
      </p:sp>
      <p:sp>
        <p:nvSpPr>
          <p:cNvPr id="30" name="TextBox 29">
            <a:extLst>
              <a:ext uri="{FF2B5EF4-FFF2-40B4-BE49-F238E27FC236}">
                <a16:creationId xmlns:a16="http://schemas.microsoft.com/office/drawing/2014/main" id="{3FC44E06-FF2B-E887-C2CC-B15038A574D7}"/>
              </a:ext>
            </a:extLst>
          </p:cNvPr>
          <p:cNvSpPr txBox="1"/>
          <p:nvPr/>
        </p:nvSpPr>
        <p:spPr>
          <a:xfrm>
            <a:off x="6721068" y="6582860"/>
            <a:ext cx="5463943"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r>
              <a:rPr lang="en-US" sz="600" b="0" i="0">
                <a:solidFill>
                  <a:schemeClr val="bg1">
                    <a:lumMod val="65000"/>
                  </a:schemeClr>
                </a:solidFill>
                <a:effectLst/>
                <a:latin typeface="Montserrat" pitchFamily="2" charset="0"/>
              </a:rPr>
              <a:t>This material contains trademarks of GALLUP®. The non-Gallup information you are receiving has not been approved and is not sanctioned or endorsed by Gallup in any way. Opinions, views and interpretations of CliftonStrengths® are solely the beliefs of Parillume.</a:t>
            </a:r>
            <a:endParaRPr lang="en-US" sz="600">
              <a:solidFill>
                <a:schemeClr val="bg1">
                  <a:lumMod val="65000"/>
                </a:schemeClr>
              </a:solidFill>
            </a:endParaRPr>
          </a:p>
        </p:txBody>
      </p:sp>
      <p:sp>
        <p:nvSpPr>
          <p:cNvPr id="4" name="TextBox 3">
            <a:extLst>
              <a:ext uri="{FF2B5EF4-FFF2-40B4-BE49-F238E27FC236}">
                <a16:creationId xmlns:a16="http://schemas.microsoft.com/office/drawing/2014/main" id="{BE8E7E90-E449-C8C6-3028-9CC09F4D2DA9}"/>
              </a:ext>
            </a:extLst>
          </p:cNvPr>
          <p:cNvSpPr txBox="1"/>
          <p:nvPr/>
        </p:nvSpPr>
        <p:spPr>
          <a:xfrm>
            <a:off x="6989" y="6494907"/>
            <a:ext cx="1227922" cy="363818"/>
          </a:xfrm>
          <a:prstGeom prst="rect">
            <a:avLst/>
          </a:prstGeom>
          <a:noFill/>
        </p:spPr>
        <p:txBody>
          <a:bodyPr wrap="square" rtlCol="0">
            <a:spAutoFit/>
          </a:bodyPr>
          <a:lstStyle/>
          <a:p>
            <a:pPr algn="ctr"/>
            <a:r>
              <a:rPr lang="en-US" sz="882">
                <a:solidFill>
                  <a:schemeClr val="tx1">
                    <a:lumMod val="50000"/>
                    <a:lumOff val="50000"/>
                  </a:schemeClr>
                </a:solidFill>
                <a:latin typeface="Montserrat ExtraLight" panose="00000300000000000000" pitchFamily="2" charset="0"/>
              </a:rPr>
              <a:t>Customer Success</a:t>
            </a:r>
          </a:p>
          <a:p>
            <a:pPr algn="ctr"/>
            <a:r>
              <a:rPr lang="en-US" sz="882">
                <a:solidFill>
                  <a:schemeClr val="tx1">
                    <a:lumMod val="50000"/>
                    <a:lumOff val="50000"/>
                  </a:schemeClr>
                </a:solidFill>
                <a:latin typeface="Montserrat ExtraLight" panose="00000300000000000000" pitchFamily="2" charset="0"/>
              </a:rPr>
              <a:t>Team Workshop</a:t>
            </a:r>
            <a:endParaRPr lang="en-US" sz="882" dirty="0">
              <a:solidFill>
                <a:schemeClr val="tx1">
                  <a:lumMod val="50000"/>
                  <a:lumOff val="50000"/>
                </a:schemeClr>
              </a:solidFill>
              <a:latin typeface="Montserrat ExtraLight" panose="00000300000000000000" pitchFamily="2" charset="0"/>
            </a:endParaRPr>
          </a:p>
        </p:txBody>
      </p:sp>
      <p:pic>
        <p:nvPicPr>
          <p:cNvPr id="9" name="Picture 8">
            <a:extLst>
              <a:ext uri="{FF2B5EF4-FFF2-40B4-BE49-F238E27FC236}">
                <a16:creationId xmlns:a16="http://schemas.microsoft.com/office/drawing/2014/main" id="{EF0444B9-6C74-31C3-C2CA-EC393B21170C}"/>
              </a:ext>
            </a:extLst>
          </p:cNvPr>
          <p:cNvPicPr>
            <a:picLocks noChangeAspect="1"/>
          </p:cNvPicPr>
          <p:nvPr/>
        </p:nvPicPr>
        <p:blipFill>
          <a:blip r:embed="rId5"/>
          <a:stretch>
            <a:fillRect/>
          </a:stretch>
        </p:blipFill>
        <p:spPr>
          <a:xfrm>
            <a:off x="697251" y="1026445"/>
            <a:ext cx="10609598" cy="5451283"/>
          </a:xfrm>
          <a:prstGeom prst="rect">
            <a:avLst/>
          </a:prstGeom>
        </p:spPr>
      </p:pic>
      <p:sp>
        <p:nvSpPr>
          <p:cNvPr id="10" name="TextBox 9">
            <a:extLst>
              <a:ext uri="{FF2B5EF4-FFF2-40B4-BE49-F238E27FC236}">
                <a16:creationId xmlns:a16="http://schemas.microsoft.com/office/drawing/2014/main" id="{B4F43A73-F943-6BAC-F267-C46AFDD31238}"/>
              </a:ext>
            </a:extLst>
          </p:cNvPr>
          <p:cNvSpPr txBox="1"/>
          <p:nvPr/>
        </p:nvSpPr>
        <p:spPr>
          <a:xfrm>
            <a:off x="0" y="584548"/>
            <a:ext cx="12191999" cy="3385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a:ln>
                  <a:noFill/>
                </a:ln>
                <a:solidFill>
                  <a:srgbClr val="000000"/>
                </a:solidFill>
                <a:effectLst/>
                <a:uFillTx/>
                <a:latin typeface="Montserrat" pitchFamily="2" charset="0"/>
                <a:sym typeface="Calibri"/>
              </a:rPr>
              <a:t>Njevity Customer Success Team</a:t>
            </a:r>
          </a:p>
        </p:txBody>
      </p:sp>
    </p:spTree>
    <p:extLst>
      <p:ext uri="{BB962C8B-B14F-4D97-AF65-F5344CB8AC3E}">
        <p14:creationId xmlns:p14="http://schemas.microsoft.com/office/powerpoint/2010/main" val="358213019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82CB81B-FABF-C895-E80D-3CC1623E5090}"/>
              </a:ext>
            </a:extLst>
          </p:cNvPr>
          <p:cNvPicPr>
            <a:picLocks noChangeAspect="1"/>
          </p:cNvPicPr>
          <p:nvPr/>
        </p:nvPicPr>
        <p:blipFill>
          <a:blip r:embed="rId3"/>
          <a:stretch>
            <a:fillRect/>
          </a:stretch>
        </p:blipFill>
        <p:spPr>
          <a:xfrm>
            <a:off x="1923068" y="1018478"/>
            <a:ext cx="8110375" cy="5716912"/>
          </a:xfrm>
          <a:prstGeom prst="rect">
            <a:avLst/>
          </a:prstGeom>
        </p:spPr>
      </p:pic>
      <p:sp>
        <p:nvSpPr>
          <p:cNvPr id="6" name="Rectangle 5">
            <a:extLst>
              <a:ext uri="{FF2B5EF4-FFF2-40B4-BE49-F238E27FC236}">
                <a16:creationId xmlns:a16="http://schemas.microsoft.com/office/drawing/2014/main" id="{C9E77D27-E8D9-8C41-A335-82E8B3EEEBFF}"/>
              </a:ext>
            </a:extLst>
          </p:cNvPr>
          <p:cNvSpPr/>
          <p:nvPr/>
        </p:nvSpPr>
        <p:spPr>
          <a:xfrm>
            <a:off x="8958278" y="75475"/>
            <a:ext cx="1416571" cy="531627"/>
          </a:xfrm>
          <a:prstGeom prst="rect">
            <a:avLst/>
          </a:prstGeom>
          <a:solidFill>
            <a:schemeClr val="bg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pic>
        <p:nvPicPr>
          <p:cNvPr id="8" name="Picture 7" descr="Text  Description automatically generated">
            <a:extLst>
              <a:ext uri="{FF2B5EF4-FFF2-40B4-BE49-F238E27FC236}">
                <a16:creationId xmlns:a16="http://schemas.microsoft.com/office/drawing/2014/main" id="{82EA5368-D2EE-F64D-9837-D6EEBADE13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94758" y="70002"/>
            <a:ext cx="1838856" cy="454606"/>
          </a:xfrm>
          <a:prstGeom prst="rect">
            <a:avLst/>
          </a:prstGeom>
        </p:spPr>
      </p:pic>
      <p:pic>
        <p:nvPicPr>
          <p:cNvPr id="2" name="Picture 1" descr="A logo for a company  Description automatically generated">
            <a:extLst>
              <a:ext uri="{FF2B5EF4-FFF2-40B4-BE49-F238E27FC236}">
                <a16:creationId xmlns:a16="http://schemas.microsoft.com/office/drawing/2014/main" id="{7367DC2B-45D0-146E-E726-94642D74AC6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036" y="25525"/>
            <a:ext cx="1302542" cy="801342"/>
          </a:xfrm>
          <a:prstGeom prst="rect">
            <a:avLst/>
          </a:prstGeom>
        </p:spPr>
      </p:pic>
      <p:sp>
        <p:nvSpPr>
          <p:cNvPr id="12" name="TextBox 11">
            <a:extLst>
              <a:ext uri="{FF2B5EF4-FFF2-40B4-BE49-F238E27FC236}">
                <a16:creationId xmlns:a16="http://schemas.microsoft.com/office/drawing/2014/main" id="{27A10974-5E3D-7AE4-23A8-E214A06D3AEF}"/>
              </a:ext>
            </a:extLst>
          </p:cNvPr>
          <p:cNvSpPr txBox="1"/>
          <p:nvPr/>
        </p:nvSpPr>
        <p:spPr>
          <a:xfrm>
            <a:off x="9829801" y="6643215"/>
            <a:ext cx="236219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r>
              <a:rPr lang="en-US" sz="800" b="0" i="0">
                <a:solidFill>
                  <a:srgbClr val="A0A0A0"/>
                </a:solidFill>
                <a:effectLst/>
                <a:latin typeface="Montserrat" pitchFamily="2" charset="0"/>
              </a:rPr>
              <a:t>©2021 Parillume All rights reserved</a:t>
            </a:r>
            <a:endParaRPr lang="en-US" sz="800" b="0" i="0">
              <a:solidFill>
                <a:srgbClr val="EDEDED"/>
              </a:solidFill>
              <a:effectLst/>
              <a:latin typeface="Montserrat" pitchFamily="2" charset="0"/>
            </a:endParaRPr>
          </a:p>
        </p:txBody>
      </p:sp>
      <p:grpSp>
        <p:nvGrpSpPr>
          <p:cNvPr id="16" name="Group 15">
            <a:extLst>
              <a:ext uri="{FF2B5EF4-FFF2-40B4-BE49-F238E27FC236}">
                <a16:creationId xmlns:a16="http://schemas.microsoft.com/office/drawing/2014/main" id="{15F94816-5191-94F8-8924-84C0480951E4}"/>
              </a:ext>
            </a:extLst>
          </p:cNvPr>
          <p:cNvGrpSpPr/>
          <p:nvPr/>
        </p:nvGrpSpPr>
        <p:grpSpPr>
          <a:xfrm>
            <a:off x="0" y="140448"/>
            <a:ext cx="12191999" cy="469136"/>
            <a:chOff x="0" y="140448"/>
            <a:chExt cx="12191999" cy="469136"/>
          </a:xfrm>
          <a:noFill/>
        </p:grpSpPr>
        <p:sp>
          <p:nvSpPr>
            <p:cNvPr id="17" name="Rectangle 16">
              <a:extLst>
                <a:ext uri="{FF2B5EF4-FFF2-40B4-BE49-F238E27FC236}">
                  <a16:creationId xmlns:a16="http://schemas.microsoft.com/office/drawing/2014/main" id="{198F8EA8-76BF-C971-54E8-67F6193E2A43}"/>
                </a:ext>
              </a:extLst>
            </p:cNvPr>
            <p:cNvSpPr/>
            <p:nvPr/>
          </p:nvSpPr>
          <p:spPr>
            <a:xfrm>
              <a:off x="0" y="178699"/>
              <a:ext cx="12191999" cy="430885"/>
            </a:xfrm>
            <a:prstGeom prst="rect">
              <a:avLst/>
            </a:prstGeom>
            <a:grp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200" b="0" i="0" u="none" strike="noStrike" cap="none" spc="0" normalizeH="0" baseline="0">
                  <a:ln>
                    <a:noFill/>
                  </a:ln>
                  <a:solidFill>
                    <a:srgbClr val="722B90"/>
                  </a:solidFill>
                  <a:effectLst/>
                  <a:uFillTx/>
                  <a:latin typeface="Brittany Signature" pitchFamily="2" charset="0"/>
                  <a:sym typeface="Calibri"/>
                </a:rPr>
                <a:t>Shine </a:t>
              </a:r>
              <a:r>
                <a:rPr kumimoji="0" lang="en-US" sz="2100" b="0" i="0" u="none" strike="noStrike" cap="none" spc="0" normalizeH="0" baseline="0">
                  <a:ln>
                    <a:noFill/>
                  </a:ln>
                  <a:solidFill>
                    <a:srgbClr val="722B90"/>
                  </a:solidFill>
                  <a:effectLst/>
                  <a:uFillTx/>
                  <a:latin typeface="Brittany Signature" pitchFamily="2" charset="0"/>
                  <a:sym typeface="Calibri"/>
                </a:rPr>
                <a:t>F</a:t>
              </a:r>
              <a:r>
                <a:rPr kumimoji="0" lang="en-US" sz="2200" b="0" i="0" u="none" strike="noStrike" cap="none" spc="0" normalizeH="0" baseline="0">
                  <a:ln>
                    <a:noFill/>
                  </a:ln>
                  <a:solidFill>
                    <a:srgbClr val="722B90"/>
                  </a:solidFill>
                  <a:effectLst/>
                  <a:uFillTx/>
                  <a:latin typeface="Brittany Signature" pitchFamily="2" charset="0"/>
                  <a:sym typeface="Calibri"/>
                </a:rPr>
                <a:t>rom Your Original Design</a:t>
              </a:r>
            </a:p>
          </p:txBody>
        </p:sp>
        <p:sp>
          <p:nvSpPr>
            <p:cNvPr id="18" name="TextBox 17">
              <a:extLst>
                <a:ext uri="{FF2B5EF4-FFF2-40B4-BE49-F238E27FC236}">
                  <a16:creationId xmlns:a16="http://schemas.microsoft.com/office/drawing/2014/main" id="{38A2AAEE-3C83-A489-26F6-89E9787840E9}"/>
                </a:ext>
              </a:extLst>
            </p:cNvPr>
            <p:cNvSpPr txBox="1"/>
            <p:nvPr/>
          </p:nvSpPr>
          <p:spPr>
            <a:xfrm>
              <a:off x="7908484" y="140448"/>
              <a:ext cx="209351" cy="36933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a:ln>
                    <a:noFill/>
                  </a:ln>
                  <a:solidFill>
                    <a:srgbClr val="722B90"/>
                  </a:solidFill>
                  <a:effectLst/>
                  <a:uFillTx/>
                  <a:latin typeface="+mj-lt"/>
                  <a:ea typeface="+mj-ea"/>
                  <a:cs typeface="+mj-cs"/>
                  <a:sym typeface="Calibri"/>
                </a:rPr>
                <a:t>®</a:t>
              </a:r>
            </a:p>
          </p:txBody>
        </p:sp>
      </p:grpSp>
      <p:sp>
        <p:nvSpPr>
          <p:cNvPr id="4" name="TextBox 3">
            <a:extLst>
              <a:ext uri="{FF2B5EF4-FFF2-40B4-BE49-F238E27FC236}">
                <a16:creationId xmlns:a16="http://schemas.microsoft.com/office/drawing/2014/main" id="{14F4E09D-6F6A-8C71-14E2-742817DFD2F2}"/>
              </a:ext>
            </a:extLst>
          </p:cNvPr>
          <p:cNvSpPr txBox="1"/>
          <p:nvPr/>
        </p:nvSpPr>
        <p:spPr>
          <a:xfrm>
            <a:off x="6989" y="6494907"/>
            <a:ext cx="1227922" cy="363818"/>
          </a:xfrm>
          <a:prstGeom prst="rect">
            <a:avLst/>
          </a:prstGeom>
          <a:noFill/>
        </p:spPr>
        <p:txBody>
          <a:bodyPr wrap="square" rtlCol="0">
            <a:spAutoFit/>
          </a:bodyPr>
          <a:lstStyle/>
          <a:p>
            <a:pPr algn="ctr"/>
            <a:r>
              <a:rPr lang="en-US" sz="882">
                <a:solidFill>
                  <a:schemeClr val="tx1">
                    <a:lumMod val="50000"/>
                    <a:lumOff val="50000"/>
                  </a:schemeClr>
                </a:solidFill>
                <a:latin typeface="Montserrat ExtraLight" panose="00000300000000000000" pitchFamily="2" charset="0"/>
              </a:rPr>
              <a:t>Customer Success</a:t>
            </a:r>
          </a:p>
          <a:p>
            <a:pPr algn="ctr"/>
            <a:r>
              <a:rPr lang="en-US" sz="882">
                <a:solidFill>
                  <a:schemeClr val="tx1">
                    <a:lumMod val="50000"/>
                    <a:lumOff val="50000"/>
                  </a:schemeClr>
                </a:solidFill>
                <a:latin typeface="Montserrat ExtraLight" panose="00000300000000000000" pitchFamily="2" charset="0"/>
              </a:rPr>
              <a:t>Team Workshop</a:t>
            </a:r>
            <a:endParaRPr lang="en-US" sz="882" dirty="0">
              <a:solidFill>
                <a:schemeClr val="tx1">
                  <a:lumMod val="50000"/>
                  <a:lumOff val="50000"/>
                </a:schemeClr>
              </a:solidFill>
              <a:latin typeface="Montserrat ExtraLight" panose="00000300000000000000" pitchFamily="2" charset="0"/>
            </a:endParaRPr>
          </a:p>
        </p:txBody>
      </p:sp>
      <p:sp>
        <p:nvSpPr>
          <p:cNvPr id="5" name="TextBox 4">
            <a:extLst>
              <a:ext uri="{FF2B5EF4-FFF2-40B4-BE49-F238E27FC236}">
                <a16:creationId xmlns:a16="http://schemas.microsoft.com/office/drawing/2014/main" id="{B1C79DA8-A6E3-C43D-2F5F-0CDE7B7DFE51}"/>
              </a:ext>
            </a:extLst>
          </p:cNvPr>
          <p:cNvSpPr txBox="1"/>
          <p:nvPr/>
        </p:nvSpPr>
        <p:spPr>
          <a:xfrm>
            <a:off x="0" y="584548"/>
            <a:ext cx="12191999" cy="3385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a:ln>
                  <a:noFill/>
                </a:ln>
                <a:solidFill>
                  <a:srgbClr val="000000"/>
                </a:solidFill>
                <a:effectLst/>
                <a:uFillTx/>
                <a:latin typeface="Montserrat" pitchFamily="2" charset="0"/>
                <a:sym typeface="Calibri"/>
              </a:rPr>
              <a:t>Njevity Customer Success Team</a:t>
            </a:r>
          </a:p>
        </p:txBody>
      </p:sp>
    </p:spTree>
    <p:extLst>
      <p:ext uri="{BB962C8B-B14F-4D97-AF65-F5344CB8AC3E}">
        <p14:creationId xmlns:p14="http://schemas.microsoft.com/office/powerpoint/2010/main" val="118998828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9E77D27-E8D9-8C41-A335-82E8B3EEEBFF}"/>
              </a:ext>
            </a:extLst>
          </p:cNvPr>
          <p:cNvSpPr/>
          <p:nvPr/>
        </p:nvSpPr>
        <p:spPr>
          <a:xfrm>
            <a:off x="8958278" y="75475"/>
            <a:ext cx="1416571" cy="531627"/>
          </a:xfrm>
          <a:prstGeom prst="rect">
            <a:avLst/>
          </a:prstGeom>
          <a:solidFill>
            <a:schemeClr val="bg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pic>
        <p:nvPicPr>
          <p:cNvPr id="8" name="Picture 7" descr="Text  Description automatically generated">
            <a:extLst>
              <a:ext uri="{FF2B5EF4-FFF2-40B4-BE49-F238E27FC236}">
                <a16:creationId xmlns:a16="http://schemas.microsoft.com/office/drawing/2014/main" id="{82EA5368-D2EE-F64D-9837-D6EEBADE13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94758" y="70002"/>
            <a:ext cx="1838856" cy="454606"/>
          </a:xfrm>
          <a:prstGeom prst="rect">
            <a:avLst/>
          </a:prstGeom>
        </p:spPr>
      </p:pic>
      <p:sp>
        <p:nvSpPr>
          <p:cNvPr id="11" name="Footer Placeholder 14">
            <a:extLst>
              <a:ext uri="{FF2B5EF4-FFF2-40B4-BE49-F238E27FC236}">
                <a16:creationId xmlns:a16="http://schemas.microsoft.com/office/drawing/2014/main" id="{9198D073-BA82-4CE9-A155-58A77A7D19C6}"/>
              </a:ext>
            </a:extLst>
          </p:cNvPr>
          <p:cNvSpPr txBox="1">
            <a:spLocks/>
          </p:cNvSpPr>
          <p:nvPr/>
        </p:nvSpPr>
        <p:spPr>
          <a:xfrm>
            <a:off x="4278973" y="6634892"/>
            <a:ext cx="3634049" cy="217015"/>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pPr algn="ctr"/>
            <a:r>
              <a:rPr lang="en-US" sz="800">
                <a:solidFill>
                  <a:schemeClr val="tx1"/>
                </a:solidFill>
                <a:latin typeface="Montserrat ExtraLight" pitchFamily="2" charset="77"/>
              </a:rPr>
              <a:t>©2022 </a:t>
            </a:r>
            <a:r>
              <a:rPr lang="en-US" sz="800" dirty="0" err="1">
                <a:solidFill>
                  <a:schemeClr val="tx1"/>
                </a:solidFill>
                <a:latin typeface="Montserrat ExtraLight" pitchFamily="2" charset="77"/>
              </a:rPr>
              <a:t>Parillume</a:t>
            </a:r>
            <a:r>
              <a:rPr lang="en-US" sz="800" dirty="0">
                <a:solidFill>
                  <a:schemeClr val="tx1"/>
                </a:solidFill>
                <a:latin typeface="Montserrat ExtraLight" pitchFamily="2" charset="77"/>
              </a:rPr>
              <a:t> All rights reserved</a:t>
            </a:r>
          </a:p>
        </p:txBody>
      </p:sp>
      <p:pic>
        <p:nvPicPr>
          <p:cNvPr id="2" name="Picture 1" descr="A logo for a company  Description automatically generated">
            <a:extLst>
              <a:ext uri="{FF2B5EF4-FFF2-40B4-BE49-F238E27FC236}">
                <a16:creationId xmlns:a16="http://schemas.microsoft.com/office/drawing/2014/main" id="{FDA584C9-4B80-5B92-E7B3-5B3D463D2CD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036" y="25525"/>
            <a:ext cx="1302542" cy="801342"/>
          </a:xfrm>
          <a:prstGeom prst="rect">
            <a:avLst/>
          </a:prstGeom>
        </p:spPr>
      </p:pic>
      <p:sp>
        <p:nvSpPr>
          <p:cNvPr id="3" name="Rectangle 2">
            <a:extLst>
              <a:ext uri="{FF2B5EF4-FFF2-40B4-BE49-F238E27FC236}">
                <a16:creationId xmlns:a16="http://schemas.microsoft.com/office/drawing/2014/main" id="{A0533FBC-6AD6-6D47-D1CE-B3F9C7FADE67}"/>
              </a:ext>
            </a:extLst>
          </p:cNvPr>
          <p:cNvSpPr/>
          <p:nvPr/>
        </p:nvSpPr>
        <p:spPr>
          <a:xfrm>
            <a:off x="3446318" y="1316443"/>
            <a:ext cx="5299364" cy="797079"/>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27"/>
          </a:p>
        </p:txBody>
      </p:sp>
      <p:grpSp>
        <p:nvGrpSpPr>
          <p:cNvPr id="4" name="Group 3">
            <a:extLst>
              <a:ext uri="{FF2B5EF4-FFF2-40B4-BE49-F238E27FC236}">
                <a16:creationId xmlns:a16="http://schemas.microsoft.com/office/drawing/2014/main" id="{9436E820-3D88-7B47-22D1-F58FF88E666E}"/>
              </a:ext>
            </a:extLst>
          </p:cNvPr>
          <p:cNvGrpSpPr/>
          <p:nvPr/>
        </p:nvGrpSpPr>
        <p:grpSpPr>
          <a:xfrm>
            <a:off x="1567039" y="2270163"/>
            <a:ext cx="9057921" cy="4208088"/>
            <a:chOff x="1747158" y="2186740"/>
            <a:chExt cx="9057921" cy="4208088"/>
          </a:xfrm>
        </p:grpSpPr>
        <p:sp>
          <p:nvSpPr>
            <p:cNvPr id="7" name="TextBox 6">
              <a:extLst>
                <a:ext uri="{FF2B5EF4-FFF2-40B4-BE49-F238E27FC236}">
                  <a16:creationId xmlns:a16="http://schemas.microsoft.com/office/drawing/2014/main" id="{B41AE8D0-EFE1-3EB4-EB30-2396528EFFD2}"/>
                </a:ext>
              </a:extLst>
            </p:cNvPr>
            <p:cNvSpPr txBox="1"/>
            <p:nvPr/>
          </p:nvSpPr>
          <p:spPr>
            <a:xfrm>
              <a:off x="1747158" y="2304040"/>
              <a:ext cx="728084" cy="3990836"/>
            </a:xfrm>
            <a:prstGeom prst="rect">
              <a:avLst/>
            </a:prstGeom>
            <a:noFill/>
          </p:spPr>
          <p:txBody>
            <a:bodyPr wrap="none" rtlCol="0">
              <a:spAutoFit/>
            </a:bodyPr>
            <a:lstStyle/>
            <a:p>
              <a:pPr>
                <a:spcAft>
                  <a:spcPts val="2454"/>
                </a:spcAft>
              </a:pPr>
              <a:r>
                <a:rPr lang="en-US" sz="3400" b="1" dirty="0">
                  <a:solidFill>
                    <a:srgbClr val="0091BF"/>
                  </a:solidFill>
                  <a:latin typeface="Brittany Signature" pitchFamily="2" charset="0"/>
                </a:rPr>
                <a:t> S</a:t>
              </a:r>
            </a:p>
            <a:p>
              <a:pPr>
                <a:spcAft>
                  <a:spcPts val="2454"/>
                </a:spcAft>
              </a:pPr>
              <a:r>
                <a:rPr lang="en-US" sz="3400" b="1" dirty="0">
                  <a:solidFill>
                    <a:srgbClr val="0091BF"/>
                  </a:solidFill>
                  <a:latin typeface="Brittany Signature" pitchFamily="2" charset="0"/>
                </a:rPr>
                <a:t> H</a:t>
              </a:r>
            </a:p>
            <a:p>
              <a:pPr>
                <a:spcAft>
                  <a:spcPts val="2454"/>
                </a:spcAft>
              </a:pPr>
              <a:r>
                <a:rPr lang="en-US" sz="3400" b="1" dirty="0">
                  <a:solidFill>
                    <a:srgbClr val="0091BF"/>
                  </a:solidFill>
                  <a:latin typeface="Brittany Signature" pitchFamily="2" charset="0"/>
                </a:rPr>
                <a:t> I</a:t>
              </a:r>
            </a:p>
            <a:p>
              <a:pPr>
                <a:spcAft>
                  <a:spcPts val="2454"/>
                </a:spcAft>
              </a:pPr>
              <a:r>
                <a:rPr lang="en-US" sz="3400" b="1" dirty="0">
                  <a:solidFill>
                    <a:srgbClr val="0091BF"/>
                  </a:solidFill>
                  <a:latin typeface="Brittany Signature" pitchFamily="2" charset="0"/>
                </a:rPr>
                <a:t>N</a:t>
              </a:r>
            </a:p>
            <a:p>
              <a:pPr>
                <a:spcAft>
                  <a:spcPts val="2454"/>
                </a:spcAft>
              </a:pPr>
              <a:r>
                <a:rPr lang="en-US" sz="3400" b="1" dirty="0">
                  <a:solidFill>
                    <a:srgbClr val="0091BF"/>
                  </a:solidFill>
                  <a:latin typeface="Brittany Signature" pitchFamily="2" charset="0"/>
                </a:rPr>
                <a:t>E</a:t>
              </a:r>
            </a:p>
          </p:txBody>
        </p:sp>
        <p:sp>
          <p:nvSpPr>
            <p:cNvPr id="12" name="TextBox 11">
              <a:extLst>
                <a:ext uri="{FF2B5EF4-FFF2-40B4-BE49-F238E27FC236}">
                  <a16:creationId xmlns:a16="http://schemas.microsoft.com/office/drawing/2014/main" id="{B1BCABE9-3955-B603-0AE3-9669199982F5}"/>
                </a:ext>
              </a:extLst>
            </p:cNvPr>
            <p:cNvSpPr txBox="1"/>
            <p:nvPr/>
          </p:nvSpPr>
          <p:spPr>
            <a:xfrm>
              <a:off x="2293034" y="2186740"/>
              <a:ext cx="906017" cy="307777"/>
            </a:xfrm>
            <a:prstGeom prst="rect">
              <a:avLst/>
            </a:prstGeom>
            <a:noFill/>
          </p:spPr>
          <p:txBody>
            <a:bodyPr wrap="none" rtlCol="0">
              <a:spAutoFit/>
            </a:bodyPr>
            <a:lstStyle/>
            <a:p>
              <a:r>
                <a:rPr lang="en-US" sz="1400" b="1" dirty="0" err="1">
                  <a:solidFill>
                    <a:srgbClr val="0091BF"/>
                  </a:solidFill>
                  <a:latin typeface="Montserrat" pitchFamily="2" charset="0"/>
                </a:rPr>
                <a:t>pecifics</a:t>
              </a:r>
              <a:endParaRPr lang="en-US" sz="1400" b="1" dirty="0">
                <a:solidFill>
                  <a:srgbClr val="0091BF"/>
                </a:solidFill>
                <a:latin typeface="Montserrat" pitchFamily="2" charset="0"/>
              </a:endParaRPr>
            </a:p>
          </p:txBody>
        </p:sp>
        <p:sp>
          <p:nvSpPr>
            <p:cNvPr id="13" name="TextBox 12">
              <a:extLst>
                <a:ext uri="{FF2B5EF4-FFF2-40B4-BE49-F238E27FC236}">
                  <a16:creationId xmlns:a16="http://schemas.microsoft.com/office/drawing/2014/main" id="{84F94F5F-0273-F926-C132-7CC51154CA6B}"/>
                </a:ext>
              </a:extLst>
            </p:cNvPr>
            <p:cNvSpPr txBox="1"/>
            <p:nvPr/>
          </p:nvSpPr>
          <p:spPr>
            <a:xfrm>
              <a:off x="2266851" y="2948501"/>
              <a:ext cx="1866217" cy="307777"/>
            </a:xfrm>
            <a:prstGeom prst="rect">
              <a:avLst/>
            </a:prstGeom>
            <a:noFill/>
          </p:spPr>
          <p:txBody>
            <a:bodyPr wrap="none" rtlCol="0">
              <a:spAutoFit/>
            </a:bodyPr>
            <a:lstStyle/>
            <a:p>
              <a:r>
                <a:rPr lang="en-US" sz="1400" b="1" dirty="0" err="1">
                  <a:solidFill>
                    <a:srgbClr val="0091BF"/>
                  </a:solidFill>
                  <a:latin typeface="Montserrat" pitchFamily="2" charset="0"/>
                </a:rPr>
                <a:t>eart</a:t>
              </a:r>
              <a:r>
                <a:rPr lang="en-US" sz="1400" b="1" dirty="0">
                  <a:solidFill>
                    <a:srgbClr val="0091BF"/>
                  </a:solidFill>
                  <a:latin typeface="Montserrat" pitchFamily="2" charset="0"/>
                </a:rPr>
                <a:t> of the matter</a:t>
              </a:r>
            </a:p>
          </p:txBody>
        </p:sp>
        <p:sp>
          <p:nvSpPr>
            <p:cNvPr id="14" name="TextBox 13">
              <a:extLst>
                <a:ext uri="{FF2B5EF4-FFF2-40B4-BE49-F238E27FC236}">
                  <a16:creationId xmlns:a16="http://schemas.microsoft.com/office/drawing/2014/main" id="{D62FD9FE-F4D3-0163-0729-0848F3539A3C}"/>
                </a:ext>
              </a:extLst>
            </p:cNvPr>
            <p:cNvSpPr txBox="1"/>
            <p:nvPr/>
          </p:nvSpPr>
          <p:spPr>
            <a:xfrm>
              <a:off x="2177101" y="3789797"/>
              <a:ext cx="2105063" cy="307777"/>
            </a:xfrm>
            <a:prstGeom prst="rect">
              <a:avLst/>
            </a:prstGeom>
            <a:noFill/>
          </p:spPr>
          <p:txBody>
            <a:bodyPr wrap="none" rtlCol="0">
              <a:spAutoFit/>
            </a:bodyPr>
            <a:lstStyle/>
            <a:p>
              <a:r>
                <a:rPr lang="en-US" sz="1400" b="1">
                  <a:solidFill>
                    <a:srgbClr val="0091BF"/>
                  </a:solidFill>
                  <a:latin typeface="Montserrat" pitchFamily="2" charset="0"/>
                </a:rPr>
                <a:t>nvitation to respond</a:t>
              </a:r>
            </a:p>
          </p:txBody>
        </p:sp>
        <p:sp>
          <p:nvSpPr>
            <p:cNvPr id="16" name="TextBox 15">
              <a:extLst>
                <a:ext uri="{FF2B5EF4-FFF2-40B4-BE49-F238E27FC236}">
                  <a16:creationId xmlns:a16="http://schemas.microsoft.com/office/drawing/2014/main" id="{BC1B9CE3-CABF-CF39-5CBE-41381675C5EE}"/>
                </a:ext>
              </a:extLst>
            </p:cNvPr>
            <p:cNvSpPr txBox="1"/>
            <p:nvPr/>
          </p:nvSpPr>
          <p:spPr>
            <a:xfrm>
              <a:off x="2244561" y="4728202"/>
              <a:ext cx="1040670" cy="307777"/>
            </a:xfrm>
            <a:prstGeom prst="rect">
              <a:avLst/>
            </a:prstGeom>
            <a:noFill/>
          </p:spPr>
          <p:txBody>
            <a:bodyPr wrap="none" rtlCol="0">
              <a:spAutoFit/>
            </a:bodyPr>
            <a:lstStyle/>
            <a:p>
              <a:r>
                <a:rPr lang="en-US" sz="1400" b="1">
                  <a:solidFill>
                    <a:srgbClr val="0091BF"/>
                  </a:solidFill>
                  <a:latin typeface="Montserrat" pitchFamily="2" charset="0"/>
                </a:rPr>
                <a:t>ext steps</a:t>
              </a:r>
            </a:p>
          </p:txBody>
        </p:sp>
        <p:sp>
          <p:nvSpPr>
            <p:cNvPr id="17" name="TextBox 16">
              <a:extLst>
                <a:ext uri="{FF2B5EF4-FFF2-40B4-BE49-F238E27FC236}">
                  <a16:creationId xmlns:a16="http://schemas.microsoft.com/office/drawing/2014/main" id="{F8B634DD-501A-4183-5CC1-6E65025431EE}"/>
                </a:ext>
              </a:extLst>
            </p:cNvPr>
            <p:cNvSpPr txBox="1"/>
            <p:nvPr/>
          </p:nvSpPr>
          <p:spPr>
            <a:xfrm>
              <a:off x="2141322" y="5526065"/>
              <a:ext cx="1846980" cy="307777"/>
            </a:xfrm>
            <a:prstGeom prst="rect">
              <a:avLst/>
            </a:prstGeom>
            <a:noFill/>
          </p:spPr>
          <p:txBody>
            <a:bodyPr wrap="none" rtlCol="0">
              <a:spAutoFit/>
            </a:bodyPr>
            <a:lstStyle/>
            <a:p>
              <a:r>
                <a:rPr lang="en-US" sz="1400" b="1">
                  <a:solidFill>
                    <a:srgbClr val="0091BF"/>
                  </a:solidFill>
                  <a:latin typeface="Montserrat" pitchFamily="2" charset="0"/>
                </a:rPr>
                <a:t>xpected outcome</a:t>
              </a:r>
            </a:p>
          </p:txBody>
        </p:sp>
        <p:sp>
          <p:nvSpPr>
            <p:cNvPr id="18" name="TextBox 17">
              <a:extLst>
                <a:ext uri="{FF2B5EF4-FFF2-40B4-BE49-F238E27FC236}">
                  <a16:creationId xmlns:a16="http://schemas.microsoft.com/office/drawing/2014/main" id="{C5A1B9B8-2B1A-0E33-0D9F-9464520C132B}"/>
                </a:ext>
              </a:extLst>
            </p:cNvPr>
            <p:cNvSpPr txBox="1"/>
            <p:nvPr/>
          </p:nvSpPr>
          <p:spPr>
            <a:xfrm>
              <a:off x="2359831" y="2447847"/>
              <a:ext cx="8165848" cy="430887"/>
            </a:xfrm>
            <a:prstGeom prst="rect">
              <a:avLst/>
            </a:prstGeom>
            <a:noFill/>
          </p:spPr>
          <p:txBody>
            <a:bodyPr wrap="square" rtlCol="0">
              <a:spAutoFit/>
            </a:bodyPr>
            <a:lstStyle/>
            <a:p>
              <a:r>
                <a:rPr lang="en-US" sz="1100" dirty="0">
                  <a:solidFill>
                    <a:schemeClr val="tx1">
                      <a:lumMod val="50000"/>
                      <a:lumOff val="50000"/>
                    </a:schemeClr>
                  </a:solidFill>
                  <a:latin typeface="Montserrat" pitchFamily="2" charset="0"/>
                </a:rPr>
                <a:t>“I’ve noticed you’ve committed to three deadlines in the past several months but didn’t meet those deadlines and didn’t communicate that they would be missed.”</a:t>
              </a:r>
            </a:p>
          </p:txBody>
        </p:sp>
        <p:sp>
          <p:nvSpPr>
            <p:cNvPr id="19" name="TextBox 18">
              <a:extLst>
                <a:ext uri="{FF2B5EF4-FFF2-40B4-BE49-F238E27FC236}">
                  <a16:creationId xmlns:a16="http://schemas.microsoft.com/office/drawing/2014/main" id="{7AA1BC60-0C38-4152-B46D-B15173E17C21}"/>
                </a:ext>
              </a:extLst>
            </p:cNvPr>
            <p:cNvSpPr txBox="1"/>
            <p:nvPr/>
          </p:nvSpPr>
          <p:spPr>
            <a:xfrm>
              <a:off x="2924039" y="2222145"/>
              <a:ext cx="3424795" cy="261610"/>
            </a:xfrm>
            <a:prstGeom prst="rect">
              <a:avLst/>
            </a:prstGeom>
            <a:noFill/>
          </p:spPr>
          <p:txBody>
            <a:bodyPr wrap="square" rtlCol="0">
              <a:spAutoFit/>
            </a:bodyPr>
            <a:lstStyle/>
            <a:p>
              <a:pPr algn="ctr"/>
              <a:r>
                <a:rPr lang="en-US" sz="1100" b="1" dirty="0">
                  <a:latin typeface="Montserrat" pitchFamily="2" charset="0"/>
                </a:rPr>
                <a:t>Convey what happened – just the facts.</a:t>
              </a:r>
            </a:p>
          </p:txBody>
        </p:sp>
        <p:sp>
          <p:nvSpPr>
            <p:cNvPr id="20" name="TextBox 19">
              <a:extLst>
                <a:ext uri="{FF2B5EF4-FFF2-40B4-BE49-F238E27FC236}">
                  <a16:creationId xmlns:a16="http://schemas.microsoft.com/office/drawing/2014/main" id="{1508EC4D-3D5B-AC3D-71E1-2104F9044A71}"/>
                </a:ext>
              </a:extLst>
            </p:cNvPr>
            <p:cNvSpPr txBox="1"/>
            <p:nvPr/>
          </p:nvSpPr>
          <p:spPr>
            <a:xfrm>
              <a:off x="3902740" y="2984897"/>
              <a:ext cx="2272216" cy="261610"/>
            </a:xfrm>
            <a:prstGeom prst="rect">
              <a:avLst/>
            </a:prstGeom>
            <a:noFill/>
          </p:spPr>
          <p:txBody>
            <a:bodyPr wrap="square" rtlCol="0">
              <a:spAutoFit/>
            </a:bodyPr>
            <a:lstStyle/>
            <a:p>
              <a:pPr algn="ctr"/>
              <a:r>
                <a:rPr lang="en-US" sz="1100" b="1" dirty="0">
                  <a:latin typeface="Montserrat" pitchFamily="2" charset="0"/>
                </a:rPr>
                <a:t>Explain why this matters.</a:t>
              </a:r>
            </a:p>
          </p:txBody>
        </p:sp>
        <p:sp>
          <p:nvSpPr>
            <p:cNvPr id="21" name="TextBox 20">
              <a:extLst>
                <a:ext uri="{FF2B5EF4-FFF2-40B4-BE49-F238E27FC236}">
                  <a16:creationId xmlns:a16="http://schemas.microsoft.com/office/drawing/2014/main" id="{D3CC674A-EB76-FEE2-DD2B-E88566CC75C0}"/>
                </a:ext>
              </a:extLst>
            </p:cNvPr>
            <p:cNvSpPr txBox="1"/>
            <p:nvPr/>
          </p:nvSpPr>
          <p:spPr>
            <a:xfrm>
              <a:off x="2371427" y="3206609"/>
              <a:ext cx="8433652" cy="600164"/>
            </a:xfrm>
            <a:prstGeom prst="rect">
              <a:avLst/>
            </a:prstGeom>
            <a:noFill/>
          </p:spPr>
          <p:txBody>
            <a:bodyPr wrap="square" rtlCol="0">
              <a:spAutoFit/>
            </a:bodyPr>
            <a:lstStyle/>
            <a:p>
              <a:r>
                <a:rPr lang="en-US" sz="1100" dirty="0">
                  <a:solidFill>
                    <a:schemeClr val="tx1">
                      <a:lumMod val="50000"/>
                      <a:lumOff val="50000"/>
                    </a:schemeClr>
                  </a:solidFill>
                  <a:latin typeface="Montserrat" pitchFamily="2" charset="0"/>
                </a:rPr>
                <a:t>“I have my own deadlines to meet that require the information you are providing me. When I don’t hear from you, and I have no idea when I’ll get the data I need, my work and reputation suffer. I also find myself not trusting the deadlines you give me.”</a:t>
              </a:r>
            </a:p>
          </p:txBody>
        </p:sp>
        <p:sp>
          <p:nvSpPr>
            <p:cNvPr id="22" name="TextBox 21">
              <a:extLst>
                <a:ext uri="{FF2B5EF4-FFF2-40B4-BE49-F238E27FC236}">
                  <a16:creationId xmlns:a16="http://schemas.microsoft.com/office/drawing/2014/main" id="{BB4720D0-B551-E6C9-75DE-D9B7648F7A5C}"/>
                </a:ext>
              </a:extLst>
            </p:cNvPr>
            <p:cNvSpPr txBox="1"/>
            <p:nvPr/>
          </p:nvSpPr>
          <p:spPr>
            <a:xfrm>
              <a:off x="2371811" y="4047308"/>
              <a:ext cx="8153868" cy="430887"/>
            </a:xfrm>
            <a:prstGeom prst="rect">
              <a:avLst/>
            </a:prstGeom>
            <a:noFill/>
          </p:spPr>
          <p:txBody>
            <a:bodyPr wrap="square" rtlCol="0">
              <a:spAutoFit/>
            </a:bodyPr>
            <a:lstStyle/>
            <a:p>
              <a:r>
                <a:rPr lang="en-US" sz="1100" i="1" dirty="0">
                  <a:solidFill>
                    <a:schemeClr val="tx1">
                      <a:lumMod val="50000"/>
                      <a:lumOff val="50000"/>
                    </a:schemeClr>
                  </a:solidFill>
                  <a:latin typeface="Montserrat" pitchFamily="2" charset="0"/>
                </a:rPr>
                <a:t>“</a:t>
              </a:r>
              <a:r>
                <a:rPr lang="en-US" sz="1100" dirty="0">
                  <a:solidFill>
                    <a:schemeClr val="tx1">
                      <a:lumMod val="50000"/>
                      <a:lumOff val="50000"/>
                    </a:schemeClr>
                  </a:solidFill>
                  <a:latin typeface="Montserrat" pitchFamily="2" charset="0"/>
                </a:rPr>
                <a:t>I know that’s not your intention, so I’m curious about what’s happening from your perspective and how we can collaborate better going forward.” </a:t>
              </a:r>
              <a:endParaRPr lang="en-US" sz="1100" i="1" dirty="0">
                <a:solidFill>
                  <a:schemeClr val="tx1">
                    <a:lumMod val="50000"/>
                    <a:lumOff val="50000"/>
                  </a:schemeClr>
                </a:solidFill>
                <a:latin typeface="Montserrat" pitchFamily="2" charset="0"/>
              </a:endParaRPr>
            </a:p>
          </p:txBody>
        </p:sp>
        <p:sp>
          <p:nvSpPr>
            <p:cNvPr id="23" name="TextBox 22">
              <a:extLst>
                <a:ext uri="{FF2B5EF4-FFF2-40B4-BE49-F238E27FC236}">
                  <a16:creationId xmlns:a16="http://schemas.microsoft.com/office/drawing/2014/main" id="{E9AD987F-27D7-807C-9245-E2D2F2CA00BF}"/>
                </a:ext>
              </a:extLst>
            </p:cNvPr>
            <p:cNvSpPr txBox="1"/>
            <p:nvPr/>
          </p:nvSpPr>
          <p:spPr>
            <a:xfrm>
              <a:off x="2397540" y="4994722"/>
              <a:ext cx="8128140" cy="600164"/>
            </a:xfrm>
            <a:prstGeom prst="rect">
              <a:avLst/>
            </a:prstGeom>
            <a:noFill/>
          </p:spPr>
          <p:txBody>
            <a:bodyPr wrap="square" rtlCol="0">
              <a:spAutoFit/>
            </a:bodyPr>
            <a:lstStyle/>
            <a:p>
              <a:r>
                <a:rPr lang="en-US" sz="1100" dirty="0">
                  <a:solidFill>
                    <a:schemeClr val="tx1">
                      <a:lumMod val="50000"/>
                      <a:lumOff val="50000"/>
                    </a:schemeClr>
                  </a:solidFill>
                  <a:latin typeface="Montserrat" pitchFamily="2" charset="0"/>
                </a:rPr>
                <a:t>“I’ll check my calendar before committing to a deadline and review my mantra ‘Under Promise &amp; Over Deliver.’ If I know I can’t meet a deadline, I’ll communicate at least 48 hours ahead and recommit to a new deadline that I won’t miss.”</a:t>
              </a:r>
            </a:p>
          </p:txBody>
        </p:sp>
        <p:sp>
          <p:nvSpPr>
            <p:cNvPr id="24" name="TextBox 23">
              <a:extLst>
                <a:ext uri="{FF2B5EF4-FFF2-40B4-BE49-F238E27FC236}">
                  <a16:creationId xmlns:a16="http://schemas.microsoft.com/office/drawing/2014/main" id="{871DF77B-DDFB-469A-F3DB-3C2B62E8492F}"/>
                </a:ext>
              </a:extLst>
            </p:cNvPr>
            <p:cNvSpPr txBox="1"/>
            <p:nvPr/>
          </p:nvSpPr>
          <p:spPr>
            <a:xfrm>
              <a:off x="2378704" y="5794664"/>
              <a:ext cx="8128140" cy="600164"/>
            </a:xfrm>
            <a:prstGeom prst="rect">
              <a:avLst/>
            </a:prstGeom>
            <a:noFill/>
          </p:spPr>
          <p:txBody>
            <a:bodyPr wrap="square" rtlCol="0">
              <a:spAutoFit/>
            </a:bodyPr>
            <a:lstStyle/>
            <a:p>
              <a:r>
                <a:rPr lang="en-US" sz="1100" dirty="0">
                  <a:solidFill>
                    <a:schemeClr val="tx1">
                      <a:lumMod val="50000"/>
                      <a:lumOff val="50000"/>
                    </a:schemeClr>
                  </a:solidFill>
                  <a:latin typeface="Montserrat" pitchFamily="2" charset="0"/>
                </a:rPr>
                <a:t>“Going forward, we will get really clear with ourselves and each other about deadlines before we commit to them. I’ll explain to you ‘the why’ behind my deadline, and you will keep me up-to-date and provide alternatives if a deadline will be missed.”</a:t>
              </a:r>
            </a:p>
          </p:txBody>
        </p:sp>
        <p:sp>
          <p:nvSpPr>
            <p:cNvPr id="25" name="TextBox 24">
              <a:extLst>
                <a:ext uri="{FF2B5EF4-FFF2-40B4-BE49-F238E27FC236}">
                  <a16:creationId xmlns:a16="http://schemas.microsoft.com/office/drawing/2014/main" id="{18B505A4-0AF5-7540-2B92-23EB614CA421}"/>
                </a:ext>
              </a:extLst>
            </p:cNvPr>
            <p:cNvSpPr txBox="1"/>
            <p:nvPr/>
          </p:nvSpPr>
          <p:spPr>
            <a:xfrm>
              <a:off x="4048337" y="3813979"/>
              <a:ext cx="2272216" cy="261610"/>
            </a:xfrm>
            <a:prstGeom prst="rect">
              <a:avLst/>
            </a:prstGeom>
            <a:noFill/>
          </p:spPr>
          <p:txBody>
            <a:bodyPr wrap="square" rtlCol="0">
              <a:spAutoFit/>
            </a:bodyPr>
            <a:lstStyle/>
            <a:p>
              <a:pPr algn="ctr"/>
              <a:r>
                <a:rPr lang="en-US" sz="1100" b="1">
                  <a:latin typeface="Montserrat" pitchFamily="2" charset="0"/>
                </a:rPr>
                <a:t>Ask for their perspective. </a:t>
              </a:r>
            </a:p>
          </p:txBody>
        </p:sp>
        <p:sp>
          <p:nvSpPr>
            <p:cNvPr id="26" name="TextBox 25">
              <a:extLst>
                <a:ext uri="{FF2B5EF4-FFF2-40B4-BE49-F238E27FC236}">
                  <a16:creationId xmlns:a16="http://schemas.microsoft.com/office/drawing/2014/main" id="{E9F70BAD-EE48-FE24-C99F-C52E22D21BFF}"/>
                </a:ext>
              </a:extLst>
            </p:cNvPr>
            <p:cNvSpPr txBox="1"/>
            <p:nvPr/>
          </p:nvSpPr>
          <p:spPr>
            <a:xfrm>
              <a:off x="3010353" y="4765843"/>
              <a:ext cx="3033323" cy="261610"/>
            </a:xfrm>
            <a:prstGeom prst="rect">
              <a:avLst/>
            </a:prstGeom>
            <a:noFill/>
          </p:spPr>
          <p:txBody>
            <a:bodyPr wrap="square" rtlCol="0">
              <a:spAutoFit/>
            </a:bodyPr>
            <a:lstStyle/>
            <a:p>
              <a:pPr algn="ctr"/>
              <a:r>
                <a:rPr lang="en-US" sz="1100" b="1" dirty="0">
                  <a:latin typeface="Montserrat" pitchFamily="2" charset="0"/>
                </a:rPr>
                <a:t>Collaborate on a Play-full Practice.</a:t>
              </a:r>
            </a:p>
          </p:txBody>
        </p:sp>
        <p:sp>
          <p:nvSpPr>
            <p:cNvPr id="27" name="TextBox 26">
              <a:extLst>
                <a:ext uri="{FF2B5EF4-FFF2-40B4-BE49-F238E27FC236}">
                  <a16:creationId xmlns:a16="http://schemas.microsoft.com/office/drawing/2014/main" id="{E567A88B-241E-4BF5-F2DF-5C01211D97A3}"/>
                </a:ext>
              </a:extLst>
            </p:cNvPr>
            <p:cNvSpPr txBox="1"/>
            <p:nvPr/>
          </p:nvSpPr>
          <p:spPr>
            <a:xfrm>
              <a:off x="3713648" y="5569062"/>
              <a:ext cx="2512796" cy="261610"/>
            </a:xfrm>
            <a:prstGeom prst="rect">
              <a:avLst/>
            </a:prstGeom>
            <a:noFill/>
          </p:spPr>
          <p:txBody>
            <a:bodyPr wrap="square" rtlCol="0">
              <a:spAutoFit/>
            </a:bodyPr>
            <a:lstStyle/>
            <a:p>
              <a:pPr algn="ctr"/>
              <a:r>
                <a:rPr lang="en-US" sz="1100" b="1">
                  <a:latin typeface="Montserrat" pitchFamily="2" charset="0"/>
                </a:rPr>
                <a:t>Define measurable success.</a:t>
              </a:r>
            </a:p>
          </p:txBody>
        </p:sp>
      </p:grpSp>
      <p:sp>
        <p:nvSpPr>
          <p:cNvPr id="28" name="TextBox 27">
            <a:extLst>
              <a:ext uri="{FF2B5EF4-FFF2-40B4-BE49-F238E27FC236}">
                <a16:creationId xmlns:a16="http://schemas.microsoft.com/office/drawing/2014/main" id="{7A920FD9-6FE2-ADB8-79B8-5627AB3EE520}"/>
              </a:ext>
            </a:extLst>
          </p:cNvPr>
          <p:cNvSpPr txBox="1"/>
          <p:nvPr/>
        </p:nvSpPr>
        <p:spPr>
          <a:xfrm rot="16200000">
            <a:off x="3435106" y="1584883"/>
            <a:ext cx="679968" cy="260199"/>
          </a:xfrm>
          <a:prstGeom prst="rect">
            <a:avLst/>
          </a:prstGeom>
          <a:noFill/>
        </p:spPr>
        <p:txBody>
          <a:bodyPr wrap="square" rtlCol="0">
            <a:spAutoFit/>
          </a:bodyPr>
          <a:lstStyle/>
          <a:p>
            <a:pPr algn="ctr"/>
            <a:r>
              <a:rPr lang="en-US" sz="1091" b="1" dirty="0">
                <a:solidFill>
                  <a:srgbClr val="713190"/>
                </a:solidFill>
                <a:latin typeface="Montserrat" pitchFamily="2" charset="0"/>
              </a:rPr>
              <a:t>PREP</a:t>
            </a:r>
          </a:p>
        </p:txBody>
      </p:sp>
      <p:sp>
        <p:nvSpPr>
          <p:cNvPr id="29" name="TextBox 28">
            <a:extLst>
              <a:ext uri="{FF2B5EF4-FFF2-40B4-BE49-F238E27FC236}">
                <a16:creationId xmlns:a16="http://schemas.microsoft.com/office/drawing/2014/main" id="{B48FA576-4D56-A25F-DA0A-3D2A63C7720C}"/>
              </a:ext>
            </a:extLst>
          </p:cNvPr>
          <p:cNvSpPr txBox="1"/>
          <p:nvPr/>
        </p:nvSpPr>
        <p:spPr>
          <a:xfrm>
            <a:off x="3446318" y="1012968"/>
            <a:ext cx="5299364" cy="246221"/>
          </a:xfrm>
          <a:prstGeom prst="rect">
            <a:avLst/>
          </a:prstGeom>
          <a:noFill/>
        </p:spPr>
        <p:txBody>
          <a:bodyPr wrap="square" rtlCol="0">
            <a:spAutoFit/>
          </a:bodyPr>
          <a:lstStyle/>
          <a:p>
            <a:pPr marL="119059" algn="ctr">
              <a:spcAft>
                <a:spcPts val="409"/>
              </a:spcAft>
            </a:pPr>
            <a:r>
              <a:rPr lang="en-US" sz="1000" i="1" dirty="0">
                <a:latin typeface="Montserrat" pitchFamily="2" charset="0"/>
              </a:rPr>
              <a:t>I give feedback so </a:t>
            </a:r>
            <a:r>
              <a:rPr lang="en-US" sz="1000" b="1" i="1" dirty="0">
                <a:latin typeface="Montserrat" pitchFamily="2" charset="0"/>
              </a:rPr>
              <a:t>YOU</a:t>
            </a:r>
            <a:r>
              <a:rPr lang="en-US" sz="1000" i="1" dirty="0">
                <a:latin typeface="Montserrat" pitchFamily="2" charset="0"/>
              </a:rPr>
              <a:t> can </a:t>
            </a:r>
            <a:r>
              <a:rPr lang="en-US" sz="1000" b="1" i="1" dirty="0">
                <a:solidFill>
                  <a:srgbClr val="0091BF"/>
                </a:solidFill>
                <a:latin typeface="Montserrat" pitchFamily="2" charset="0"/>
              </a:rPr>
              <a:t>SHINE.</a:t>
            </a:r>
            <a:r>
              <a:rPr lang="en-US" sz="1000" i="1" dirty="0">
                <a:solidFill>
                  <a:srgbClr val="0091BF"/>
                </a:solidFill>
                <a:latin typeface="Montserrat" pitchFamily="2" charset="0"/>
              </a:rPr>
              <a:t>  </a:t>
            </a:r>
            <a:r>
              <a:rPr lang="en-US" sz="1000" i="1" dirty="0">
                <a:latin typeface="Montserrat" pitchFamily="2" charset="0"/>
              </a:rPr>
              <a:t>I receive feedback so</a:t>
            </a:r>
            <a:r>
              <a:rPr lang="en-US" sz="1000" b="1" i="1" dirty="0">
                <a:latin typeface="Montserrat" pitchFamily="2" charset="0"/>
              </a:rPr>
              <a:t> I </a:t>
            </a:r>
            <a:r>
              <a:rPr lang="en-US" sz="1000" i="1" dirty="0">
                <a:latin typeface="Montserrat" pitchFamily="2" charset="0"/>
              </a:rPr>
              <a:t>can </a:t>
            </a:r>
            <a:r>
              <a:rPr lang="en-US" sz="1000" b="1" i="1" dirty="0">
                <a:solidFill>
                  <a:srgbClr val="0091BF"/>
                </a:solidFill>
                <a:latin typeface="Montserrat" pitchFamily="2" charset="0"/>
              </a:rPr>
              <a:t>SHINE.</a:t>
            </a:r>
          </a:p>
        </p:txBody>
      </p:sp>
      <p:sp>
        <p:nvSpPr>
          <p:cNvPr id="30" name="TextBox 29">
            <a:extLst>
              <a:ext uri="{FF2B5EF4-FFF2-40B4-BE49-F238E27FC236}">
                <a16:creationId xmlns:a16="http://schemas.microsoft.com/office/drawing/2014/main" id="{08691CE3-4E29-1E6B-24F7-D5A99CD572B8}"/>
              </a:ext>
            </a:extLst>
          </p:cNvPr>
          <p:cNvSpPr txBox="1"/>
          <p:nvPr/>
        </p:nvSpPr>
        <p:spPr>
          <a:xfrm>
            <a:off x="3833420" y="1425627"/>
            <a:ext cx="4737018" cy="649665"/>
          </a:xfrm>
          <a:prstGeom prst="rect">
            <a:avLst/>
          </a:prstGeom>
          <a:noFill/>
        </p:spPr>
        <p:txBody>
          <a:bodyPr wrap="square" rtlCol="0">
            <a:spAutoFit/>
          </a:bodyPr>
          <a:lstStyle/>
          <a:p>
            <a:pPr algn="ctr">
              <a:spcAft>
                <a:spcPts val="409"/>
              </a:spcAft>
            </a:pPr>
            <a:r>
              <a:rPr lang="en-US" sz="955" b="1" dirty="0">
                <a:latin typeface="Montserrat" pitchFamily="2" charset="0"/>
              </a:rPr>
              <a:t>Know thyself			Know the other person</a:t>
            </a:r>
          </a:p>
          <a:p>
            <a:pPr algn="ctr">
              <a:spcAft>
                <a:spcPts val="409"/>
              </a:spcAft>
            </a:pPr>
            <a:r>
              <a:rPr lang="en-US" sz="1000" dirty="0">
                <a:latin typeface="Montserrat" pitchFamily="2" charset="0"/>
              </a:rPr>
              <a:t>Review the Enneagram kryptonite, hack, and communication styles</a:t>
            </a:r>
          </a:p>
          <a:p>
            <a:pPr algn="ctr">
              <a:spcAft>
                <a:spcPts val="409"/>
              </a:spcAft>
            </a:pPr>
            <a:r>
              <a:rPr lang="en-US" sz="1000" dirty="0">
                <a:latin typeface="Montserrat" pitchFamily="2" charset="0"/>
              </a:rPr>
              <a:t>for yourself, and for the person you’ll be speaking with.</a:t>
            </a:r>
          </a:p>
        </p:txBody>
      </p:sp>
      <p:sp>
        <p:nvSpPr>
          <p:cNvPr id="36" name="TextBox 35">
            <a:extLst>
              <a:ext uri="{FF2B5EF4-FFF2-40B4-BE49-F238E27FC236}">
                <a16:creationId xmlns:a16="http://schemas.microsoft.com/office/drawing/2014/main" id="{705E19A5-6BAC-4042-B7ED-1ADAC25E48A3}"/>
              </a:ext>
            </a:extLst>
          </p:cNvPr>
          <p:cNvSpPr txBox="1"/>
          <p:nvPr/>
        </p:nvSpPr>
        <p:spPr>
          <a:xfrm>
            <a:off x="2842324" y="339605"/>
            <a:ext cx="6507351"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algn="ctr">
              <a:spcBef>
                <a:spcPts val="600"/>
              </a:spcBef>
              <a:spcAft>
                <a:spcPts val="1200"/>
              </a:spcAft>
            </a:pPr>
            <a:r>
              <a:rPr lang="en-US" sz="3000" dirty="0">
                <a:solidFill>
                  <a:srgbClr val="713190"/>
                </a:solidFill>
                <a:effectLst/>
                <a:latin typeface="Brittany Signature" pitchFamily="2" charset="0"/>
                <a:ea typeface="Calibri" panose="020F0502020204030204" pitchFamily="34" charset="0"/>
                <a:cs typeface="Times New Roman" panose="02020603050405020304" pitchFamily="18" charset="0"/>
              </a:rPr>
              <a:t>Giving &amp; </a:t>
            </a:r>
            <a:r>
              <a:rPr lang="en-US" sz="2800" dirty="0">
                <a:solidFill>
                  <a:srgbClr val="713190"/>
                </a:solidFill>
                <a:effectLst/>
                <a:latin typeface="Brittany Signature" pitchFamily="2" charset="0"/>
                <a:ea typeface="Calibri" panose="020F0502020204030204" pitchFamily="34" charset="0"/>
                <a:cs typeface="Times New Roman" panose="02020603050405020304" pitchFamily="18" charset="0"/>
              </a:rPr>
              <a:t>R</a:t>
            </a:r>
            <a:r>
              <a:rPr lang="en-US" sz="3000" dirty="0">
                <a:solidFill>
                  <a:srgbClr val="713190"/>
                </a:solidFill>
                <a:effectLst/>
                <a:latin typeface="Brittany Signature" pitchFamily="2" charset="0"/>
                <a:ea typeface="Calibri" panose="020F0502020204030204" pitchFamily="34" charset="0"/>
                <a:cs typeface="Times New Roman" panose="02020603050405020304" pitchFamily="18" charset="0"/>
              </a:rPr>
              <a:t>eceiving </a:t>
            </a:r>
            <a:r>
              <a:rPr lang="en-US" sz="2800" dirty="0">
                <a:solidFill>
                  <a:srgbClr val="713190"/>
                </a:solidFill>
                <a:effectLst/>
                <a:latin typeface="Brittany Signature" pitchFamily="2" charset="0"/>
                <a:ea typeface="Calibri" panose="020F0502020204030204" pitchFamily="34" charset="0"/>
                <a:cs typeface="Times New Roman" panose="02020603050405020304" pitchFamily="18" charset="0"/>
              </a:rPr>
              <a:t>F</a:t>
            </a:r>
            <a:r>
              <a:rPr lang="en-US" sz="3000" dirty="0">
                <a:solidFill>
                  <a:srgbClr val="713190"/>
                </a:solidFill>
                <a:effectLst/>
                <a:latin typeface="Brittany Signature" pitchFamily="2" charset="0"/>
                <a:ea typeface="Calibri" panose="020F0502020204030204" pitchFamily="34" charset="0"/>
                <a:cs typeface="Times New Roman" panose="02020603050405020304" pitchFamily="18" charset="0"/>
              </a:rPr>
              <a:t>eedback</a:t>
            </a:r>
            <a:endParaRPr lang="en-US" sz="3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A1C559C3-AF50-5EC8-E781-A74C7718674F}"/>
              </a:ext>
            </a:extLst>
          </p:cNvPr>
          <p:cNvSpPr txBox="1"/>
          <p:nvPr/>
        </p:nvSpPr>
        <p:spPr>
          <a:xfrm>
            <a:off x="6989" y="6494907"/>
            <a:ext cx="1227922" cy="363818"/>
          </a:xfrm>
          <a:prstGeom prst="rect">
            <a:avLst/>
          </a:prstGeom>
          <a:noFill/>
        </p:spPr>
        <p:txBody>
          <a:bodyPr wrap="square" rtlCol="0">
            <a:spAutoFit/>
          </a:bodyPr>
          <a:lstStyle/>
          <a:p>
            <a:pPr algn="ctr"/>
            <a:r>
              <a:rPr lang="en-US" sz="882">
                <a:solidFill>
                  <a:schemeClr val="tx1">
                    <a:lumMod val="50000"/>
                    <a:lumOff val="50000"/>
                  </a:schemeClr>
                </a:solidFill>
                <a:latin typeface="Montserrat ExtraLight" panose="00000300000000000000" pitchFamily="2" charset="0"/>
              </a:rPr>
              <a:t>Customer Success</a:t>
            </a:r>
          </a:p>
          <a:p>
            <a:pPr algn="ctr"/>
            <a:r>
              <a:rPr lang="en-US" sz="882">
                <a:solidFill>
                  <a:schemeClr val="tx1">
                    <a:lumMod val="50000"/>
                    <a:lumOff val="50000"/>
                  </a:schemeClr>
                </a:solidFill>
                <a:latin typeface="Montserrat ExtraLight" panose="00000300000000000000" pitchFamily="2" charset="0"/>
              </a:rPr>
              <a:t>Team Workshop</a:t>
            </a:r>
            <a:endParaRPr lang="en-US" sz="882" dirty="0">
              <a:solidFill>
                <a:schemeClr val="tx1">
                  <a:lumMod val="50000"/>
                  <a:lumOff val="50000"/>
                </a:schemeClr>
              </a:solidFill>
              <a:latin typeface="Montserrat ExtraLight" panose="00000300000000000000" pitchFamily="2" charset="0"/>
            </a:endParaRPr>
          </a:p>
        </p:txBody>
      </p:sp>
    </p:spTree>
    <p:extLst>
      <p:ext uri="{BB962C8B-B14F-4D97-AF65-F5344CB8AC3E}">
        <p14:creationId xmlns:p14="http://schemas.microsoft.com/office/powerpoint/2010/main" val="398812342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  Description automatically generated">
            <a:extLst>
              <a:ext uri="{FF2B5EF4-FFF2-40B4-BE49-F238E27FC236}">
                <a16:creationId xmlns:a16="http://schemas.microsoft.com/office/drawing/2014/main" id="{D90C6E59-A6F6-4DCC-A087-10D11E7A2A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74849" y="75475"/>
            <a:ext cx="1529937" cy="378235"/>
          </a:xfrm>
          <a:prstGeom prst="rect">
            <a:avLst/>
          </a:prstGeom>
        </p:spPr>
      </p:pic>
      <p:sp>
        <p:nvSpPr>
          <p:cNvPr id="9" name="Footer Placeholder 14">
            <a:extLst>
              <a:ext uri="{FF2B5EF4-FFF2-40B4-BE49-F238E27FC236}">
                <a16:creationId xmlns:a16="http://schemas.microsoft.com/office/drawing/2014/main" id="{D7DB8894-6289-1948-9D07-9282D6BFBFD6}"/>
              </a:ext>
            </a:extLst>
          </p:cNvPr>
          <p:cNvSpPr txBox="1">
            <a:spLocks/>
          </p:cNvSpPr>
          <p:nvPr/>
        </p:nvSpPr>
        <p:spPr>
          <a:xfrm>
            <a:off x="4464966" y="6598843"/>
            <a:ext cx="3634049" cy="217015"/>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pPr algn="ctr"/>
            <a:r>
              <a:rPr lang="en-US" sz="882" dirty="0">
                <a:solidFill>
                  <a:schemeClr val="tx1"/>
                </a:solidFill>
                <a:latin typeface="Montserrat ExtraLight" pitchFamily="2" charset="77"/>
              </a:rPr>
              <a:t>(c) 2022 </a:t>
            </a:r>
            <a:r>
              <a:rPr lang="en-US" sz="882" dirty="0" err="1">
                <a:solidFill>
                  <a:schemeClr val="tx1"/>
                </a:solidFill>
                <a:latin typeface="Montserrat ExtraLight" pitchFamily="2" charset="77"/>
              </a:rPr>
              <a:t>Parillume</a:t>
            </a:r>
            <a:r>
              <a:rPr lang="en-US" sz="882" dirty="0">
                <a:solidFill>
                  <a:schemeClr val="tx1"/>
                </a:solidFill>
                <a:latin typeface="Montserrat ExtraLight" pitchFamily="2" charset="77"/>
              </a:rPr>
              <a:t> All rights reserved</a:t>
            </a:r>
          </a:p>
        </p:txBody>
      </p:sp>
      <p:sp>
        <p:nvSpPr>
          <p:cNvPr id="11" name="Title 1">
            <a:extLst>
              <a:ext uri="{FF2B5EF4-FFF2-40B4-BE49-F238E27FC236}">
                <a16:creationId xmlns:a16="http://schemas.microsoft.com/office/drawing/2014/main" id="{1103A056-49A4-9C46-8128-4B0A9967A0DB}"/>
              </a:ext>
            </a:extLst>
          </p:cNvPr>
          <p:cNvSpPr txBox="1">
            <a:spLocks/>
          </p:cNvSpPr>
          <p:nvPr/>
        </p:nvSpPr>
        <p:spPr>
          <a:xfrm>
            <a:off x="2230582" y="2898441"/>
            <a:ext cx="8102816" cy="2302217"/>
          </a:xfrm>
          <a:prstGeom prst="rect">
            <a:avLst/>
          </a:prstGeom>
          <a:ln w="12700">
            <a:miter lim="400000"/>
          </a:ln>
          <a:extLst>
            <a:ext uri="{C572A759-6A51-4108-AA02-DFA0A04FC94B}">
              <ma14:wrappingTextBoxFlag xmlns="" xmlns:a14="http://schemas.microsoft.com/office/drawing/2010/main" xmlns:m="http://schemas.openxmlformats.org/officeDocument/2006/math" xmlns:ma14="http://schemas.microsoft.com/office/mac/drawingml/2011/main" val="1"/>
            </a:ext>
          </a:extLst>
        </p:spPr>
        <p:txBody>
          <a:bodyPr lIns="45719" rIns="45719" anchor="b">
            <a:noAutofit/>
          </a:bodyPr>
          <a:lstStyle>
            <a:lvl1pPr marL="0" marR="0" indent="0" algn="ctr" defTabSz="914400" rtl="0" latinLnBrk="0">
              <a:lnSpc>
                <a:spcPct val="90000"/>
              </a:lnSpc>
              <a:spcBef>
                <a:spcPts val="0"/>
              </a:spcBef>
              <a:spcAft>
                <a:spcPts val="0"/>
              </a:spcAft>
              <a:buClrTx/>
              <a:buSzTx/>
              <a:buFontTx/>
              <a:buNone/>
              <a:tabLst/>
              <a:defRPr sz="6100" b="0" i="0" u="none" strike="noStrike" cap="none" spc="0" baseline="0">
                <a:solidFill>
                  <a:srgbClr val="C00000"/>
                </a:solidFill>
                <a:uFillTx/>
                <a:latin typeface="League Gothic"/>
                <a:ea typeface="League Gothic"/>
                <a:cs typeface="League Gothic"/>
                <a:sym typeface="League Gothic"/>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a:lstStyle>
          <a:p>
            <a:pPr algn="l" hangingPunct="1">
              <a:lnSpc>
                <a:spcPct val="150000"/>
              </a:lnSpc>
            </a:pPr>
            <a:endParaRPr lang="en-US" sz="2600" dirty="0">
              <a:solidFill>
                <a:schemeClr val="tx1"/>
              </a:solidFill>
              <a:latin typeface="Montserrat" pitchFamily="2" charset="77"/>
            </a:endParaRPr>
          </a:p>
        </p:txBody>
      </p:sp>
      <p:sp>
        <p:nvSpPr>
          <p:cNvPr id="16" name="TextBox 15">
            <a:extLst>
              <a:ext uri="{FF2B5EF4-FFF2-40B4-BE49-F238E27FC236}">
                <a16:creationId xmlns:a16="http://schemas.microsoft.com/office/drawing/2014/main" id="{14CB4B6D-625C-0949-ADD7-2ABE4C6D5284}"/>
              </a:ext>
            </a:extLst>
          </p:cNvPr>
          <p:cNvSpPr txBox="1"/>
          <p:nvPr/>
        </p:nvSpPr>
        <p:spPr>
          <a:xfrm>
            <a:off x="2842324" y="339605"/>
            <a:ext cx="6507351"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algn="ctr">
              <a:spcBef>
                <a:spcPts val="600"/>
              </a:spcBef>
              <a:spcAft>
                <a:spcPts val="1200"/>
              </a:spcAft>
            </a:pPr>
            <a:r>
              <a:rPr lang="en-US" sz="3000" dirty="0">
                <a:solidFill>
                  <a:srgbClr val="713190"/>
                </a:solidFill>
                <a:effectLst/>
                <a:latin typeface="Brittany Signature" pitchFamily="2" charset="0"/>
                <a:ea typeface="Times New Roman" panose="02020603050405020304" pitchFamily="18" charset="0"/>
                <a:cs typeface="Times New Roman" panose="02020603050405020304" pitchFamily="18" charset="0"/>
              </a:rPr>
              <a:t>Conflict</a:t>
            </a:r>
            <a:r>
              <a:rPr lang="en-US" sz="3000" dirty="0">
                <a:solidFill>
                  <a:srgbClr val="713190"/>
                </a:solidFill>
                <a:effectLst/>
                <a:latin typeface="Brittany Signature" pitchFamily="2" charset="0"/>
                <a:ea typeface="Calibri" panose="020F0502020204030204" pitchFamily="34" charset="0"/>
                <a:cs typeface="Calibri" panose="020F0502020204030204" pitchFamily="34" charset="0"/>
              </a:rPr>
              <a:t>  to Collaboration Script</a:t>
            </a:r>
            <a:endParaRPr lang="en-US" sz="3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63FB9985-9F52-7C4B-83EA-784293A3BCB5}"/>
              </a:ext>
            </a:extLst>
          </p:cNvPr>
          <p:cNvSpPr txBox="1"/>
          <p:nvPr/>
        </p:nvSpPr>
        <p:spPr>
          <a:xfrm>
            <a:off x="1227164" y="893604"/>
            <a:ext cx="10964835" cy="62786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a:spcBef>
                <a:spcPts val="0"/>
              </a:spcBef>
              <a:spcAft>
                <a:spcPts val="0"/>
              </a:spcAft>
            </a:pPr>
            <a:r>
              <a:rPr lang="en-US" sz="1400" b="1" dirty="0">
                <a:solidFill>
                  <a:srgbClr val="713190"/>
                </a:solidFill>
                <a:effectLst/>
                <a:latin typeface="Montserrat" pitchFamily="2" charset="77"/>
                <a:ea typeface="Calibri" panose="020F0502020204030204" pitchFamily="34" charset="0"/>
                <a:cs typeface="Times New Roman" panose="02020603050405020304" pitchFamily="18" charset="0"/>
              </a:rPr>
              <a:t>Initiator: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i="1" dirty="0">
                <a:effectLst/>
                <a:latin typeface="Montserrat ExtraLight" pitchFamily="2" charset="77"/>
                <a:ea typeface="Calibri" panose="020F0502020204030204" pitchFamily="34" charset="0"/>
                <a:cs typeface="Times New Roman" panose="02020603050405020304" pitchFamily="18" charset="0"/>
              </a:rPr>
              <a:t>Once I’m in a zone of compassion and understanding for myself and the Listener, it is my opportunity/responsibility to communicate and “clean up” what happened: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dirty="0">
                <a:effectLst/>
                <a:latin typeface="Montserrat" pitchFamily="2" charset="77"/>
                <a:ea typeface="Calibri" panose="020F0502020204030204" pitchFamily="34" charset="0"/>
                <a:cs typeface="Times New Roman" panose="02020603050405020304" pitchFamily="18" charset="0"/>
              </a:rPr>
              <a:t>Here is what happened from my perspective:</a:t>
            </a:r>
            <a:r>
              <a:rPr lang="en-US" sz="1400" dirty="0">
                <a:effectLst/>
                <a:latin typeface="Montserrat ExtraLight" pitchFamily="2" charset="77"/>
                <a:ea typeface="Calibri" panose="020F0502020204030204" pitchFamily="34" charset="0"/>
                <a:cs typeface="Times New Roman" panose="02020603050405020304" pitchFamily="18" charset="0"/>
              </a:rPr>
              <a:t>  Just the facts, without interpreting intent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dirty="0">
                <a:effectLst/>
                <a:latin typeface="Montserrat" pitchFamily="2" charset="77"/>
                <a:ea typeface="Calibri" panose="020F0502020204030204" pitchFamily="34" charset="0"/>
                <a:cs typeface="Times New Roman" panose="02020603050405020304" pitchFamily="18" charset="0"/>
              </a:rPr>
              <a:t>Here is the story I made up about what happened:</a:t>
            </a:r>
            <a:r>
              <a:rPr lang="en-US" sz="1400" dirty="0">
                <a:effectLst/>
                <a:latin typeface="Montserrat ExtraLight" pitchFamily="2" charset="77"/>
                <a:ea typeface="Calibri" panose="020F0502020204030204" pitchFamily="34" charset="0"/>
                <a:cs typeface="Times New Roman" panose="02020603050405020304" pitchFamily="18" charset="0"/>
              </a:rPr>
              <a:t> Take responsibility for your personal interpretation of the event(s)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dirty="0">
                <a:effectLst/>
                <a:latin typeface="Montserrat" pitchFamily="2" charset="77"/>
                <a:ea typeface="Calibri" panose="020F0502020204030204" pitchFamily="34" charset="0"/>
                <a:cs typeface="Times New Roman" panose="02020603050405020304" pitchFamily="18" charset="0"/>
              </a:rPr>
              <a:t>Here is the impact on me based on the above, my superpowers, and my kryptonite:</a:t>
            </a:r>
            <a:r>
              <a:rPr lang="en-US" sz="1400" dirty="0">
                <a:effectLst/>
                <a:latin typeface="Montserrat ExtraLight" pitchFamily="2" charset="77"/>
                <a:ea typeface="Calibri" panose="020F0502020204030204" pitchFamily="34" charset="0"/>
                <a:cs typeface="Times New Roman" panose="02020603050405020304" pitchFamily="18" charset="0"/>
              </a:rPr>
              <a:t> Explain why it was painful, challenging, etc.</a:t>
            </a:r>
          </a:p>
          <a:p>
            <a:pPr marL="0" marR="0">
              <a:spcBef>
                <a:spcPts val="0"/>
              </a:spcBef>
              <a:spcAft>
                <a:spcPts val="0"/>
              </a:spcAft>
            </a:pPr>
            <a:br>
              <a:rPr lang="en-US" sz="1400" dirty="0">
                <a:solidFill>
                  <a:srgbClr val="713190"/>
                </a:solidFill>
                <a:effectLst/>
                <a:latin typeface="Montserrat" pitchFamily="2" charset="77"/>
                <a:ea typeface="Calibri" panose="020F0502020204030204" pitchFamily="34" charset="0"/>
                <a:cs typeface="Times New Roman" panose="02020603050405020304" pitchFamily="18" charset="0"/>
              </a:rPr>
            </a:br>
            <a:r>
              <a:rPr lang="en-US" sz="1400" b="1" dirty="0">
                <a:solidFill>
                  <a:srgbClr val="713190"/>
                </a:solidFill>
                <a:effectLst/>
                <a:latin typeface="Montserrat" pitchFamily="2" charset="77"/>
                <a:ea typeface="Calibri" panose="020F0502020204030204" pitchFamily="34" charset="0"/>
                <a:cs typeface="Times New Roman" panose="02020603050405020304" pitchFamily="18" charset="0"/>
              </a:rPr>
              <a:t>Listener: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i="1" dirty="0">
                <a:effectLst/>
                <a:latin typeface="Montserrat ExtraLight" pitchFamily="2" charset="77"/>
                <a:ea typeface="Calibri" panose="020F0502020204030204" pitchFamily="34" charset="0"/>
                <a:cs typeface="Times New Roman" panose="02020603050405020304" pitchFamily="18" charset="0"/>
              </a:rPr>
              <a:t>Your goal is to “get it” – all of it – and then create a new possibility with the Initiator.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dirty="0">
                <a:effectLst/>
                <a:latin typeface="Montserrat ExtraLight" pitchFamily="2" charset="77"/>
                <a:ea typeface="Calibri" panose="020F0502020204030204" pitchFamily="34" charset="0"/>
                <a:cs typeface="Times New Roman" panose="02020603050405020304" pitchFamily="18" charset="0"/>
              </a:rPr>
              <a:t> </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dirty="0">
                <a:effectLst/>
                <a:latin typeface="Montserrat" pitchFamily="2" charset="77"/>
                <a:ea typeface="Calibri" panose="020F0502020204030204" pitchFamily="34" charset="0"/>
                <a:cs typeface="Times New Roman" panose="02020603050405020304" pitchFamily="18" charset="0"/>
              </a:rPr>
              <a:t>What I heard you say was:</a:t>
            </a:r>
            <a:r>
              <a:rPr lang="en-US" sz="1400" dirty="0">
                <a:effectLst/>
                <a:latin typeface="Montserrat ExtraLight" pitchFamily="2" charset="77"/>
                <a:ea typeface="Calibri" panose="020F0502020204030204" pitchFamily="34" charset="0"/>
                <a:cs typeface="Times New Roman" panose="02020603050405020304" pitchFamily="18" charset="0"/>
              </a:rPr>
              <a:t> Repeat back as closely as possibly what they said happened, the story that was created and the impact on them.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800" dirty="0">
                <a:effectLst/>
                <a:latin typeface="Montserrat ExtraLight" pitchFamily="2" charset="77"/>
                <a:ea typeface="Calibri" panose="020F0502020204030204" pitchFamily="34" charset="0"/>
                <a:cs typeface="Times New Roman" panose="02020603050405020304" pitchFamily="18" charset="0"/>
              </a:rPr>
              <a:t> </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dirty="0">
                <a:effectLst/>
                <a:latin typeface="Montserrat" pitchFamily="2" charset="77"/>
                <a:ea typeface="Calibri" panose="020F0502020204030204" pitchFamily="34" charset="0"/>
                <a:cs typeface="Times New Roman" panose="02020603050405020304" pitchFamily="18" charset="0"/>
              </a:rPr>
              <a:t>Did I get it?</a:t>
            </a:r>
            <a:r>
              <a:rPr lang="en-US" sz="1400" dirty="0">
                <a:effectLst/>
                <a:latin typeface="Montserrat ExtraLight" pitchFamily="2" charset="77"/>
                <a:ea typeface="Calibri" panose="020F0502020204030204" pitchFamily="34" charset="0"/>
                <a:cs typeface="Times New Roman" panose="02020603050405020304" pitchFamily="18" charset="0"/>
              </a:rPr>
              <a:t> Only when the listener “gets it” will the initiator begin to relax.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800" dirty="0">
                <a:effectLst/>
                <a:latin typeface="Montserrat ExtraLight" pitchFamily="2" charset="77"/>
                <a:ea typeface="Calibri" panose="020F0502020204030204" pitchFamily="34" charset="0"/>
                <a:cs typeface="Times New Roman" panose="02020603050405020304" pitchFamily="18" charset="0"/>
              </a:rPr>
              <a:t> </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i="1" dirty="0">
                <a:effectLst/>
                <a:latin typeface="Montserrat ExtraLight" pitchFamily="2" charset="77"/>
                <a:ea typeface="Calibri" panose="020F0502020204030204" pitchFamily="34" charset="0"/>
                <a:cs typeface="Times New Roman" panose="02020603050405020304" pitchFamily="18" charset="0"/>
              </a:rPr>
              <a:t>Repeat the above until the answer to "Did I get it?" is "Yes."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800" dirty="0">
                <a:effectLst/>
                <a:latin typeface="Montserrat ExtraLight" pitchFamily="2" charset="77"/>
                <a:ea typeface="Calibri" panose="020F0502020204030204" pitchFamily="34" charset="0"/>
                <a:cs typeface="Times New Roman" panose="02020603050405020304" pitchFamily="18" charset="0"/>
              </a:rPr>
              <a:t> </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dirty="0">
                <a:effectLst/>
                <a:latin typeface="Montserrat" pitchFamily="2" charset="77"/>
                <a:ea typeface="Calibri" panose="020F0502020204030204" pitchFamily="34" charset="0"/>
                <a:cs typeface="Times New Roman" panose="02020603050405020304" pitchFamily="18" charset="0"/>
              </a:rPr>
              <a:t>Is there anything else?</a:t>
            </a:r>
            <a:r>
              <a:rPr lang="en-US" sz="1400" dirty="0">
                <a:effectLst/>
                <a:latin typeface="Montserrat ExtraLight" pitchFamily="2" charset="77"/>
                <a:ea typeface="Calibri" panose="020F0502020204030204" pitchFamily="34" charset="0"/>
                <a:cs typeface="Times New Roman" panose="02020603050405020304" pitchFamily="18" charset="0"/>
              </a:rPr>
              <a:t> Be sure the Initiator gets everything off their chest along with any specific request they have for the future.</a:t>
            </a:r>
            <a:endParaRPr lang="en-US" sz="1400" dirty="0">
              <a:latin typeface="Montserrat ExtraLight" pitchFamily="2" charset="77"/>
              <a:ea typeface="Calibri" panose="020F0502020204030204" pitchFamily="34" charset="0"/>
              <a:cs typeface="Times New Roman" panose="02020603050405020304" pitchFamily="18" charset="0"/>
            </a:endParaRPr>
          </a:p>
          <a:p>
            <a:pPr marL="0" marR="0">
              <a:spcBef>
                <a:spcPts val="0"/>
              </a:spcBef>
              <a:spcAft>
                <a:spcPts val="0"/>
              </a:spcAft>
            </a:pPr>
            <a:r>
              <a:rPr lang="en-US" sz="1400" dirty="0">
                <a:effectLst/>
                <a:latin typeface="Montserrat ExtraLight" pitchFamily="2" charset="77"/>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i="1" dirty="0">
                <a:effectLst/>
                <a:latin typeface="Montserrat ExtraLight" pitchFamily="2" charset="77"/>
                <a:ea typeface="Calibri" panose="020F0502020204030204" pitchFamily="34" charset="0"/>
                <a:cs typeface="Times New Roman" panose="02020603050405020304" pitchFamily="18" charset="0"/>
              </a:rPr>
              <a:t>( If appropriate, </a:t>
            </a:r>
            <a:r>
              <a:rPr lang="en-US" sz="1400" b="1" i="1" dirty="0">
                <a:solidFill>
                  <a:srgbClr val="713190"/>
                </a:solidFill>
                <a:effectLst/>
                <a:latin typeface="Montserrat" pitchFamily="2" charset="77"/>
                <a:ea typeface="Calibri" panose="020F0502020204030204" pitchFamily="34" charset="0"/>
                <a:cs typeface="Times New Roman" panose="02020603050405020304" pitchFamily="18" charset="0"/>
              </a:rPr>
              <a:t>Switch Roles</a:t>
            </a:r>
            <a:r>
              <a:rPr lang="en-US" sz="1400" b="1" i="1" dirty="0">
                <a:effectLst/>
                <a:latin typeface="Montserrat ExtraLight" pitchFamily="2" charset="77"/>
                <a:ea typeface="Calibri" panose="020F0502020204030204" pitchFamily="34" charset="0"/>
                <a:cs typeface="Times New Roman" panose="02020603050405020304" pitchFamily="18" charset="0"/>
              </a:rPr>
              <a:t> </a:t>
            </a:r>
            <a:r>
              <a:rPr lang="en-US" sz="1400" i="1" dirty="0">
                <a:effectLst/>
                <a:latin typeface="Montserrat ExtraLight" pitchFamily="2" charset="77"/>
                <a:ea typeface="Calibri" panose="020F0502020204030204" pitchFamily="34" charset="0"/>
                <a:cs typeface="Times New Roman" panose="02020603050405020304" pitchFamily="18" charset="0"/>
              </a:rPr>
              <a: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b="1" i="1" dirty="0">
                <a:effectLst/>
                <a:latin typeface="Myriad Pro Light"/>
                <a:ea typeface="Calibri" panose="020F0502020204030204" pitchFamily="34" charset="0"/>
                <a:cs typeface="Times New Roman" panose="02020603050405020304" pitchFamily="18" charset="0"/>
              </a:rPr>
              <a:t> </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b="1" dirty="0">
                <a:solidFill>
                  <a:srgbClr val="713190"/>
                </a:solidFill>
                <a:effectLst/>
                <a:latin typeface="Montserrat" pitchFamily="2" charset="77"/>
                <a:ea typeface="Calibri" panose="020F0502020204030204" pitchFamily="34" charset="0"/>
                <a:cs typeface="Times New Roman" panose="02020603050405020304" pitchFamily="18" charset="0"/>
              </a:rPr>
              <a:t>Collaborate on a Solution</a:t>
            </a:r>
            <a:r>
              <a:rPr lang="en-US" sz="1400" dirty="0">
                <a:solidFill>
                  <a:srgbClr val="713190"/>
                </a:solidFill>
                <a:effectLst/>
                <a:latin typeface="Montserrat" pitchFamily="2" charset="77"/>
                <a:ea typeface="Calibri" panose="020F0502020204030204" pitchFamily="34" charset="0"/>
                <a:cs typeface="Times New Roman" panose="02020603050405020304" pitchFamily="18" charset="0"/>
              </a:rPr>
              <a: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400" i="1" dirty="0">
                <a:solidFill>
                  <a:srgbClr val="000000"/>
                </a:solidFill>
                <a:effectLst/>
                <a:latin typeface="Montserrat ExtraLight" pitchFamily="2" charset="77"/>
                <a:ea typeface="Calibri" panose="020F0502020204030204" pitchFamily="34" charset="0"/>
                <a:cs typeface="Times New Roman" panose="02020603050405020304" pitchFamily="18" charset="0"/>
              </a:rPr>
              <a:t>Create a new intention or goal together and then activate superpowers and hack kryptonite to fulfill it!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descr="A logo for a company  Description automatically generated">
            <a:extLst>
              <a:ext uri="{FF2B5EF4-FFF2-40B4-BE49-F238E27FC236}">
                <a16:creationId xmlns:a16="http://schemas.microsoft.com/office/drawing/2014/main" id="{60DC51E1-E0E5-42BC-CEB6-7ED05EC2E0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036" y="25525"/>
            <a:ext cx="1302542" cy="801342"/>
          </a:xfrm>
          <a:prstGeom prst="rect">
            <a:avLst/>
          </a:prstGeom>
        </p:spPr>
      </p:pic>
      <p:sp>
        <p:nvSpPr>
          <p:cNvPr id="4" name="TextBox 3">
            <a:extLst>
              <a:ext uri="{FF2B5EF4-FFF2-40B4-BE49-F238E27FC236}">
                <a16:creationId xmlns:a16="http://schemas.microsoft.com/office/drawing/2014/main" id="{3B14533D-A9DD-4747-DF7E-EF0DFA51B7E1}"/>
              </a:ext>
            </a:extLst>
          </p:cNvPr>
          <p:cNvSpPr txBox="1"/>
          <p:nvPr/>
        </p:nvSpPr>
        <p:spPr>
          <a:xfrm>
            <a:off x="6989" y="6494907"/>
            <a:ext cx="1227922" cy="363818"/>
          </a:xfrm>
          <a:prstGeom prst="rect">
            <a:avLst/>
          </a:prstGeom>
          <a:noFill/>
        </p:spPr>
        <p:txBody>
          <a:bodyPr wrap="square" rtlCol="0">
            <a:spAutoFit/>
          </a:bodyPr>
          <a:lstStyle/>
          <a:p>
            <a:pPr algn="ctr"/>
            <a:r>
              <a:rPr lang="en-US" sz="882">
                <a:solidFill>
                  <a:schemeClr val="tx1">
                    <a:lumMod val="50000"/>
                    <a:lumOff val="50000"/>
                  </a:schemeClr>
                </a:solidFill>
                <a:latin typeface="Montserrat ExtraLight" panose="00000300000000000000" pitchFamily="2" charset="0"/>
              </a:rPr>
              <a:t>Customer Success</a:t>
            </a:r>
          </a:p>
          <a:p>
            <a:pPr algn="ctr"/>
            <a:r>
              <a:rPr lang="en-US" sz="882">
                <a:solidFill>
                  <a:schemeClr val="tx1">
                    <a:lumMod val="50000"/>
                    <a:lumOff val="50000"/>
                  </a:schemeClr>
                </a:solidFill>
                <a:latin typeface="Montserrat ExtraLight" panose="00000300000000000000" pitchFamily="2" charset="0"/>
              </a:rPr>
              <a:t>Team Workshop</a:t>
            </a:r>
            <a:endParaRPr lang="en-US" sz="882" dirty="0">
              <a:solidFill>
                <a:schemeClr val="tx1">
                  <a:lumMod val="50000"/>
                  <a:lumOff val="50000"/>
                </a:schemeClr>
              </a:solidFill>
              <a:latin typeface="Montserrat ExtraLight" panose="00000300000000000000" pitchFamily="2" charset="0"/>
            </a:endParaRPr>
          </a:p>
        </p:txBody>
      </p:sp>
    </p:spTree>
    <p:extLst>
      <p:ext uri="{BB962C8B-B14F-4D97-AF65-F5344CB8AC3E}">
        <p14:creationId xmlns:p14="http://schemas.microsoft.com/office/powerpoint/2010/main" val="294709183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F99BA-801D-C68D-4D78-E3EACA49BBB9}"/>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F295746-A713-0015-932E-BC307C2B0020}"/>
              </a:ext>
            </a:extLst>
          </p:cNvPr>
          <p:cNvSpPr/>
          <p:nvPr/>
        </p:nvSpPr>
        <p:spPr>
          <a:xfrm>
            <a:off x="8364856" y="2347859"/>
            <a:ext cx="3221657" cy="2409350"/>
          </a:xfrm>
          <a:prstGeom prst="rect">
            <a:avLst/>
          </a:prstGeom>
          <a:solidFill>
            <a:srgbClr val="FFFFFF"/>
          </a:solidFill>
          <a:ln w="19050" cap="flat">
            <a:solidFill>
              <a:srgbClr val="722B90"/>
            </a:solidFill>
            <a:prstDash val="solid"/>
            <a:miter lim="8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pic>
        <p:nvPicPr>
          <p:cNvPr id="17" name="Picture 16" descr="Text  Description automatically generated">
            <a:extLst>
              <a:ext uri="{FF2B5EF4-FFF2-40B4-BE49-F238E27FC236}">
                <a16:creationId xmlns:a16="http://schemas.microsoft.com/office/drawing/2014/main" id="{D4A2B05B-56DC-F3A9-E9FF-710CF7EAC6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74849" y="75475"/>
            <a:ext cx="1529937" cy="378235"/>
          </a:xfrm>
          <a:prstGeom prst="rect">
            <a:avLst/>
          </a:prstGeom>
        </p:spPr>
      </p:pic>
      <p:sp>
        <p:nvSpPr>
          <p:cNvPr id="2" name="TextBox 1">
            <a:extLst>
              <a:ext uri="{FF2B5EF4-FFF2-40B4-BE49-F238E27FC236}">
                <a16:creationId xmlns:a16="http://schemas.microsoft.com/office/drawing/2014/main" id="{3A276E3B-4772-AE75-788E-B5E885D79777}"/>
              </a:ext>
            </a:extLst>
          </p:cNvPr>
          <p:cNvSpPr txBox="1"/>
          <p:nvPr/>
        </p:nvSpPr>
        <p:spPr>
          <a:xfrm>
            <a:off x="0" y="650760"/>
            <a:ext cx="12191999"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Brittany Signature" pitchFamily="2" charset="0"/>
                <a:sym typeface="Calibri"/>
              </a:rPr>
              <a:t>The </a:t>
            </a:r>
            <a:r>
              <a:rPr kumimoji="0" lang="en-US" sz="2000" b="0" i="0" u="none" strike="noStrike" cap="none" spc="0" normalizeH="0" baseline="0" dirty="0">
                <a:ln>
                  <a:noFill/>
                </a:ln>
                <a:solidFill>
                  <a:srgbClr val="000000"/>
                </a:solidFill>
                <a:effectLst/>
                <a:uFillTx/>
                <a:latin typeface="Brittany Signature" pitchFamily="2" charset="0"/>
                <a:sym typeface="Calibri"/>
              </a:rPr>
              <a:t>T</a:t>
            </a:r>
            <a:r>
              <a:rPr kumimoji="0" lang="en-US" sz="2400" b="0" i="0" u="none" strike="noStrike" cap="none" spc="0" normalizeH="0" baseline="0" dirty="0">
                <a:ln>
                  <a:noFill/>
                </a:ln>
                <a:solidFill>
                  <a:srgbClr val="000000"/>
                </a:solidFill>
                <a:effectLst/>
                <a:uFillTx/>
                <a:latin typeface="Brittany Signature" pitchFamily="2" charset="0"/>
                <a:sym typeface="Calibri"/>
              </a:rPr>
              <a:t>wo Sides of Growth</a:t>
            </a:r>
          </a:p>
        </p:txBody>
      </p:sp>
      <p:sp>
        <p:nvSpPr>
          <p:cNvPr id="4" name="Rectangle 3">
            <a:extLst>
              <a:ext uri="{FF2B5EF4-FFF2-40B4-BE49-F238E27FC236}">
                <a16:creationId xmlns:a16="http://schemas.microsoft.com/office/drawing/2014/main" id="{0A64171D-C834-A946-1920-BDB3DA1347B1}"/>
              </a:ext>
            </a:extLst>
          </p:cNvPr>
          <p:cNvSpPr/>
          <p:nvPr/>
        </p:nvSpPr>
        <p:spPr>
          <a:xfrm>
            <a:off x="870857" y="2333344"/>
            <a:ext cx="3159316" cy="2409351"/>
          </a:xfrm>
          <a:prstGeom prst="rect">
            <a:avLst/>
          </a:prstGeom>
          <a:solidFill>
            <a:srgbClr val="FFFFFF"/>
          </a:solidFill>
          <a:ln w="19050" cap="flat">
            <a:solidFill>
              <a:srgbClr val="722B90"/>
            </a:solidFill>
            <a:prstDash val="solid"/>
            <a:miter lim="8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5" name="TextBox 4">
            <a:extLst>
              <a:ext uri="{FF2B5EF4-FFF2-40B4-BE49-F238E27FC236}">
                <a16:creationId xmlns:a16="http://schemas.microsoft.com/office/drawing/2014/main" id="{0280250D-DCF1-47CD-6D9A-6FA16493CA7D}"/>
              </a:ext>
            </a:extLst>
          </p:cNvPr>
          <p:cNvSpPr txBox="1"/>
          <p:nvPr/>
        </p:nvSpPr>
        <p:spPr>
          <a:xfrm>
            <a:off x="1214109" y="2808623"/>
            <a:ext cx="232257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a:ln>
                  <a:noFill/>
                </a:ln>
                <a:solidFill>
                  <a:schemeClr val="bg1">
                    <a:lumMod val="65000"/>
                  </a:schemeClr>
                </a:solidFill>
                <a:effectLst/>
                <a:uFillTx/>
                <a:latin typeface="Montserrat Light" pitchFamily="2" charset="0"/>
                <a:sym typeface="Calibri"/>
              </a:rPr>
              <a:t>What is one way that I want</a:t>
            </a:r>
          </a:p>
          <a:p>
            <a:pPr marL="0" marR="0" indent="0" algn="ctr" defTabSz="914400" rtl="0" fontAlgn="auto" latinLnBrk="0" hangingPunct="0">
              <a:lnSpc>
                <a:spcPct val="100000"/>
              </a:lnSpc>
              <a:spcBef>
                <a:spcPts val="0"/>
              </a:spcBef>
              <a:spcAft>
                <a:spcPts val="0"/>
              </a:spcAft>
              <a:buClrTx/>
              <a:buSzTx/>
              <a:buFontTx/>
              <a:buNone/>
              <a:tabLst/>
            </a:pPr>
            <a:r>
              <a:rPr lang="en-US" sz="900">
                <a:solidFill>
                  <a:schemeClr val="bg1">
                    <a:lumMod val="65000"/>
                  </a:schemeClr>
                </a:solidFill>
                <a:latin typeface="Montserrat Light" pitchFamily="2" charset="0"/>
              </a:rPr>
              <a:t>t</a:t>
            </a:r>
            <a:r>
              <a:rPr kumimoji="0" lang="en-US" sz="900" b="0" i="0" u="none" strike="noStrike" cap="none" spc="0" normalizeH="0" baseline="0">
                <a:ln>
                  <a:noFill/>
                </a:ln>
                <a:solidFill>
                  <a:schemeClr val="bg1">
                    <a:lumMod val="65000"/>
                  </a:schemeClr>
                </a:solidFill>
                <a:effectLst/>
                <a:uFillTx/>
                <a:latin typeface="Montserrat Light" pitchFamily="2" charset="0"/>
                <a:sym typeface="Calibri"/>
              </a:rPr>
              <a:t>o </a:t>
            </a:r>
            <a:r>
              <a:rPr lang="en-US" sz="900">
                <a:solidFill>
                  <a:schemeClr val="bg1">
                    <a:lumMod val="65000"/>
                  </a:schemeClr>
                </a:solidFill>
                <a:latin typeface="Montserrat Light" pitchFamily="2" charset="0"/>
              </a:rPr>
              <a:t>proactively grow?</a:t>
            </a:r>
            <a:endParaRPr kumimoji="0" lang="en-US" sz="900" b="0" i="0" u="none" strike="noStrike" cap="none" spc="0" normalizeH="0" baseline="0">
              <a:ln>
                <a:noFill/>
              </a:ln>
              <a:solidFill>
                <a:schemeClr val="bg1">
                  <a:lumMod val="65000"/>
                </a:schemeClr>
              </a:solidFill>
              <a:effectLst/>
              <a:uFillTx/>
              <a:latin typeface="Montserrat Light" pitchFamily="2" charset="0"/>
              <a:sym typeface="Calibri"/>
            </a:endParaRPr>
          </a:p>
        </p:txBody>
      </p:sp>
      <p:sp>
        <p:nvSpPr>
          <p:cNvPr id="6" name="TextBox 5">
            <a:extLst>
              <a:ext uri="{FF2B5EF4-FFF2-40B4-BE49-F238E27FC236}">
                <a16:creationId xmlns:a16="http://schemas.microsoft.com/office/drawing/2014/main" id="{B61AB140-6DF8-42C0-7607-D97734EF3DEE}"/>
              </a:ext>
            </a:extLst>
          </p:cNvPr>
          <p:cNvSpPr txBox="1"/>
          <p:nvPr/>
        </p:nvSpPr>
        <p:spPr>
          <a:xfrm>
            <a:off x="1397888" y="2376887"/>
            <a:ext cx="1955020"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chemeClr val="bg1">
                    <a:lumMod val="65000"/>
                  </a:schemeClr>
                </a:solidFill>
                <a:effectLst/>
                <a:uFillTx/>
                <a:latin typeface="Montserrat SemiBold" pitchFamily="2" charset="0"/>
                <a:sym typeface="Calibri"/>
              </a:rPr>
              <a:t>Empowerment:</a:t>
            </a:r>
          </a:p>
          <a:p>
            <a:pPr marL="0" marR="0" indent="0" algn="ctr" defTabSz="914400" rtl="0" fontAlgn="auto" latinLnBrk="0" hangingPunct="0">
              <a:lnSpc>
                <a:spcPct val="100000"/>
              </a:lnSpc>
              <a:spcBef>
                <a:spcPts val="0"/>
              </a:spcBef>
              <a:spcAft>
                <a:spcPts val="0"/>
              </a:spcAft>
              <a:buClrTx/>
              <a:buSzTx/>
              <a:buFontTx/>
              <a:buNone/>
              <a:tabLst/>
            </a:pPr>
            <a:r>
              <a:rPr lang="en-US" sz="1200" b="1" dirty="0">
                <a:solidFill>
                  <a:schemeClr val="bg1">
                    <a:lumMod val="65000"/>
                  </a:schemeClr>
                </a:solidFill>
                <a:latin typeface="Montserrat SemiBold" pitchFamily="2" charset="0"/>
              </a:rPr>
              <a:t>I can change the world.</a:t>
            </a:r>
            <a:endParaRPr kumimoji="0" lang="en-US" sz="1200" b="1" i="0" u="none" strike="noStrike" cap="none" spc="0" normalizeH="0" baseline="0" dirty="0">
              <a:ln>
                <a:noFill/>
              </a:ln>
              <a:solidFill>
                <a:schemeClr val="bg1">
                  <a:lumMod val="65000"/>
                </a:schemeClr>
              </a:solidFill>
              <a:effectLst/>
              <a:uFillTx/>
              <a:latin typeface="Montserrat SemiBold" pitchFamily="2" charset="0"/>
              <a:sym typeface="Calibri"/>
            </a:endParaRPr>
          </a:p>
        </p:txBody>
      </p:sp>
      <p:sp>
        <p:nvSpPr>
          <p:cNvPr id="8" name="Rectangle 7">
            <a:extLst>
              <a:ext uri="{FF2B5EF4-FFF2-40B4-BE49-F238E27FC236}">
                <a16:creationId xmlns:a16="http://schemas.microsoft.com/office/drawing/2014/main" id="{4B389644-ABD9-1BC1-8E39-EB7B6DA4D6C7}"/>
              </a:ext>
            </a:extLst>
          </p:cNvPr>
          <p:cNvSpPr/>
          <p:nvPr/>
        </p:nvSpPr>
        <p:spPr>
          <a:xfrm>
            <a:off x="4605655" y="2333345"/>
            <a:ext cx="3221657" cy="2409350"/>
          </a:xfrm>
          <a:prstGeom prst="rect">
            <a:avLst/>
          </a:prstGeom>
          <a:solidFill>
            <a:srgbClr val="FFFFFF"/>
          </a:solidFill>
          <a:ln w="19050" cap="flat">
            <a:solidFill>
              <a:srgbClr val="722B90"/>
            </a:solidFill>
            <a:prstDash val="solid"/>
            <a:miter lim="8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9" name="TextBox 8">
            <a:extLst>
              <a:ext uri="{FF2B5EF4-FFF2-40B4-BE49-F238E27FC236}">
                <a16:creationId xmlns:a16="http://schemas.microsoft.com/office/drawing/2014/main" id="{7E0A37A9-9A82-6ACA-116B-6FB6E64B674C}"/>
              </a:ext>
            </a:extLst>
          </p:cNvPr>
          <p:cNvSpPr txBox="1"/>
          <p:nvPr/>
        </p:nvSpPr>
        <p:spPr>
          <a:xfrm>
            <a:off x="8753479" y="2721539"/>
            <a:ext cx="232257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900" dirty="0">
                <a:solidFill>
                  <a:schemeClr val="bg1">
                    <a:lumMod val="65000"/>
                  </a:schemeClr>
                </a:solidFill>
                <a:latin typeface="Montserrat Light" pitchFamily="2" charset="0"/>
              </a:rPr>
              <a:t>How will the world look different</a:t>
            </a:r>
          </a:p>
          <a:p>
            <a:pPr marL="0" marR="0" indent="0" algn="ctr" defTabSz="914400" rtl="0" fontAlgn="auto" latinLnBrk="0" hangingPunct="0">
              <a:lnSpc>
                <a:spcPct val="100000"/>
              </a:lnSpc>
              <a:spcBef>
                <a:spcPts val="0"/>
              </a:spcBef>
              <a:spcAft>
                <a:spcPts val="0"/>
              </a:spcAft>
              <a:buClrTx/>
              <a:buSzTx/>
              <a:buFontTx/>
              <a:buNone/>
              <a:tabLst/>
            </a:pPr>
            <a:r>
              <a:rPr lang="en-US" sz="900" dirty="0">
                <a:solidFill>
                  <a:schemeClr val="bg1">
                    <a:lumMod val="65000"/>
                  </a:schemeClr>
                </a:solidFill>
                <a:latin typeface="Montserrat Light" pitchFamily="2" charset="0"/>
              </a:rPr>
              <a:t>d</a:t>
            </a:r>
            <a:r>
              <a:rPr kumimoji="0" lang="en-US" sz="900" b="0" i="0" u="none" strike="noStrike" cap="none" spc="0" normalizeH="0" baseline="0" dirty="0">
                <a:ln>
                  <a:noFill/>
                </a:ln>
                <a:solidFill>
                  <a:schemeClr val="bg1">
                    <a:lumMod val="65000"/>
                  </a:schemeClr>
                </a:solidFill>
                <a:effectLst/>
                <a:uFillTx/>
                <a:latin typeface="Montserrat Light" pitchFamily="2" charset="0"/>
                <a:sym typeface="Calibri"/>
              </a:rPr>
              <a:t>ue to my proactive growth?</a:t>
            </a:r>
          </a:p>
        </p:txBody>
      </p:sp>
      <p:sp>
        <p:nvSpPr>
          <p:cNvPr id="10" name="TextBox 9">
            <a:extLst>
              <a:ext uri="{FF2B5EF4-FFF2-40B4-BE49-F238E27FC236}">
                <a16:creationId xmlns:a16="http://schemas.microsoft.com/office/drawing/2014/main" id="{3291F640-84E9-CE5B-91BF-D492069D2D84}"/>
              </a:ext>
            </a:extLst>
          </p:cNvPr>
          <p:cNvSpPr txBox="1"/>
          <p:nvPr/>
        </p:nvSpPr>
        <p:spPr>
          <a:xfrm>
            <a:off x="9192849" y="2420430"/>
            <a:ext cx="1414809"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chemeClr val="bg1">
                    <a:lumMod val="65000"/>
                  </a:schemeClr>
                </a:solidFill>
                <a:effectLst/>
                <a:uFillTx/>
                <a:latin typeface="Montserrat SemiBold" pitchFamily="2" charset="0"/>
                <a:sym typeface="Calibri"/>
              </a:rPr>
              <a:t>External Change</a:t>
            </a:r>
          </a:p>
        </p:txBody>
      </p:sp>
      <p:sp>
        <p:nvSpPr>
          <p:cNvPr id="14" name="TextBox 13">
            <a:extLst>
              <a:ext uri="{FF2B5EF4-FFF2-40B4-BE49-F238E27FC236}">
                <a16:creationId xmlns:a16="http://schemas.microsoft.com/office/drawing/2014/main" id="{BB584BF2-A26A-EE68-C6F7-03BFB9B987E9}"/>
              </a:ext>
            </a:extLst>
          </p:cNvPr>
          <p:cNvSpPr txBox="1"/>
          <p:nvPr/>
        </p:nvSpPr>
        <p:spPr>
          <a:xfrm>
            <a:off x="5169739" y="2721539"/>
            <a:ext cx="232257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900" dirty="0">
                <a:solidFill>
                  <a:schemeClr val="bg1">
                    <a:lumMod val="65000"/>
                  </a:schemeClr>
                </a:solidFill>
                <a:latin typeface="Montserrat Light" pitchFamily="2" charset="0"/>
              </a:rPr>
              <a:t>What Superpowers will I use</a:t>
            </a:r>
          </a:p>
          <a:p>
            <a:pPr marL="0" marR="0" indent="0" algn="ctr" defTabSz="914400" rtl="0" fontAlgn="auto" latinLnBrk="0" hangingPunct="0">
              <a:lnSpc>
                <a:spcPct val="100000"/>
              </a:lnSpc>
              <a:spcBef>
                <a:spcPts val="0"/>
              </a:spcBef>
              <a:spcAft>
                <a:spcPts val="0"/>
              </a:spcAft>
              <a:buClrTx/>
              <a:buSzTx/>
              <a:buFontTx/>
              <a:buNone/>
              <a:tabLst/>
            </a:pPr>
            <a:r>
              <a:rPr lang="en-US" sz="900" dirty="0">
                <a:solidFill>
                  <a:schemeClr val="bg1">
                    <a:lumMod val="65000"/>
                  </a:schemeClr>
                </a:solidFill>
                <a:latin typeface="Montserrat Light" pitchFamily="2" charset="0"/>
              </a:rPr>
              <a:t>t</a:t>
            </a:r>
            <a:r>
              <a:rPr kumimoji="0" lang="en-US" sz="900" b="0" i="0" u="none" strike="noStrike" cap="none" spc="0" normalizeH="0" baseline="0" dirty="0">
                <a:ln>
                  <a:noFill/>
                </a:ln>
                <a:solidFill>
                  <a:schemeClr val="bg1">
                    <a:lumMod val="65000"/>
                  </a:schemeClr>
                </a:solidFill>
                <a:effectLst/>
                <a:uFillTx/>
                <a:latin typeface="Montserrat Light" pitchFamily="2" charset="0"/>
                <a:sym typeface="Calibri"/>
              </a:rPr>
              <a:t>o reach my growth goal?</a:t>
            </a:r>
          </a:p>
        </p:txBody>
      </p:sp>
      <p:sp>
        <p:nvSpPr>
          <p:cNvPr id="15" name="TextBox 14">
            <a:extLst>
              <a:ext uri="{FF2B5EF4-FFF2-40B4-BE49-F238E27FC236}">
                <a16:creationId xmlns:a16="http://schemas.microsoft.com/office/drawing/2014/main" id="{0C164F67-B832-3433-E347-943867C3A3CC}"/>
              </a:ext>
            </a:extLst>
          </p:cNvPr>
          <p:cNvSpPr txBox="1"/>
          <p:nvPr/>
        </p:nvSpPr>
        <p:spPr>
          <a:xfrm>
            <a:off x="5288600" y="2434945"/>
            <a:ext cx="2084864"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chemeClr val="bg1">
                    <a:lumMod val="65000"/>
                  </a:schemeClr>
                </a:solidFill>
                <a:effectLst/>
                <a:uFillTx/>
                <a:latin typeface="Montserrat SemiBold" pitchFamily="2" charset="0"/>
                <a:sym typeface="Calibri"/>
              </a:rPr>
              <a:t>Harnessing Superpowers</a:t>
            </a:r>
          </a:p>
        </p:txBody>
      </p:sp>
      <p:sp>
        <p:nvSpPr>
          <p:cNvPr id="20" name="TextBox 19">
            <a:extLst>
              <a:ext uri="{FF2B5EF4-FFF2-40B4-BE49-F238E27FC236}">
                <a16:creationId xmlns:a16="http://schemas.microsoft.com/office/drawing/2014/main" id="{ED3D5D6D-23F9-D6CB-A860-CE7C0DFFD844}"/>
              </a:ext>
            </a:extLst>
          </p:cNvPr>
          <p:cNvSpPr txBox="1"/>
          <p:nvPr/>
        </p:nvSpPr>
        <p:spPr>
          <a:xfrm>
            <a:off x="4797232" y="1545619"/>
            <a:ext cx="2713914"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722B90"/>
                </a:solidFill>
                <a:effectLst/>
                <a:uFillTx/>
                <a:latin typeface="Montserrat SemiBold" pitchFamily="2" charset="0"/>
                <a:sym typeface="Calibri"/>
              </a:rPr>
              <a:t>Proactive Growth</a:t>
            </a:r>
          </a:p>
        </p:txBody>
      </p:sp>
      <p:sp>
        <p:nvSpPr>
          <p:cNvPr id="32" name="Footer Placeholder 14">
            <a:extLst>
              <a:ext uri="{FF2B5EF4-FFF2-40B4-BE49-F238E27FC236}">
                <a16:creationId xmlns:a16="http://schemas.microsoft.com/office/drawing/2014/main" id="{721705FF-44C3-1345-8DAB-93A13C2EAC0F}"/>
              </a:ext>
            </a:extLst>
          </p:cNvPr>
          <p:cNvSpPr txBox="1">
            <a:spLocks/>
          </p:cNvSpPr>
          <p:nvPr/>
        </p:nvSpPr>
        <p:spPr>
          <a:xfrm>
            <a:off x="4464966" y="6598843"/>
            <a:ext cx="3634049" cy="217015"/>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pPr algn="ctr"/>
            <a:r>
              <a:rPr lang="en-US" sz="882" dirty="0">
                <a:solidFill>
                  <a:schemeClr val="tx1"/>
                </a:solidFill>
                <a:latin typeface="Montserrat ExtraLight" pitchFamily="2" charset="77"/>
              </a:rPr>
              <a:t>©2022 </a:t>
            </a:r>
            <a:r>
              <a:rPr lang="en-US" sz="882" dirty="0" err="1">
                <a:solidFill>
                  <a:schemeClr val="tx1"/>
                </a:solidFill>
                <a:latin typeface="Montserrat ExtraLight" pitchFamily="2" charset="77"/>
              </a:rPr>
              <a:t>Parillume</a:t>
            </a:r>
            <a:r>
              <a:rPr lang="en-US" sz="882" dirty="0">
                <a:solidFill>
                  <a:schemeClr val="tx1"/>
                </a:solidFill>
                <a:latin typeface="Montserrat ExtraLight" pitchFamily="2" charset="77"/>
              </a:rPr>
              <a:t> All rights reserved</a:t>
            </a:r>
          </a:p>
        </p:txBody>
      </p:sp>
      <p:sp>
        <p:nvSpPr>
          <p:cNvPr id="12" name="TextBox 11">
            <a:extLst>
              <a:ext uri="{FF2B5EF4-FFF2-40B4-BE49-F238E27FC236}">
                <a16:creationId xmlns:a16="http://schemas.microsoft.com/office/drawing/2014/main" id="{D276ECA5-F555-571B-2831-7DA8DEFFD7D4}"/>
              </a:ext>
            </a:extLst>
          </p:cNvPr>
          <p:cNvSpPr txBox="1"/>
          <p:nvPr/>
        </p:nvSpPr>
        <p:spPr>
          <a:xfrm>
            <a:off x="870857" y="3291278"/>
            <a:ext cx="3159316" cy="830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200" dirty="0">
                <a:solidFill>
                  <a:schemeClr val="accent1">
                    <a:lumMod val="50000"/>
                  </a:schemeClr>
                </a:solidFill>
                <a:latin typeface="Ink Free" panose="03080402000500000000" pitchFamily="66" charset="0"/>
              </a:rPr>
              <a:t>My team and I create </a:t>
            </a:r>
            <a:r>
              <a:rPr lang="en-US" sz="1200" dirty="0" err="1">
                <a:solidFill>
                  <a:schemeClr val="accent1">
                    <a:lumMod val="50000"/>
                  </a:schemeClr>
                </a:solidFill>
                <a:latin typeface="Ink Free" panose="03080402000500000000" pitchFamily="66" charset="0"/>
              </a:rPr>
              <a:t>Parillume’s</a:t>
            </a:r>
            <a:r>
              <a:rPr lang="en-US" sz="1200" dirty="0">
                <a:solidFill>
                  <a:schemeClr val="accent1">
                    <a:lumMod val="50000"/>
                  </a:schemeClr>
                </a:solidFill>
                <a:latin typeface="Ink Free" panose="03080402000500000000" pitchFamily="66" charset="0"/>
              </a:rPr>
              <a:t> Phase 3 Dashboard for leaders, and I sell into it by Q4 2023 - instead of just talking about it like I did in 2022.</a:t>
            </a:r>
          </a:p>
        </p:txBody>
      </p:sp>
      <p:sp>
        <p:nvSpPr>
          <p:cNvPr id="34" name="TextBox 33">
            <a:extLst>
              <a:ext uri="{FF2B5EF4-FFF2-40B4-BE49-F238E27FC236}">
                <a16:creationId xmlns:a16="http://schemas.microsoft.com/office/drawing/2014/main" id="{5865E11C-6ACF-B50E-5E7D-2E5758E46934}"/>
              </a:ext>
            </a:extLst>
          </p:cNvPr>
          <p:cNvSpPr txBox="1"/>
          <p:nvPr/>
        </p:nvSpPr>
        <p:spPr>
          <a:xfrm>
            <a:off x="8387734" y="3153396"/>
            <a:ext cx="3221657" cy="1384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200" dirty="0">
                <a:solidFill>
                  <a:schemeClr val="accent1">
                    <a:lumMod val="50000"/>
                  </a:schemeClr>
                </a:solidFill>
                <a:latin typeface="Ink Free" panose="03080402000500000000" pitchFamily="66" charset="0"/>
              </a:rPr>
              <a:t>Our 3-phase people-development system will be complete. We will have greater capacity to scale. Our brand will move forward. Our clients will have access to all of our tools and resources and how to use them, so they can continue integrating this work into their cultures by themselves.</a:t>
            </a:r>
          </a:p>
        </p:txBody>
      </p:sp>
      <p:sp>
        <p:nvSpPr>
          <p:cNvPr id="35" name="TextBox 34">
            <a:extLst>
              <a:ext uri="{FF2B5EF4-FFF2-40B4-BE49-F238E27FC236}">
                <a16:creationId xmlns:a16="http://schemas.microsoft.com/office/drawing/2014/main" id="{65D9CE07-6B0A-BB78-25F7-11062FAD5C47}"/>
              </a:ext>
            </a:extLst>
          </p:cNvPr>
          <p:cNvSpPr txBox="1"/>
          <p:nvPr/>
        </p:nvSpPr>
        <p:spPr>
          <a:xfrm>
            <a:off x="4626130" y="3189682"/>
            <a:ext cx="3183719"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200" dirty="0">
                <a:solidFill>
                  <a:schemeClr val="accent1">
                    <a:lumMod val="50000"/>
                  </a:schemeClr>
                </a:solidFill>
                <a:latin typeface="Ink Free" panose="03080402000500000000" pitchFamily="66" charset="0"/>
              </a:rPr>
              <a:t>Enneagram 3 Leadership: Weekly meetings with the team. Breaking the project down and tracking our progress each week. Being accountable to each other. </a:t>
            </a:r>
          </a:p>
          <a:p>
            <a:pPr marL="0" marR="0" indent="0" algn="l" defTabSz="914400" rtl="0" fontAlgn="auto" latinLnBrk="0" hangingPunct="0">
              <a:lnSpc>
                <a:spcPct val="100000"/>
              </a:lnSpc>
              <a:spcBef>
                <a:spcPts val="0"/>
              </a:spcBef>
              <a:spcAft>
                <a:spcPts val="0"/>
              </a:spcAft>
              <a:buClrTx/>
              <a:buSzTx/>
              <a:buFontTx/>
              <a:buNone/>
              <a:tabLst/>
            </a:pPr>
            <a:r>
              <a:rPr lang="en-US" sz="1200" dirty="0">
                <a:solidFill>
                  <a:schemeClr val="accent1">
                    <a:lumMod val="50000"/>
                  </a:schemeClr>
                </a:solidFill>
                <a:latin typeface="Ink Free" panose="03080402000500000000" pitchFamily="66" charset="0"/>
              </a:rPr>
              <a:t>ENFJ Time Blocking: Cleared Monday &amp; Tuesday for creative work &amp; our team meeting. </a:t>
            </a:r>
          </a:p>
        </p:txBody>
      </p:sp>
      <p:pic>
        <p:nvPicPr>
          <p:cNvPr id="3" name="Picture 2" descr="A logo for a company  Description automatically generated">
            <a:extLst>
              <a:ext uri="{FF2B5EF4-FFF2-40B4-BE49-F238E27FC236}">
                <a16:creationId xmlns:a16="http://schemas.microsoft.com/office/drawing/2014/main" id="{FF9DF3CB-BF66-6C3A-9DCB-2D27071C74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036" y="25525"/>
            <a:ext cx="1302542" cy="801342"/>
          </a:xfrm>
          <a:prstGeom prst="rect">
            <a:avLst/>
          </a:prstGeom>
        </p:spPr>
      </p:pic>
      <p:sp>
        <p:nvSpPr>
          <p:cNvPr id="13" name="TextBox 12">
            <a:extLst>
              <a:ext uri="{FF2B5EF4-FFF2-40B4-BE49-F238E27FC236}">
                <a16:creationId xmlns:a16="http://schemas.microsoft.com/office/drawing/2014/main" id="{3D56A43B-5B29-693D-4A2F-980128031A62}"/>
              </a:ext>
            </a:extLst>
          </p:cNvPr>
          <p:cNvSpPr txBox="1"/>
          <p:nvPr/>
        </p:nvSpPr>
        <p:spPr>
          <a:xfrm>
            <a:off x="6989" y="6494907"/>
            <a:ext cx="1227922" cy="363818"/>
          </a:xfrm>
          <a:prstGeom prst="rect">
            <a:avLst/>
          </a:prstGeom>
          <a:noFill/>
        </p:spPr>
        <p:txBody>
          <a:bodyPr wrap="square" rtlCol="0">
            <a:spAutoFit/>
          </a:bodyPr>
          <a:lstStyle/>
          <a:p>
            <a:pPr algn="ctr"/>
            <a:r>
              <a:rPr lang="en-US" sz="882">
                <a:solidFill>
                  <a:schemeClr val="tx1">
                    <a:lumMod val="50000"/>
                    <a:lumOff val="50000"/>
                  </a:schemeClr>
                </a:solidFill>
                <a:latin typeface="Montserrat ExtraLight" panose="00000300000000000000" pitchFamily="2" charset="0"/>
              </a:rPr>
              <a:t>Customer Success</a:t>
            </a:r>
          </a:p>
          <a:p>
            <a:pPr algn="ctr"/>
            <a:r>
              <a:rPr lang="en-US" sz="882">
                <a:solidFill>
                  <a:schemeClr val="tx1">
                    <a:lumMod val="50000"/>
                    <a:lumOff val="50000"/>
                  </a:schemeClr>
                </a:solidFill>
                <a:latin typeface="Montserrat ExtraLight" panose="00000300000000000000" pitchFamily="2" charset="0"/>
              </a:rPr>
              <a:t>Team Workshop</a:t>
            </a:r>
            <a:endParaRPr lang="en-US" sz="882" dirty="0">
              <a:solidFill>
                <a:schemeClr val="tx1">
                  <a:lumMod val="50000"/>
                  <a:lumOff val="50000"/>
                </a:schemeClr>
              </a:solidFill>
              <a:latin typeface="Montserrat ExtraLight" panose="00000300000000000000" pitchFamily="2" charset="0"/>
            </a:endParaRPr>
          </a:p>
        </p:txBody>
      </p:sp>
    </p:spTree>
    <p:extLst>
      <p:ext uri="{BB962C8B-B14F-4D97-AF65-F5344CB8AC3E}">
        <p14:creationId xmlns:p14="http://schemas.microsoft.com/office/powerpoint/2010/main" val="249771948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F99BA-801D-C68D-4D78-E3EACA49BBB9}"/>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F295746-A713-0015-932E-BC307C2B0020}"/>
              </a:ext>
            </a:extLst>
          </p:cNvPr>
          <p:cNvSpPr/>
          <p:nvPr/>
        </p:nvSpPr>
        <p:spPr>
          <a:xfrm>
            <a:off x="8364856" y="2347859"/>
            <a:ext cx="3221657" cy="2409350"/>
          </a:xfrm>
          <a:prstGeom prst="rect">
            <a:avLst/>
          </a:prstGeom>
          <a:solidFill>
            <a:srgbClr val="FFFFFF"/>
          </a:solidFill>
          <a:ln w="19050" cap="flat">
            <a:solidFill>
              <a:srgbClr val="2E84B7"/>
            </a:solidFill>
            <a:prstDash val="solid"/>
            <a:miter lim="8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pic>
        <p:nvPicPr>
          <p:cNvPr id="17" name="Picture 16" descr="Text  Description automatically generated">
            <a:extLst>
              <a:ext uri="{FF2B5EF4-FFF2-40B4-BE49-F238E27FC236}">
                <a16:creationId xmlns:a16="http://schemas.microsoft.com/office/drawing/2014/main" id="{D4A2B05B-56DC-F3A9-E9FF-710CF7EAC6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74849" y="75475"/>
            <a:ext cx="1529937" cy="378235"/>
          </a:xfrm>
          <a:prstGeom prst="rect">
            <a:avLst/>
          </a:prstGeom>
        </p:spPr>
      </p:pic>
      <p:sp>
        <p:nvSpPr>
          <p:cNvPr id="2" name="TextBox 1">
            <a:extLst>
              <a:ext uri="{FF2B5EF4-FFF2-40B4-BE49-F238E27FC236}">
                <a16:creationId xmlns:a16="http://schemas.microsoft.com/office/drawing/2014/main" id="{3A276E3B-4772-AE75-788E-B5E885D79777}"/>
              </a:ext>
            </a:extLst>
          </p:cNvPr>
          <p:cNvSpPr txBox="1"/>
          <p:nvPr/>
        </p:nvSpPr>
        <p:spPr>
          <a:xfrm>
            <a:off x="0" y="650760"/>
            <a:ext cx="12191999"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Brittany Signature" pitchFamily="2" charset="0"/>
                <a:sym typeface="Calibri"/>
              </a:rPr>
              <a:t>The </a:t>
            </a:r>
            <a:r>
              <a:rPr kumimoji="0" lang="en-US" sz="2000" b="0" i="0" u="none" strike="noStrike" cap="none" spc="0" normalizeH="0" baseline="0" dirty="0">
                <a:ln>
                  <a:noFill/>
                </a:ln>
                <a:solidFill>
                  <a:srgbClr val="000000"/>
                </a:solidFill>
                <a:effectLst/>
                <a:uFillTx/>
                <a:latin typeface="Brittany Signature" pitchFamily="2" charset="0"/>
                <a:sym typeface="Calibri"/>
              </a:rPr>
              <a:t>T</a:t>
            </a:r>
            <a:r>
              <a:rPr kumimoji="0" lang="en-US" sz="2400" b="0" i="0" u="none" strike="noStrike" cap="none" spc="0" normalizeH="0" baseline="0" dirty="0">
                <a:ln>
                  <a:noFill/>
                </a:ln>
                <a:solidFill>
                  <a:srgbClr val="000000"/>
                </a:solidFill>
                <a:effectLst/>
                <a:uFillTx/>
                <a:latin typeface="Brittany Signature" pitchFamily="2" charset="0"/>
                <a:sym typeface="Calibri"/>
              </a:rPr>
              <a:t>wo Sides of Growth</a:t>
            </a:r>
          </a:p>
        </p:txBody>
      </p:sp>
      <p:sp>
        <p:nvSpPr>
          <p:cNvPr id="4" name="Rectangle 3">
            <a:extLst>
              <a:ext uri="{FF2B5EF4-FFF2-40B4-BE49-F238E27FC236}">
                <a16:creationId xmlns:a16="http://schemas.microsoft.com/office/drawing/2014/main" id="{0A64171D-C834-A946-1920-BDB3DA1347B1}"/>
              </a:ext>
            </a:extLst>
          </p:cNvPr>
          <p:cNvSpPr/>
          <p:nvPr/>
        </p:nvSpPr>
        <p:spPr>
          <a:xfrm>
            <a:off x="870857" y="2333344"/>
            <a:ext cx="3159316" cy="2409351"/>
          </a:xfrm>
          <a:prstGeom prst="rect">
            <a:avLst/>
          </a:prstGeom>
          <a:solidFill>
            <a:srgbClr val="FFFFFF"/>
          </a:solidFill>
          <a:ln w="19050" cap="flat">
            <a:solidFill>
              <a:srgbClr val="2E84B7"/>
            </a:solidFill>
            <a:prstDash val="solid"/>
            <a:miter lim="8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effectLst/>
              <a:uFillTx/>
              <a:latin typeface="+mj-lt"/>
              <a:ea typeface="+mj-ea"/>
              <a:cs typeface="+mj-cs"/>
              <a:sym typeface="Calibri"/>
            </a:endParaRPr>
          </a:p>
        </p:txBody>
      </p:sp>
      <p:sp>
        <p:nvSpPr>
          <p:cNvPr id="5" name="TextBox 4">
            <a:extLst>
              <a:ext uri="{FF2B5EF4-FFF2-40B4-BE49-F238E27FC236}">
                <a16:creationId xmlns:a16="http://schemas.microsoft.com/office/drawing/2014/main" id="{0280250D-DCF1-47CD-6D9A-6FA16493CA7D}"/>
              </a:ext>
            </a:extLst>
          </p:cNvPr>
          <p:cNvSpPr txBox="1"/>
          <p:nvPr/>
        </p:nvSpPr>
        <p:spPr>
          <a:xfrm>
            <a:off x="1214109" y="2808623"/>
            <a:ext cx="2322576" cy="2308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dirty="0">
                <a:ln>
                  <a:noFill/>
                </a:ln>
                <a:solidFill>
                  <a:schemeClr val="bg1">
                    <a:lumMod val="65000"/>
                  </a:schemeClr>
                </a:solidFill>
                <a:effectLst/>
                <a:uFillTx/>
                <a:latin typeface="Montserrat Light" pitchFamily="2" charset="0"/>
                <a:sym typeface="Calibri"/>
              </a:rPr>
              <a:t>What challenge am I currently facing</a:t>
            </a:r>
            <a:r>
              <a:rPr lang="en-US" sz="900" dirty="0">
                <a:solidFill>
                  <a:schemeClr val="bg1">
                    <a:lumMod val="65000"/>
                  </a:schemeClr>
                </a:solidFill>
                <a:latin typeface="Montserrat Light" pitchFamily="2" charset="0"/>
              </a:rPr>
              <a:t>?</a:t>
            </a:r>
            <a:endParaRPr kumimoji="0" lang="en-US" sz="900" b="0" i="0" u="none" strike="noStrike" cap="none" spc="0" normalizeH="0" baseline="0" dirty="0">
              <a:ln>
                <a:noFill/>
              </a:ln>
              <a:solidFill>
                <a:schemeClr val="bg1">
                  <a:lumMod val="65000"/>
                </a:schemeClr>
              </a:solidFill>
              <a:effectLst/>
              <a:uFillTx/>
              <a:latin typeface="Montserrat Light" pitchFamily="2" charset="0"/>
              <a:sym typeface="Calibri"/>
            </a:endParaRPr>
          </a:p>
        </p:txBody>
      </p:sp>
      <p:sp>
        <p:nvSpPr>
          <p:cNvPr id="6" name="TextBox 5">
            <a:extLst>
              <a:ext uri="{FF2B5EF4-FFF2-40B4-BE49-F238E27FC236}">
                <a16:creationId xmlns:a16="http://schemas.microsoft.com/office/drawing/2014/main" id="{B61AB140-6DF8-42C0-7607-D97734EF3DEE}"/>
              </a:ext>
            </a:extLst>
          </p:cNvPr>
          <p:cNvSpPr txBox="1"/>
          <p:nvPr/>
        </p:nvSpPr>
        <p:spPr>
          <a:xfrm>
            <a:off x="1391477" y="2376887"/>
            <a:ext cx="1967845"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1200" b="1" dirty="0">
                <a:solidFill>
                  <a:schemeClr val="bg1">
                    <a:lumMod val="65000"/>
                  </a:schemeClr>
                </a:solidFill>
                <a:latin typeface="Montserrat SemiBold" pitchFamily="2" charset="0"/>
              </a:rPr>
              <a:t>Disem</a:t>
            </a:r>
            <a:r>
              <a:rPr kumimoji="0" lang="en-US" sz="1200" b="1" i="0" u="none" strike="noStrike" cap="none" spc="0" normalizeH="0" baseline="0" dirty="0">
                <a:ln>
                  <a:noFill/>
                </a:ln>
                <a:solidFill>
                  <a:schemeClr val="bg1">
                    <a:lumMod val="65000"/>
                  </a:schemeClr>
                </a:solidFill>
                <a:effectLst/>
                <a:uFillTx/>
                <a:latin typeface="Montserrat SemiBold" pitchFamily="2" charset="0"/>
                <a:sym typeface="Calibri"/>
              </a:rPr>
              <a:t>powerment:</a:t>
            </a:r>
          </a:p>
          <a:p>
            <a:pPr marL="0" marR="0" indent="0" algn="ctr" defTabSz="914400" rtl="0" fontAlgn="auto" latinLnBrk="0" hangingPunct="0">
              <a:lnSpc>
                <a:spcPct val="100000"/>
              </a:lnSpc>
              <a:spcBef>
                <a:spcPts val="0"/>
              </a:spcBef>
              <a:spcAft>
                <a:spcPts val="0"/>
              </a:spcAft>
              <a:buClrTx/>
              <a:buSzTx/>
              <a:buFontTx/>
              <a:buNone/>
              <a:tabLst/>
            </a:pPr>
            <a:r>
              <a:rPr lang="en-US" sz="1200" b="1" dirty="0">
                <a:solidFill>
                  <a:schemeClr val="bg1">
                    <a:lumMod val="65000"/>
                  </a:schemeClr>
                </a:solidFill>
                <a:latin typeface="Montserrat SemiBold" pitchFamily="2" charset="0"/>
              </a:rPr>
              <a:t>The world changes me.</a:t>
            </a:r>
            <a:endParaRPr kumimoji="0" lang="en-US" sz="1200" b="1" i="0" u="none" strike="noStrike" cap="none" spc="0" normalizeH="0" baseline="0" dirty="0">
              <a:ln>
                <a:noFill/>
              </a:ln>
              <a:solidFill>
                <a:schemeClr val="bg1">
                  <a:lumMod val="65000"/>
                </a:schemeClr>
              </a:solidFill>
              <a:effectLst/>
              <a:uFillTx/>
              <a:latin typeface="Montserrat SemiBold" pitchFamily="2" charset="0"/>
              <a:sym typeface="Calibri"/>
            </a:endParaRPr>
          </a:p>
        </p:txBody>
      </p:sp>
      <p:sp>
        <p:nvSpPr>
          <p:cNvPr id="8" name="Rectangle 7">
            <a:extLst>
              <a:ext uri="{FF2B5EF4-FFF2-40B4-BE49-F238E27FC236}">
                <a16:creationId xmlns:a16="http://schemas.microsoft.com/office/drawing/2014/main" id="{4B389644-ABD9-1BC1-8E39-EB7B6DA4D6C7}"/>
              </a:ext>
            </a:extLst>
          </p:cNvPr>
          <p:cNvSpPr/>
          <p:nvPr/>
        </p:nvSpPr>
        <p:spPr>
          <a:xfrm>
            <a:off x="4605655" y="2333345"/>
            <a:ext cx="3221657" cy="2409350"/>
          </a:xfrm>
          <a:prstGeom prst="rect">
            <a:avLst/>
          </a:prstGeom>
          <a:solidFill>
            <a:srgbClr val="FFFFFF"/>
          </a:solidFill>
          <a:ln w="19050" cap="flat">
            <a:solidFill>
              <a:srgbClr val="2E84B7"/>
            </a:solidFill>
            <a:prstDash val="solid"/>
            <a:miter lim="8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9" name="TextBox 8">
            <a:extLst>
              <a:ext uri="{FF2B5EF4-FFF2-40B4-BE49-F238E27FC236}">
                <a16:creationId xmlns:a16="http://schemas.microsoft.com/office/drawing/2014/main" id="{7E0A37A9-9A82-6ACA-116B-6FB6E64B674C}"/>
              </a:ext>
            </a:extLst>
          </p:cNvPr>
          <p:cNvSpPr txBox="1"/>
          <p:nvPr/>
        </p:nvSpPr>
        <p:spPr>
          <a:xfrm>
            <a:off x="8737246" y="2721539"/>
            <a:ext cx="232257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900" dirty="0">
                <a:solidFill>
                  <a:schemeClr val="bg1">
                    <a:lumMod val="65000"/>
                  </a:schemeClr>
                </a:solidFill>
                <a:latin typeface="Montserrat Light" pitchFamily="2" charset="0"/>
              </a:rPr>
              <a:t>How will I be different</a:t>
            </a:r>
          </a:p>
          <a:p>
            <a:pPr marL="0" marR="0" indent="0" algn="ctr" defTabSz="914400" rtl="0" fontAlgn="auto" latinLnBrk="0" hangingPunct="0">
              <a:lnSpc>
                <a:spcPct val="100000"/>
              </a:lnSpc>
              <a:spcBef>
                <a:spcPts val="0"/>
              </a:spcBef>
              <a:spcAft>
                <a:spcPts val="0"/>
              </a:spcAft>
              <a:buClrTx/>
              <a:buSzTx/>
              <a:buFontTx/>
              <a:buNone/>
              <a:tabLst/>
            </a:pPr>
            <a:r>
              <a:rPr lang="en-US" sz="900" dirty="0">
                <a:solidFill>
                  <a:schemeClr val="bg1">
                    <a:lumMod val="65000"/>
                  </a:schemeClr>
                </a:solidFill>
                <a:latin typeface="Montserrat Light" pitchFamily="2" charset="0"/>
              </a:rPr>
              <a:t>d</a:t>
            </a:r>
            <a:r>
              <a:rPr kumimoji="0" lang="en-US" sz="900" b="0" i="0" u="none" strike="noStrike" cap="none" spc="0" normalizeH="0" baseline="0" dirty="0">
                <a:ln>
                  <a:noFill/>
                </a:ln>
                <a:solidFill>
                  <a:schemeClr val="bg1">
                    <a:lumMod val="65000"/>
                  </a:schemeClr>
                </a:solidFill>
                <a:effectLst/>
                <a:uFillTx/>
                <a:latin typeface="Montserrat Light" pitchFamily="2" charset="0"/>
                <a:sym typeface="Calibri"/>
              </a:rPr>
              <a:t>ue to my </a:t>
            </a:r>
            <a:r>
              <a:rPr lang="en-US" sz="900" dirty="0">
                <a:solidFill>
                  <a:schemeClr val="bg1">
                    <a:lumMod val="65000"/>
                  </a:schemeClr>
                </a:solidFill>
                <a:latin typeface="Montserrat Light" pitchFamily="2" charset="0"/>
              </a:rPr>
              <a:t>responsive</a:t>
            </a:r>
            <a:r>
              <a:rPr kumimoji="0" lang="en-US" sz="900" b="0" i="0" u="none" strike="noStrike" cap="none" spc="0" normalizeH="0" baseline="0" dirty="0">
                <a:ln>
                  <a:noFill/>
                </a:ln>
                <a:solidFill>
                  <a:schemeClr val="bg1">
                    <a:lumMod val="65000"/>
                  </a:schemeClr>
                </a:solidFill>
                <a:effectLst/>
                <a:uFillTx/>
                <a:latin typeface="Montserrat Light" pitchFamily="2" charset="0"/>
                <a:sym typeface="Calibri"/>
              </a:rPr>
              <a:t> growth?</a:t>
            </a:r>
          </a:p>
        </p:txBody>
      </p:sp>
      <p:sp>
        <p:nvSpPr>
          <p:cNvPr id="10" name="TextBox 9">
            <a:extLst>
              <a:ext uri="{FF2B5EF4-FFF2-40B4-BE49-F238E27FC236}">
                <a16:creationId xmlns:a16="http://schemas.microsoft.com/office/drawing/2014/main" id="{3291F640-84E9-CE5B-91BF-D492069D2D84}"/>
              </a:ext>
            </a:extLst>
          </p:cNvPr>
          <p:cNvSpPr txBox="1"/>
          <p:nvPr/>
        </p:nvSpPr>
        <p:spPr>
          <a:xfrm>
            <a:off x="9187837" y="2420430"/>
            <a:ext cx="1392367"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1200" b="1" dirty="0">
                <a:solidFill>
                  <a:schemeClr val="bg1">
                    <a:lumMod val="65000"/>
                  </a:schemeClr>
                </a:solidFill>
                <a:latin typeface="Montserrat SemiBold" pitchFamily="2" charset="0"/>
              </a:rPr>
              <a:t>Interna</a:t>
            </a:r>
            <a:r>
              <a:rPr kumimoji="0" lang="en-US" sz="1200" b="1" i="0" u="none" strike="noStrike" cap="none" spc="0" normalizeH="0" baseline="0" dirty="0">
                <a:ln>
                  <a:noFill/>
                </a:ln>
                <a:solidFill>
                  <a:schemeClr val="bg1">
                    <a:lumMod val="65000"/>
                  </a:schemeClr>
                </a:solidFill>
                <a:effectLst/>
                <a:uFillTx/>
                <a:latin typeface="Montserrat SemiBold" pitchFamily="2" charset="0"/>
                <a:sym typeface="Calibri"/>
              </a:rPr>
              <a:t>l Change</a:t>
            </a:r>
          </a:p>
        </p:txBody>
      </p:sp>
      <p:sp>
        <p:nvSpPr>
          <p:cNvPr id="15" name="TextBox 14">
            <a:extLst>
              <a:ext uri="{FF2B5EF4-FFF2-40B4-BE49-F238E27FC236}">
                <a16:creationId xmlns:a16="http://schemas.microsoft.com/office/drawing/2014/main" id="{0C164F67-B832-3433-E347-943867C3A3CC}"/>
              </a:ext>
            </a:extLst>
          </p:cNvPr>
          <p:cNvSpPr txBox="1"/>
          <p:nvPr/>
        </p:nvSpPr>
        <p:spPr>
          <a:xfrm>
            <a:off x="5409104" y="2434945"/>
            <a:ext cx="1669686"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chemeClr val="bg1">
                    <a:lumMod val="65000"/>
                  </a:schemeClr>
                </a:solidFill>
                <a:effectLst/>
                <a:uFillTx/>
                <a:latin typeface="Montserrat SemiBold" pitchFamily="2" charset="0"/>
                <a:sym typeface="Calibri"/>
              </a:rPr>
              <a:t>Hacking Kryptonite</a:t>
            </a:r>
          </a:p>
        </p:txBody>
      </p:sp>
      <p:sp>
        <p:nvSpPr>
          <p:cNvPr id="20" name="TextBox 19">
            <a:extLst>
              <a:ext uri="{FF2B5EF4-FFF2-40B4-BE49-F238E27FC236}">
                <a16:creationId xmlns:a16="http://schemas.microsoft.com/office/drawing/2014/main" id="{ED3D5D6D-23F9-D6CB-A860-CE7C0DFFD844}"/>
              </a:ext>
            </a:extLst>
          </p:cNvPr>
          <p:cNvSpPr txBox="1"/>
          <p:nvPr/>
        </p:nvSpPr>
        <p:spPr>
          <a:xfrm>
            <a:off x="4797232" y="1545619"/>
            <a:ext cx="2713914"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2E84B7"/>
                </a:solidFill>
                <a:effectLst/>
                <a:uFillTx/>
                <a:latin typeface="Montserrat SemiBold" pitchFamily="2" charset="0"/>
                <a:sym typeface="Calibri"/>
              </a:rPr>
              <a:t>Responsive Growth</a:t>
            </a:r>
          </a:p>
        </p:txBody>
      </p:sp>
      <p:sp>
        <p:nvSpPr>
          <p:cNvPr id="32" name="Footer Placeholder 14">
            <a:extLst>
              <a:ext uri="{FF2B5EF4-FFF2-40B4-BE49-F238E27FC236}">
                <a16:creationId xmlns:a16="http://schemas.microsoft.com/office/drawing/2014/main" id="{721705FF-44C3-1345-8DAB-93A13C2EAC0F}"/>
              </a:ext>
            </a:extLst>
          </p:cNvPr>
          <p:cNvSpPr txBox="1">
            <a:spLocks/>
          </p:cNvSpPr>
          <p:nvPr/>
        </p:nvSpPr>
        <p:spPr>
          <a:xfrm>
            <a:off x="4464966" y="6598843"/>
            <a:ext cx="3634049" cy="217015"/>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pPr algn="ctr"/>
            <a:r>
              <a:rPr lang="en-US" sz="882" dirty="0">
                <a:solidFill>
                  <a:schemeClr val="tx1"/>
                </a:solidFill>
                <a:latin typeface="Montserrat ExtraLight" pitchFamily="2" charset="77"/>
              </a:rPr>
              <a:t>©2022 </a:t>
            </a:r>
            <a:r>
              <a:rPr lang="en-US" sz="882" dirty="0" err="1">
                <a:solidFill>
                  <a:schemeClr val="tx1"/>
                </a:solidFill>
                <a:latin typeface="Montserrat ExtraLight" pitchFamily="2" charset="77"/>
              </a:rPr>
              <a:t>Parillume</a:t>
            </a:r>
            <a:r>
              <a:rPr lang="en-US" sz="882" dirty="0">
                <a:solidFill>
                  <a:schemeClr val="tx1"/>
                </a:solidFill>
                <a:latin typeface="Montserrat ExtraLight" pitchFamily="2" charset="77"/>
              </a:rPr>
              <a:t> All rights reserved</a:t>
            </a:r>
          </a:p>
        </p:txBody>
      </p:sp>
      <p:sp>
        <p:nvSpPr>
          <p:cNvPr id="34" name="TextBox 33">
            <a:extLst>
              <a:ext uri="{FF2B5EF4-FFF2-40B4-BE49-F238E27FC236}">
                <a16:creationId xmlns:a16="http://schemas.microsoft.com/office/drawing/2014/main" id="{5865E11C-6ACF-B50E-5E7D-2E5758E46934}"/>
              </a:ext>
            </a:extLst>
          </p:cNvPr>
          <p:cNvSpPr txBox="1"/>
          <p:nvPr/>
        </p:nvSpPr>
        <p:spPr>
          <a:xfrm>
            <a:off x="8371501" y="3153396"/>
            <a:ext cx="3221657" cy="830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200" dirty="0">
                <a:solidFill>
                  <a:schemeClr val="accent1">
                    <a:lumMod val="50000"/>
                  </a:schemeClr>
                </a:solidFill>
                <a:latin typeface="Ink Free" panose="03080402000500000000" pitchFamily="66" charset="0"/>
              </a:rPr>
              <a:t>I will be more confident in my ability to do hard things and crack the code on video projects. I will develop more discipline and understand how I can approach creative projects in the future.</a:t>
            </a:r>
          </a:p>
        </p:txBody>
      </p:sp>
      <p:sp>
        <p:nvSpPr>
          <p:cNvPr id="40" name="TextBox 39">
            <a:extLst>
              <a:ext uri="{FF2B5EF4-FFF2-40B4-BE49-F238E27FC236}">
                <a16:creationId xmlns:a16="http://schemas.microsoft.com/office/drawing/2014/main" id="{6D3174BF-4B3A-BE66-01EF-F5A391ED55E9}"/>
              </a:ext>
            </a:extLst>
          </p:cNvPr>
          <p:cNvSpPr txBox="1"/>
          <p:nvPr/>
        </p:nvSpPr>
        <p:spPr>
          <a:xfrm>
            <a:off x="5046027" y="2715990"/>
            <a:ext cx="2322576" cy="923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sz="900" dirty="0">
                <a:solidFill>
                  <a:schemeClr val="bg1">
                    <a:lumMod val="65000"/>
                  </a:schemeClr>
                </a:solidFill>
                <a:latin typeface="Montserrat Light" pitchFamily="2" charset="0"/>
              </a:rPr>
              <a:t>What is my Kryptonite?</a:t>
            </a:r>
          </a:p>
          <a:p>
            <a:pPr marL="0" marR="0" indent="0" algn="ctr" defTabSz="914400" rtl="0" fontAlgn="auto" latinLnBrk="0" hangingPunct="0">
              <a:lnSpc>
                <a:spcPct val="100000"/>
              </a:lnSpc>
              <a:spcBef>
                <a:spcPts val="0"/>
              </a:spcBef>
              <a:spcAft>
                <a:spcPts val="0"/>
              </a:spcAft>
              <a:buClrTx/>
              <a:buSzTx/>
              <a:buFontTx/>
              <a:buNone/>
              <a:tabLst/>
            </a:pPr>
            <a:endParaRPr kumimoji="0" lang="en-US" sz="900" b="0" i="0" u="none" strike="noStrike" cap="none" spc="0" normalizeH="0" baseline="0" dirty="0">
              <a:ln>
                <a:noFill/>
              </a:ln>
              <a:solidFill>
                <a:schemeClr val="bg1">
                  <a:lumMod val="65000"/>
                </a:schemeClr>
              </a:solidFill>
              <a:effectLst/>
              <a:uFillTx/>
              <a:latin typeface="Montserrat Light" pitchFamily="2" charset="0"/>
              <a:sym typeface="Calibri"/>
            </a:endParaRPr>
          </a:p>
          <a:p>
            <a:pPr marL="0" marR="0" indent="0" algn="ctr" defTabSz="914400" rtl="0" fontAlgn="auto" latinLnBrk="0" hangingPunct="0">
              <a:lnSpc>
                <a:spcPct val="100000"/>
              </a:lnSpc>
              <a:spcBef>
                <a:spcPts val="0"/>
              </a:spcBef>
              <a:spcAft>
                <a:spcPts val="0"/>
              </a:spcAft>
              <a:buClrTx/>
              <a:buSzTx/>
              <a:buFontTx/>
              <a:buNone/>
              <a:tabLst/>
            </a:pPr>
            <a:endParaRPr lang="en-US" sz="900" dirty="0">
              <a:solidFill>
                <a:schemeClr val="bg1">
                  <a:lumMod val="65000"/>
                </a:schemeClr>
              </a:solidFill>
              <a:latin typeface="Montserrat Light" pitchFamily="2" charset="0"/>
            </a:endParaRPr>
          </a:p>
          <a:p>
            <a:pPr marL="0" marR="0" indent="0" algn="ctr" defTabSz="914400" rtl="0" fontAlgn="auto" latinLnBrk="0" hangingPunct="0">
              <a:lnSpc>
                <a:spcPct val="100000"/>
              </a:lnSpc>
              <a:spcBef>
                <a:spcPts val="0"/>
              </a:spcBef>
              <a:spcAft>
                <a:spcPts val="0"/>
              </a:spcAft>
              <a:buClrTx/>
              <a:buSzTx/>
              <a:buFontTx/>
              <a:buNone/>
              <a:tabLst/>
            </a:pPr>
            <a:endParaRPr kumimoji="0" lang="en-US" sz="900" b="0" i="0" u="none" strike="noStrike" cap="none" spc="0" normalizeH="0" baseline="0" dirty="0">
              <a:ln>
                <a:noFill/>
              </a:ln>
              <a:solidFill>
                <a:schemeClr val="bg1">
                  <a:lumMod val="65000"/>
                </a:schemeClr>
              </a:solidFill>
              <a:effectLst/>
              <a:uFillTx/>
              <a:latin typeface="Montserrat Light" pitchFamily="2" charset="0"/>
              <a:sym typeface="Calibri"/>
            </a:endParaRPr>
          </a:p>
          <a:p>
            <a:pPr marL="0" marR="0" indent="0" algn="ctr" defTabSz="914400" rtl="0" fontAlgn="auto" latinLnBrk="0" hangingPunct="0">
              <a:lnSpc>
                <a:spcPct val="100000"/>
              </a:lnSpc>
              <a:spcBef>
                <a:spcPts val="0"/>
              </a:spcBef>
              <a:spcAft>
                <a:spcPts val="0"/>
              </a:spcAft>
              <a:buClrTx/>
              <a:buSzTx/>
              <a:buFontTx/>
              <a:buNone/>
              <a:tabLst/>
            </a:pPr>
            <a:r>
              <a:rPr lang="en-US" sz="900" dirty="0">
                <a:solidFill>
                  <a:schemeClr val="bg1">
                    <a:lumMod val="65000"/>
                  </a:schemeClr>
                </a:solidFill>
                <a:latin typeface="Montserrat Light" pitchFamily="2" charset="0"/>
              </a:rPr>
              <a:t>How will I hack my Kryptonite</a:t>
            </a:r>
          </a:p>
          <a:p>
            <a:pPr marL="0" marR="0" indent="0" algn="ctr" defTabSz="914400" rtl="0" fontAlgn="auto" latinLnBrk="0" hangingPunct="0">
              <a:lnSpc>
                <a:spcPct val="100000"/>
              </a:lnSpc>
              <a:spcBef>
                <a:spcPts val="0"/>
              </a:spcBef>
              <a:spcAft>
                <a:spcPts val="0"/>
              </a:spcAft>
              <a:buClrTx/>
              <a:buSzTx/>
              <a:buFontTx/>
              <a:buNone/>
              <a:tabLst/>
            </a:pPr>
            <a:r>
              <a:rPr lang="en-US" sz="900" dirty="0">
                <a:solidFill>
                  <a:schemeClr val="bg1">
                    <a:lumMod val="65000"/>
                  </a:schemeClr>
                </a:solidFill>
                <a:latin typeface="Montserrat Light" pitchFamily="2" charset="0"/>
              </a:rPr>
              <a:t>w</a:t>
            </a:r>
            <a:r>
              <a:rPr kumimoji="0" lang="en-US" sz="900" b="0" i="0" u="none" strike="noStrike" cap="none" spc="0" normalizeH="0" baseline="0" dirty="0">
                <a:ln>
                  <a:noFill/>
                </a:ln>
                <a:solidFill>
                  <a:schemeClr val="bg1">
                    <a:lumMod val="65000"/>
                  </a:schemeClr>
                </a:solidFill>
                <a:effectLst/>
                <a:uFillTx/>
                <a:latin typeface="Montserrat Light" pitchFamily="2" charset="0"/>
                <a:sym typeface="Calibri"/>
              </a:rPr>
              <a:t>ith my Superpowers?</a:t>
            </a:r>
          </a:p>
        </p:txBody>
      </p:sp>
      <p:sp>
        <p:nvSpPr>
          <p:cNvPr id="43" name="TextBox 42">
            <a:extLst>
              <a:ext uri="{FF2B5EF4-FFF2-40B4-BE49-F238E27FC236}">
                <a16:creationId xmlns:a16="http://schemas.microsoft.com/office/drawing/2014/main" id="{E323FA86-F788-77DC-8BCA-7DDD23CC8B4F}"/>
              </a:ext>
            </a:extLst>
          </p:cNvPr>
          <p:cNvSpPr txBox="1"/>
          <p:nvPr/>
        </p:nvSpPr>
        <p:spPr>
          <a:xfrm>
            <a:off x="4588190" y="3661394"/>
            <a:ext cx="3221657" cy="10156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200" dirty="0">
                <a:solidFill>
                  <a:schemeClr val="accent1">
                    <a:lumMod val="50000"/>
                  </a:schemeClr>
                </a:solidFill>
                <a:latin typeface="Ink Free" panose="03080402000500000000" pitchFamily="66" charset="0"/>
              </a:rPr>
              <a:t>Teleprompter approach. Hired professional videographers so couldn’t move the shoot dates. Time blocked 3 weeks in August. Used AI and collaborated closely with team member in script drafts. </a:t>
            </a:r>
          </a:p>
        </p:txBody>
      </p:sp>
      <p:sp>
        <p:nvSpPr>
          <p:cNvPr id="44" name="TextBox 43">
            <a:extLst>
              <a:ext uri="{FF2B5EF4-FFF2-40B4-BE49-F238E27FC236}">
                <a16:creationId xmlns:a16="http://schemas.microsoft.com/office/drawing/2014/main" id="{688E791B-3ADA-ABF4-C449-593F9D86C43E}"/>
              </a:ext>
            </a:extLst>
          </p:cNvPr>
          <p:cNvSpPr txBox="1"/>
          <p:nvPr/>
        </p:nvSpPr>
        <p:spPr>
          <a:xfrm>
            <a:off x="4617218" y="2884876"/>
            <a:ext cx="3221657"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200" dirty="0">
                <a:solidFill>
                  <a:schemeClr val="accent1">
                    <a:lumMod val="50000"/>
                  </a:schemeClr>
                </a:solidFill>
                <a:latin typeface="Ink Free" panose="03080402000500000000" pitchFamily="66" charset="0"/>
              </a:rPr>
              <a:t>First drafts. Lack of time for creative flow. Insecurity &amp; fear. Explaining my process in writing.</a:t>
            </a:r>
          </a:p>
        </p:txBody>
      </p:sp>
      <p:sp>
        <p:nvSpPr>
          <p:cNvPr id="45" name="TextBox 44">
            <a:extLst>
              <a:ext uri="{FF2B5EF4-FFF2-40B4-BE49-F238E27FC236}">
                <a16:creationId xmlns:a16="http://schemas.microsoft.com/office/drawing/2014/main" id="{103CFE45-F511-7794-EB2D-4C76455236DD}"/>
              </a:ext>
            </a:extLst>
          </p:cNvPr>
          <p:cNvSpPr txBox="1"/>
          <p:nvPr/>
        </p:nvSpPr>
        <p:spPr>
          <a:xfrm>
            <a:off x="853712" y="3160654"/>
            <a:ext cx="3221657"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200" dirty="0">
                <a:solidFill>
                  <a:schemeClr val="accent1">
                    <a:lumMod val="50000"/>
                  </a:schemeClr>
                </a:solidFill>
                <a:latin typeface="Ink Free" panose="03080402000500000000" pitchFamily="66" charset="0"/>
              </a:rPr>
              <a:t>I am 100% responsible for writing and producing 18 videos, plus the lesson content to go along with each video. I am immobilized by the amount of work to do in the midst of a full client load. I have also put this work off until Q3.</a:t>
            </a:r>
          </a:p>
        </p:txBody>
      </p:sp>
      <p:pic>
        <p:nvPicPr>
          <p:cNvPr id="3" name="Picture 2" descr="A logo for a company  Description automatically generated">
            <a:extLst>
              <a:ext uri="{FF2B5EF4-FFF2-40B4-BE49-F238E27FC236}">
                <a16:creationId xmlns:a16="http://schemas.microsoft.com/office/drawing/2014/main" id="{16CC7F75-F397-2903-BD5D-66EB6A01A4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036" y="25525"/>
            <a:ext cx="1302542" cy="801342"/>
          </a:xfrm>
          <a:prstGeom prst="rect">
            <a:avLst/>
          </a:prstGeom>
        </p:spPr>
      </p:pic>
      <p:sp>
        <p:nvSpPr>
          <p:cNvPr id="12" name="TextBox 11">
            <a:extLst>
              <a:ext uri="{FF2B5EF4-FFF2-40B4-BE49-F238E27FC236}">
                <a16:creationId xmlns:a16="http://schemas.microsoft.com/office/drawing/2014/main" id="{1C43CDC6-0FF8-0EC5-C93B-0A6AD9182CF2}"/>
              </a:ext>
            </a:extLst>
          </p:cNvPr>
          <p:cNvSpPr txBox="1"/>
          <p:nvPr/>
        </p:nvSpPr>
        <p:spPr>
          <a:xfrm>
            <a:off x="6989" y="6494907"/>
            <a:ext cx="1227922" cy="363818"/>
          </a:xfrm>
          <a:prstGeom prst="rect">
            <a:avLst/>
          </a:prstGeom>
          <a:noFill/>
        </p:spPr>
        <p:txBody>
          <a:bodyPr wrap="square" rtlCol="0">
            <a:spAutoFit/>
          </a:bodyPr>
          <a:lstStyle/>
          <a:p>
            <a:pPr algn="ctr"/>
            <a:r>
              <a:rPr lang="en-US" sz="882">
                <a:solidFill>
                  <a:schemeClr val="tx1">
                    <a:lumMod val="50000"/>
                    <a:lumOff val="50000"/>
                  </a:schemeClr>
                </a:solidFill>
                <a:latin typeface="Montserrat ExtraLight" panose="00000300000000000000" pitchFamily="2" charset="0"/>
              </a:rPr>
              <a:t>Customer Success</a:t>
            </a:r>
          </a:p>
          <a:p>
            <a:pPr algn="ctr"/>
            <a:r>
              <a:rPr lang="en-US" sz="882">
                <a:solidFill>
                  <a:schemeClr val="tx1">
                    <a:lumMod val="50000"/>
                    <a:lumOff val="50000"/>
                  </a:schemeClr>
                </a:solidFill>
                <a:latin typeface="Montserrat ExtraLight" panose="00000300000000000000" pitchFamily="2" charset="0"/>
              </a:rPr>
              <a:t>Team Workshop</a:t>
            </a:r>
            <a:endParaRPr lang="en-US" sz="882" dirty="0">
              <a:solidFill>
                <a:schemeClr val="tx1">
                  <a:lumMod val="50000"/>
                  <a:lumOff val="50000"/>
                </a:schemeClr>
              </a:solidFill>
              <a:latin typeface="Montserrat ExtraLight" panose="00000300000000000000" pitchFamily="2" charset="0"/>
            </a:endParaRPr>
          </a:p>
        </p:txBody>
      </p:sp>
    </p:spTree>
    <p:extLst>
      <p:ext uri="{BB962C8B-B14F-4D97-AF65-F5344CB8AC3E}">
        <p14:creationId xmlns:p14="http://schemas.microsoft.com/office/powerpoint/2010/main" val="43326881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B3EDEC0D-6E7A-C63F-5AD7-3BC779956FE2}"/>
              </a:ext>
            </a:extLst>
          </p:cNvPr>
          <p:cNvGrpSpPr/>
          <p:nvPr/>
        </p:nvGrpSpPr>
        <p:grpSpPr>
          <a:xfrm>
            <a:off x="1448920" y="66675"/>
            <a:ext cx="8875059" cy="6858000"/>
            <a:chOff x="1658470" y="0"/>
            <a:chExt cx="8875059" cy="6858000"/>
          </a:xfrm>
        </p:grpSpPr>
        <p:pic>
          <p:nvPicPr>
            <p:cNvPr id="3" name="Picture 2">
              <a:extLst>
                <a:ext uri="{FF2B5EF4-FFF2-40B4-BE49-F238E27FC236}">
                  <a16:creationId xmlns:a16="http://schemas.microsoft.com/office/drawing/2014/main" id="{4ED7C907-B75E-3543-90FB-5BBCFAA85C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8470" y="0"/>
              <a:ext cx="8875059" cy="6858000"/>
            </a:xfrm>
            <a:prstGeom prst="rect">
              <a:avLst/>
            </a:prstGeom>
          </p:spPr>
        </p:pic>
        <p:sp>
          <p:nvSpPr>
            <p:cNvPr id="2" name="TextBox 1">
              <a:extLst>
                <a:ext uri="{FF2B5EF4-FFF2-40B4-BE49-F238E27FC236}">
                  <a16:creationId xmlns:a16="http://schemas.microsoft.com/office/drawing/2014/main" id="{09E8194E-A683-47B5-8CFD-C7067749CC35}"/>
                </a:ext>
              </a:extLst>
            </p:cNvPr>
            <p:cNvSpPr txBox="1"/>
            <p:nvPr/>
          </p:nvSpPr>
          <p:spPr>
            <a:xfrm>
              <a:off x="5167086" y="1422399"/>
              <a:ext cx="92891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solidFill>
                    <a:schemeClr val="accent1">
                      <a:lumMod val="50000"/>
                    </a:schemeClr>
                  </a:solidFill>
                  <a:latin typeface="Ink Free" panose="03080402000500000000" pitchFamily="66" charset="0"/>
                </a:rPr>
                <a:t>9</a:t>
              </a:r>
              <a:r>
                <a:rPr kumimoji="0" lang="en-US" sz="1800" b="0" i="0" u="none" strike="noStrike" cap="none" spc="0" normalizeH="0" baseline="0" dirty="0">
                  <a:ln>
                    <a:noFill/>
                  </a:ln>
                  <a:solidFill>
                    <a:schemeClr val="accent1">
                      <a:lumMod val="50000"/>
                    </a:schemeClr>
                  </a:solidFill>
                  <a:effectLst/>
                  <a:uFillTx/>
                  <a:latin typeface="Ink Free" panose="03080402000500000000" pitchFamily="66" charset="0"/>
                  <a:sym typeface="Calibri"/>
                </a:rPr>
                <a:t>0%</a:t>
              </a:r>
            </a:p>
          </p:txBody>
        </p:sp>
        <p:sp>
          <p:nvSpPr>
            <p:cNvPr id="5" name="TextBox 4">
              <a:extLst>
                <a:ext uri="{FF2B5EF4-FFF2-40B4-BE49-F238E27FC236}">
                  <a16:creationId xmlns:a16="http://schemas.microsoft.com/office/drawing/2014/main" id="{4E44CA07-1C3B-64C8-F5C7-575EF55D59F8}"/>
                </a:ext>
              </a:extLst>
            </p:cNvPr>
            <p:cNvSpPr txBox="1"/>
            <p:nvPr/>
          </p:nvSpPr>
          <p:spPr>
            <a:xfrm>
              <a:off x="4760688" y="2489199"/>
              <a:ext cx="1930399" cy="11695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400" dirty="0">
                  <a:solidFill>
                    <a:schemeClr val="accent1">
                      <a:lumMod val="50000"/>
                    </a:schemeClr>
                  </a:solidFill>
                  <a:latin typeface="Ink Free" panose="03080402000500000000" pitchFamily="66" charset="0"/>
                </a:rPr>
                <a:t>Prepped workshops</a:t>
              </a:r>
            </a:p>
            <a:p>
              <a:pPr marL="0" marR="0" indent="0" algn="l" defTabSz="914400" rtl="0" fontAlgn="auto" latinLnBrk="0" hangingPunct="0">
                <a:lnSpc>
                  <a:spcPct val="100000"/>
                </a:lnSpc>
                <a:spcBef>
                  <a:spcPts val="0"/>
                </a:spcBef>
                <a:spcAft>
                  <a:spcPts val="0"/>
                </a:spcAft>
                <a:buClrTx/>
                <a:buSzTx/>
                <a:buFontTx/>
                <a:buNone/>
                <a:tabLst/>
              </a:pPr>
              <a:r>
                <a:rPr lang="en-US" sz="1400" dirty="0">
                  <a:solidFill>
                    <a:schemeClr val="accent1">
                      <a:lumMod val="50000"/>
                    </a:schemeClr>
                  </a:solidFill>
                  <a:latin typeface="Ink Free" panose="03080402000500000000" pitchFamily="66" charset="0"/>
                </a:rPr>
                <a:t>in a more disciplined </a:t>
              </a:r>
            </a:p>
            <a:p>
              <a:pPr marL="0" marR="0" indent="0" algn="l" defTabSz="914400" rtl="0" fontAlgn="auto" latinLnBrk="0" hangingPunct="0">
                <a:lnSpc>
                  <a:spcPct val="100000"/>
                </a:lnSpc>
                <a:spcBef>
                  <a:spcPts val="0"/>
                </a:spcBef>
                <a:spcAft>
                  <a:spcPts val="0"/>
                </a:spcAft>
                <a:buClrTx/>
                <a:buSzTx/>
                <a:buFontTx/>
                <a:buNone/>
                <a:tabLst/>
              </a:pPr>
              <a:r>
                <a:rPr lang="en-US" sz="1400" dirty="0">
                  <a:solidFill>
                    <a:schemeClr val="accent1">
                      <a:lumMod val="50000"/>
                    </a:schemeClr>
                  </a:solidFill>
                  <a:latin typeface="Ink Free" panose="03080402000500000000" pitchFamily="66" charset="0"/>
                </a:rPr>
                <a:t>way; documented our 3-phases workflow; increased automation</a:t>
              </a:r>
              <a:endParaRPr kumimoji="0" lang="en-US" sz="1400" b="0" i="0" u="none" strike="noStrike" cap="none" spc="0" normalizeH="0" baseline="0" dirty="0">
                <a:ln>
                  <a:noFill/>
                </a:ln>
                <a:solidFill>
                  <a:schemeClr val="accent1">
                    <a:lumMod val="50000"/>
                  </a:schemeClr>
                </a:solidFill>
                <a:effectLst/>
                <a:uFillTx/>
                <a:latin typeface="Ink Free" panose="03080402000500000000" pitchFamily="66" charset="0"/>
                <a:sym typeface="Calibri"/>
              </a:endParaRPr>
            </a:p>
          </p:txBody>
        </p:sp>
        <p:sp>
          <p:nvSpPr>
            <p:cNvPr id="10" name="TextBox 9">
              <a:extLst>
                <a:ext uri="{FF2B5EF4-FFF2-40B4-BE49-F238E27FC236}">
                  <a16:creationId xmlns:a16="http://schemas.microsoft.com/office/drawing/2014/main" id="{3330BD49-3B3C-42D0-7766-DF46D63FD99D}"/>
                </a:ext>
              </a:extLst>
            </p:cNvPr>
            <p:cNvSpPr txBox="1"/>
            <p:nvPr/>
          </p:nvSpPr>
          <p:spPr>
            <a:xfrm>
              <a:off x="4767946" y="3759199"/>
              <a:ext cx="1930399" cy="1384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400" dirty="0">
                  <a:solidFill>
                    <a:schemeClr val="accent1">
                      <a:lumMod val="50000"/>
                    </a:schemeClr>
                  </a:solidFill>
                  <a:latin typeface="Ink Free" panose="03080402000500000000" pitchFamily="66" charset="0"/>
                </a:rPr>
                <a:t>Instead of being anxious &amp; stressed, I am more at peace &amp; enjoying the increased workload &amp; every workshop</a:t>
              </a:r>
              <a:endParaRPr kumimoji="0" lang="en-US" sz="1400" b="0" i="0" u="none" strike="noStrike" cap="none" spc="0" normalizeH="0" baseline="0" dirty="0">
                <a:ln>
                  <a:noFill/>
                </a:ln>
                <a:solidFill>
                  <a:schemeClr val="accent1">
                    <a:lumMod val="50000"/>
                  </a:schemeClr>
                </a:solidFill>
                <a:effectLst/>
                <a:uFillTx/>
                <a:latin typeface="Ink Free" panose="03080402000500000000" pitchFamily="66" charset="0"/>
                <a:sym typeface="Calibri"/>
              </a:endParaRPr>
            </a:p>
          </p:txBody>
        </p:sp>
        <p:sp>
          <p:nvSpPr>
            <p:cNvPr id="12" name="TextBox 11">
              <a:extLst>
                <a:ext uri="{FF2B5EF4-FFF2-40B4-BE49-F238E27FC236}">
                  <a16:creationId xmlns:a16="http://schemas.microsoft.com/office/drawing/2014/main" id="{449C2143-A489-3002-07CA-58123B3C034B}"/>
                </a:ext>
              </a:extLst>
            </p:cNvPr>
            <p:cNvSpPr txBox="1"/>
            <p:nvPr/>
          </p:nvSpPr>
          <p:spPr>
            <a:xfrm>
              <a:off x="4731661" y="5261425"/>
              <a:ext cx="1930399" cy="954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400" dirty="0">
                  <a:solidFill>
                    <a:srgbClr val="00B050"/>
                  </a:solidFill>
                  <a:latin typeface="Ink Free" panose="03080402000500000000" pitchFamily="66" charset="0"/>
                </a:rPr>
                <a:t>Work with my accountant to level-up my understanding of business finance. </a:t>
              </a:r>
              <a:endParaRPr kumimoji="0" lang="en-US" sz="1400" b="0" i="0" u="none" strike="noStrike" cap="none" spc="0" normalizeH="0" baseline="0" dirty="0">
                <a:ln>
                  <a:noFill/>
                </a:ln>
                <a:solidFill>
                  <a:srgbClr val="00B050"/>
                </a:solidFill>
                <a:effectLst/>
                <a:uFillTx/>
                <a:latin typeface="Ink Free" panose="03080402000500000000" pitchFamily="66" charset="0"/>
                <a:sym typeface="Calibri"/>
              </a:endParaRPr>
            </a:p>
          </p:txBody>
        </p:sp>
      </p:grpSp>
      <p:pic>
        <p:nvPicPr>
          <p:cNvPr id="17" name="Picture 16" descr="Text  Description automatically generated">
            <a:extLst>
              <a:ext uri="{FF2B5EF4-FFF2-40B4-BE49-F238E27FC236}">
                <a16:creationId xmlns:a16="http://schemas.microsoft.com/office/drawing/2014/main" id="{3CE6788F-2B50-E614-535E-A2909F21C7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74849" y="75475"/>
            <a:ext cx="1529937" cy="378235"/>
          </a:xfrm>
          <a:prstGeom prst="rect">
            <a:avLst/>
          </a:prstGeom>
        </p:spPr>
      </p:pic>
      <p:sp>
        <p:nvSpPr>
          <p:cNvPr id="4" name="Rectangle 3">
            <a:extLst>
              <a:ext uri="{FF2B5EF4-FFF2-40B4-BE49-F238E27FC236}">
                <a16:creationId xmlns:a16="http://schemas.microsoft.com/office/drawing/2014/main" id="{12E27349-CC16-C140-9545-2A9ADB78E476}"/>
              </a:ext>
            </a:extLst>
          </p:cNvPr>
          <p:cNvSpPr/>
          <p:nvPr/>
        </p:nvSpPr>
        <p:spPr>
          <a:xfrm>
            <a:off x="1640467" y="99597"/>
            <a:ext cx="1694330" cy="727270"/>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9" name="Rectangle 8">
            <a:extLst>
              <a:ext uri="{FF2B5EF4-FFF2-40B4-BE49-F238E27FC236}">
                <a16:creationId xmlns:a16="http://schemas.microsoft.com/office/drawing/2014/main" id="{93A70382-2AC6-4C49-8D0F-1665136DC5E2}"/>
              </a:ext>
            </a:extLst>
          </p:cNvPr>
          <p:cNvSpPr/>
          <p:nvPr/>
        </p:nvSpPr>
        <p:spPr>
          <a:xfrm>
            <a:off x="8677663" y="90075"/>
            <a:ext cx="1694330" cy="727270"/>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pic>
        <p:nvPicPr>
          <p:cNvPr id="6" name="Picture 5" descr="A logo for a company  Description automatically generated">
            <a:extLst>
              <a:ext uri="{FF2B5EF4-FFF2-40B4-BE49-F238E27FC236}">
                <a16:creationId xmlns:a16="http://schemas.microsoft.com/office/drawing/2014/main" id="{AA631356-0F84-F3F4-52A8-E83CD949357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036" y="25525"/>
            <a:ext cx="1302542" cy="801342"/>
          </a:xfrm>
          <a:prstGeom prst="rect">
            <a:avLst/>
          </a:prstGeom>
        </p:spPr>
      </p:pic>
      <p:sp>
        <p:nvSpPr>
          <p:cNvPr id="8" name="Rectangle 7">
            <a:extLst>
              <a:ext uri="{FF2B5EF4-FFF2-40B4-BE49-F238E27FC236}">
                <a16:creationId xmlns:a16="http://schemas.microsoft.com/office/drawing/2014/main" id="{8A51737C-7778-5ECA-1C15-614EFC0D4345}"/>
              </a:ext>
            </a:extLst>
          </p:cNvPr>
          <p:cNvSpPr/>
          <p:nvPr/>
        </p:nvSpPr>
        <p:spPr>
          <a:xfrm>
            <a:off x="3887763" y="0"/>
            <a:ext cx="4553727" cy="923100"/>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grpSp>
        <p:nvGrpSpPr>
          <p:cNvPr id="11" name="Group 10">
            <a:extLst>
              <a:ext uri="{FF2B5EF4-FFF2-40B4-BE49-F238E27FC236}">
                <a16:creationId xmlns:a16="http://schemas.microsoft.com/office/drawing/2014/main" id="{501E1CE7-9EE9-513E-3409-C8CB500872B1}"/>
              </a:ext>
            </a:extLst>
          </p:cNvPr>
          <p:cNvGrpSpPr/>
          <p:nvPr/>
        </p:nvGrpSpPr>
        <p:grpSpPr>
          <a:xfrm>
            <a:off x="0" y="140448"/>
            <a:ext cx="12191999" cy="782652"/>
            <a:chOff x="0" y="140448"/>
            <a:chExt cx="12191999" cy="782652"/>
          </a:xfrm>
        </p:grpSpPr>
        <p:grpSp>
          <p:nvGrpSpPr>
            <p:cNvPr id="15" name="Group 14">
              <a:extLst>
                <a:ext uri="{FF2B5EF4-FFF2-40B4-BE49-F238E27FC236}">
                  <a16:creationId xmlns:a16="http://schemas.microsoft.com/office/drawing/2014/main" id="{031A8FF7-ACEC-2532-B253-5C0D405CCD26}"/>
                </a:ext>
              </a:extLst>
            </p:cNvPr>
            <p:cNvGrpSpPr/>
            <p:nvPr/>
          </p:nvGrpSpPr>
          <p:grpSpPr>
            <a:xfrm>
              <a:off x="0" y="140448"/>
              <a:ext cx="12191999" cy="469136"/>
              <a:chOff x="0" y="140448"/>
              <a:chExt cx="12191999" cy="469136"/>
            </a:xfrm>
            <a:noFill/>
          </p:grpSpPr>
          <p:sp>
            <p:nvSpPr>
              <p:cNvPr id="18" name="Rectangle 17">
                <a:extLst>
                  <a:ext uri="{FF2B5EF4-FFF2-40B4-BE49-F238E27FC236}">
                    <a16:creationId xmlns:a16="http://schemas.microsoft.com/office/drawing/2014/main" id="{AF24E899-D716-CC73-6AB2-994CE3787CE4}"/>
                  </a:ext>
                </a:extLst>
              </p:cNvPr>
              <p:cNvSpPr/>
              <p:nvPr/>
            </p:nvSpPr>
            <p:spPr>
              <a:xfrm>
                <a:off x="0" y="178699"/>
                <a:ext cx="12191999" cy="430885"/>
              </a:xfrm>
              <a:prstGeom prst="rect">
                <a:avLst/>
              </a:prstGeom>
              <a:grp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200" b="0" i="0" u="none" strike="noStrike" cap="none" spc="0" normalizeH="0" baseline="0">
                    <a:ln>
                      <a:noFill/>
                    </a:ln>
                    <a:solidFill>
                      <a:srgbClr val="722B90"/>
                    </a:solidFill>
                    <a:effectLst/>
                    <a:uFillTx/>
                    <a:latin typeface="Brittany Signature" pitchFamily="2" charset="0"/>
                    <a:sym typeface="Calibri"/>
                  </a:rPr>
                  <a:t>Shine </a:t>
                </a:r>
                <a:r>
                  <a:rPr kumimoji="0" lang="en-US" sz="2100" b="0" i="0" u="none" strike="noStrike" cap="none" spc="0" normalizeH="0" baseline="0">
                    <a:ln>
                      <a:noFill/>
                    </a:ln>
                    <a:solidFill>
                      <a:srgbClr val="722B90"/>
                    </a:solidFill>
                    <a:effectLst/>
                    <a:uFillTx/>
                    <a:latin typeface="Brittany Signature" pitchFamily="2" charset="0"/>
                    <a:sym typeface="Calibri"/>
                  </a:rPr>
                  <a:t>F</a:t>
                </a:r>
                <a:r>
                  <a:rPr kumimoji="0" lang="en-US" sz="2200" b="0" i="0" u="none" strike="noStrike" cap="none" spc="0" normalizeH="0" baseline="0">
                    <a:ln>
                      <a:noFill/>
                    </a:ln>
                    <a:solidFill>
                      <a:srgbClr val="722B90"/>
                    </a:solidFill>
                    <a:effectLst/>
                    <a:uFillTx/>
                    <a:latin typeface="Brittany Signature" pitchFamily="2" charset="0"/>
                    <a:sym typeface="Calibri"/>
                  </a:rPr>
                  <a:t>rom Your Original Design</a:t>
                </a:r>
              </a:p>
            </p:txBody>
          </p:sp>
          <p:sp>
            <p:nvSpPr>
              <p:cNvPr id="19" name="TextBox 18">
                <a:extLst>
                  <a:ext uri="{FF2B5EF4-FFF2-40B4-BE49-F238E27FC236}">
                    <a16:creationId xmlns:a16="http://schemas.microsoft.com/office/drawing/2014/main" id="{590D1A72-F0E7-328F-378B-B89FC9BFD159}"/>
                  </a:ext>
                </a:extLst>
              </p:cNvPr>
              <p:cNvSpPr txBox="1"/>
              <p:nvPr/>
            </p:nvSpPr>
            <p:spPr>
              <a:xfrm>
                <a:off x="7908484" y="140448"/>
                <a:ext cx="209351" cy="369330"/>
              </a:xfrm>
              <a:prstGeom prst="rect">
                <a:avLst/>
              </a:prstGeom>
              <a:gr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a:ln>
                      <a:noFill/>
                    </a:ln>
                    <a:solidFill>
                      <a:srgbClr val="722B90"/>
                    </a:solidFill>
                    <a:effectLst/>
                    <a:uFillTx/>
                    <a:latin typeface="+mj-lt"/>
                    <a:ea typeface="+mj-ea"/>
                    <a:cs typeface="+mj-cs"/>
                    <a:sym typeface="Calibri"/>
                  </a:rPr>
                  <a:t>®</a:t>
                </a:r>
              </a:p>
            </p:txBody>
          </p:sp>
        </p:grpSp>
        <p:sp>
          <p:nvSpPr>
            <p:cNvPr id="16" name="TextBox 15">
              <a:extLst>
                <a:ext uri="{FF2B5EF4-FFF2-40B4-BE49-F238E27FC236}">
                  <a16:creationId xmlns:a16="http://schemas.microsoft.com/office/drawing/2014/main" id="{1AAD0741-C79E-AF25-7D5B-70D7EA21CEFF}"/>
                </a:ext>
              </a:extLst>
            </p:cNvPr>
            <p:cNvSpPr txBox="1"/>
            <p:nvPr/>
          </p:nvSpPr>
          <p:spPr>
            <a:xfrm>
              <a:off x="0" y="584548"/>
              <a:ext cx="12191999" cy="3385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a:ln>
                    <a:noFill/>
                  </a:ln>
                  <a:solidFill>
                    <a:srgbClr val="000000"/>
                  </a:solidFill>
                  <a:effectLst/>
                  <a:uFillTx/>
                  <a:latin typeface="Montserrat" pitchFamily="2" charset="0"/>
                  <a:sym typeface="Calibri"/>
                </a:rPr>
                <a:t>Activate Your Superpowers 2024</a:t>
              </a:r>
            </a:p>
          </p:txBody>
        </p:sp>
      </p:grpSp>
      <p:sp>
        <p:nvSpPr>
          <p:cNvPr id="21" name="Rectangle 20">
            <a:extLst>
              <a:ext uri="{FF2B5EF4-FFF2-40B4-BE49-F238E27FC236}">
                <a16:creationId xmlns:a16="http://schemas.microsoft.com/office/drawing/2014/main" id="{F2558528-441A-284E-7F07-1D6D3E0AFE18}"/>
              </a:ext>
            </a:extLst>
          </p:cNvPr>
          <p:cNvSpPr/>
          <p:nvPr/>
        </p:nvSpPr>
        <p:spPr>
          <a:xfrm>
            <a:off x="5295900" y="6693592"/>
            <a:ext cx="1790700" cy="212033"/>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22" name="Footer Placeholder 14">
            <a:extLst>
              <a:ext uri="{FF2B5EF4-FFF2-40B4-BE49-F238E27FC236}">
                <a16:creationId xmlns:a16="http://schemas.microsoft.com/office/drawing/2014/main" id="{EA61F325-9AD0-F855-8F85-D83E27059A45}"/>
              </a:ext>
            </a:extLst>
          </p:cNvPr>
          <p:cNvSpPr txBox="1">
            <a:spLocks/>
          </p:cNvSpPr>
          <p:nvPr/>
        </p:nvSpPr>
        <p:spPr>
          <a:xfrm>
            <a:off x="4278973" y="6634892"/>
            <a:ext cx="3634049" cy="217015"/>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pPr algn="ctr"/>
            <a:r>
              <a:rPr lang="en-US" sz="800">
                <a:solidFill>
                  <a:schemeClr val="tx1"/>
                </a:solidFill>
                <a:latin typeface="Montserrat ExtraLight" pitchFamily="2" charset="77"/>
              </a:rPr>
              <a:t>©2023 </a:t>
            </a:r>
            <a:r>
              <a:rPr lang="en-US" sz="800" dirty="0" err="1">
                <a:solidFill>
                  <a:schemeClr val="tx1"/>
                </a:solidFill>
                <a:latin typeface="Montserrat ExtraLight" pitchFamily="2" charset="77"/>
              </a:rPr>
              <a:t>Parillume</a:t>
            </a:r>
            <a:r>
              <a:rPr lang="en-US" sz="800" dirty="0">
                <a:solidFill>
                  <a:schemeClr val="tx1"/>
                </a:solidFill>
                <a:latin typeface="Montserrat ExtraLight" pitchFamily="2" charset="77"/>
              </a:rPr>
              <a:t> All rights reserved</a:t>
            </a:r>
          </a:p>
        </p:txBody>
      </p:sp>
      <p:sp>
        <p:nvSpPr>
          <p:cNvPr id="7" name="TextBox 6">
            <a:extLst>
              <a:ext uri="{FF2B5EF4-FFF2-40B4-BE49-F238E27FC236}">
                <a16:creationId xmlns:a16="http://schemas.microsoft.com/office/drawing/2014/main" id="{EFD9367F-8DC0-4C22-EE7C-703BFBFE907E}"/>
              </a:ext>
            </a:extLst>
          </p:cNvPr>
          <p:cNvSpPr txBox="1"/>
          <p:nvPr/>
        </p:nvSpPr>
        <p:spPr>
          <a:xfrm>
            <a:off x="6989" y="6494907"/>
            <a:ext cx="1227922" cy="363818"/>
          </a:xfrm>
          <a:prstGeom prst="rect">
            <a:avLst/>
          </a:prstGeom>
          <a:noFill/>
        </p:spPr>
        <p:txBody>
          <a:bodyPr wrap="square" rtlCol="0">
            <a:spAutoFit/>
          </a:bodyPr>
          <a:lstStyle/>
          <a:p>
            <a:pPr algn="ctr"/>
            <a:r>
              <a:rPr lang="en-US" sz="882">
                <a:solidFill>
                  <a:schemeClr val="tx1">
                    <a:lumMod val="50000"/>
                    <a:lumOff val="50000"/>
                  </a:schemeClr>
                </a:solidFill>
                <a:latin typeface="Montserrat ExtraLight" panose="00000300000000000000" pitchFamily="2" charset="0"/>
              </a:rPr>
              <a:t>Customer Success</a:t>
            </a:r>
          </a:p>
          <a:p>
            <a:pPr algn="ctr"/>
            <a:r>
              <a:rPr lang="en-US" sz="882">
                <a:solidFill>
                  <a:schemeClr val="tx1">
                    <a:lumMod val="50000"/>
                    <a:lumOff val="50000"/>
                  </a:schemeClr>
                </a:solidFill>
                <a:latin typeface="Montserrat ExtraLight" panose="00000300000000000000" pitchFamily="2" charset="0"/>
              </a:rPr>
              <a:t>Team Workshop</a:t>
            </a:r>
            <a:endParaRPr lang="en-US" sz="882" dirty="0">
              <a:solidFill>
                <a:schemeClr val="tx1">
                  <a:lumMod val="50000"/>
                  <a:lumOff val="50000"/>
                </a:schemeClr>
              </a:solidFill>
              <a:latin typeface="Montserrat ExtraLight" panose="00000300000000000000" pitchFamily="2" charset="0"/>
            </a:endParaRPr>
          </a:p>
        </p:txBody>
      </p:sp>
    </p:spTree>
    <p:extLst>
      <p:ext uri="{BB962C8B-B14F-4D97-AF65-F5344CB8AC3E}">
        <p14:creationId xmlns:p14="http://schemas.microsoft.com/office/powerpoint/2010/main" val="428440053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 name="TextBox 1"/>
          <p:cNvSpPr txBox="1"/>
          <p:nvPr/>
        </p:nvSpPr>
        <p:spPr>
          <a:xfrm>
            <a:off x="3023870" y="4986948"/>
            <a:ext cx="6144260" cy="370841"/>
          </a:xfrm>
          <a:prstGeom prst="rect">
            <a:avLst/>
          </a:prstGeom>
          <a:ln w="12700">
            <a:miter lim="400000"/>
          </a:ln>
          <a:extLst>
            <a:ext uri="{C572A759-6A51-4108-AA02-DFA0A04FC94B}">
              <ma14:wrappingTextBoxFlag xmlns="" xmlns:a14="http://schemas.microsoft.com/office/drawing/2010/main" xmlns:m="http://schemas.openxmlformats.org/officeDocument/2006/math" xmlns:ma14="http://schemas.microsoft.com/office/mac/drawingml/2011/main" val="1"/>
            </a:ext>
          </a:extLst>
        </p:spPr>
        <p:txBody>
          <a:bodyPr lIns="45719" rIns="45719">
            <a:spAutoFit/>
          </a:bodyPr>
          <a:lstStyle>
            <a:lvl1pPr>
              <a:defRPr>
                <a:latin typeface="Montserrat ExtraLight"/>
                <a:ea typeface="Montserrat ExtraLight"/>
                <a:cs typeface="Montserrat ExtraLight"/>
                <a:sym typeface="Montserrat ExtraLight"/>
              </a:defRPr>
            </a:lvl1pPr>
          </a:lstStyle>
          <a:p>
            <a:r>
              <a:rPr dirty="0" err="1"/>
              <a:t>Parillume.com</a:t>
            </a:r>
            <a:r>
              <a:rPr dirty="0"/>
              <a:t> | </a:t>
            </a:r>
            <a:r>
              <a:rPr dirty="0" err="1"/>
              <a:t>lisa@parillume.com</a:t>
            </a:r>
            <a:r>
              <a:rPr dirty="0"/>
              <a:t> | 720.481.8505</a:t>
            </a:r>
          </a:p>
        </p:txBody>
      </p:sp>
      <p:pic>
        <p:nvPicPr>
          <p:cNvPr id="5" name="Picture 4" descr="Text  Description automatically generated">
            <a:extLst>
              <a:ext uri="{FF2B5EF4-FFF2-40B4-BE49-F238E27FC236}">
                <a16:creationId xmlns:a16="http://schemas.microsoft.com/office/drawing/2014/main" id="{67D75BC4-980D-7646-8345-834D5C09E8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785" y="1737406"/>
            <a:ext cx="10526430" cy="2602368"/>
          </a:xfrm>
          <a:prstGeom prst="rect">
            <a:avLst/>
          </a:prstGeom>
        </p:spPr>
      </p:pic>
      <p:sp>
        <p:nvSpPr>
          <p:cNvPr id="4" name="Footer Placeholder 14">
            <a:extLst>
              <a:ext uri="{FF2B5EF4-FFF2-40B4-BE49-F238E27FC236}">
                <a16:creationId xmlns:a16="http://schemas.microsoft.com/office/drawing/2014/main" id="{22CF50FA-A2F8-49DB-BC6D-7AAC8159C763}"/>
              </a:ext>
            </a:extLst>
          </p:cNvPr>
          <p:cNvSpPr txBox="1">
            <a:spLocks/>
          </p:cNvSpPr>
          <p:nvPr/>
        </p:nvSpPr>
        <p:spPr>
          <a:xfrm>
            <a:off x="4464966" y="6598843"/>
            <a:ext cx="3634049" cy="217015"/>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pPr algn="ctr"/>
            <a:r>
              <a:rPr lang="en-US" sz="882">
                <a:solidFill>
                  <a:schemeClr val="tx1"/>
                </a:solidFill>
                <a:latin typeface="Montserrat ExtraLight" pitchFamily="2" charset="77"/>
              </a:rPr>
              <a:t>©2022 </a:t>
            </a:r>
            <a:r>
              <a:rPr lang="en-US" sz="882" dirty="0" err="1">
                <a:solidFill>
                  <a:schemeClr val="tx1"/>
                </a:solidFill>
                <a:latin typeface="Montserrat ExtraLight" pitchFamily="2" charset="77"/>
              </a:rPr>
              <a:t>Parillume</a:t>
            </a:r>
            <a:r>
              <a:rPr lang="en-US" sz="882" dirty="0">
                <a:solidFill>
                  <a:schemeClr val="tx1"/>
                </a:solidFill>
                <a:latin typeface="Montserrat ExtraLight" pitchFamily="2" charset="77"/>
              </a:rPr>
              <a:t> All rights reserved</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2833</TotalTime>
  <Words>2294</Words>
  <Application>Microsoft Office PowerPoint</Application>
  <PresentationFormat>Widescreen</PresentationFormat>
  <Paragraphs>282</Paragraphs>
  <Slides>13</Slides>
  <Notes>13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Arial</vt:lpstr>
      <vt:lpstr>Brittany Signature</vt:lpstr>
      <vt:lpstr>Calibri</vt:lpstr>
      <vt:lpstr>Calibri Light</vt:lpstr>
      <vt:lpstr>Ink Free</vt:lpstr>
      <vt:lpstr>Montserrat</vt:lpstr>
      <vt:lpstr>Montserrat ExtraLight</vt:lpstr>
      <vt:lpstr>Montserrat Light</vt:lpstr>
      <vt:lpstr>Montserrat SemiBold</vt:lpstr>
      <vt:lpstr>Myriad Pro Light</vt:lpstr>
      <vt:lpstr>Office Theme</vt:lpstr>
      <vt:lpstr>Shine From Your Original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Shine From Your Original Design for Teams</dc:title>
  <cp:lastModifiedBy>Tom Margolis</cp:lastModifiedBy>
  <cp:revision>355</cp:revision>
  <dcterms:modified xsi:type="dcterms:W3CDTF">2024-05-12T22:01:41Z</dcterms:modified>
</cp:coreProperties>
</file>